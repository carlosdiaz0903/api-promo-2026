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0" r:id="rId5"/>
    <p:sldId id="259" r:id="rId6"/>
    <p:sldId id="271" r:id="rId7"/>
    <p:sldId id="260" r:id="rId8"/>
    <p:sldId id="261" r:id="rId9"/>
    <p:sldId id="272" r:id="rId10"/>
    <p:sldId id="262" r:id="rId11"/>
    <p:sldId id="263" r:id="rId12"/>
    <p:sldId id="273" r:id="rId13"/>
    <p:sldId id="264" r:id="rId14"/>
    <p:sldId id="265" r:id="rId15"/>
    <p:sldId id="274" r:id="rId16"/>
    <p:sldId id="275" r:id="rId17"/>
    <p:sldId id="276" r:id="rId18"/>
    <p:sldId id="266" r:id="rId19"/>
    <p:sldId id="267" r:id="rId20"/>
    <p:sldId id="277" r:id="rId21"/>
    <p:sldId id="278" r:id="rId22"/>
    <p:sldId id="279" r:id="rId23"/>
    <p:sldId id="280" r:id="rId24"/>
    <p:sldId id="268"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768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5106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88031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57533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41589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87297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47279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33419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09323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694830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727514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618903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962573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manzanares@esan.edu.p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10698480" y="-1097280"/>
            <a:ext cx="2926080" cy="2926080"/>
          </a:xfrm>
          <a:prstGeom prst="ellipse">
            <a:avLst/>
          </a:prstGeom>
          <a:solidFill>
            <a:srgbClr val="E4F5F3"/>
          </a:solidFill>
          <a:ln/>
        </p:spPr>
      </p:sp>
      <p:sp>
        <p:nvSpPr>
          <p:cNvPr id="4" name="Shape 1"/>
          <p:cNvSpPr/>
          <p:nvPr/>
        </p:nvSpPr>
        <p:spPr>
          <a:xfrm>
            <a:off x="-1005840" y="5760720"/>
            <a:ext cx="2377440" cy="2377440"/>
          </a:xfrm>
          <a:prstGeom prst="ellipse">
            <a:avLst/>
          </a:prstGeom>
          <a:solidFill>
            <a:srgbClr val="E4F5F3"/>
          </a:solidFill>
          <a:ln/>
        </p:spPr>
      </p:sp>
      <p:sp>
        <p:nvSpPr>
          <p:cNvPr id="5" name="Text 2"/>
          <p:cNvSpPr/>
          <p:nvPr/>
        </p:nvSpPr>
        <p:spPr>
          <a:xfrm>
            <a:off x="914400" y="2286000"/>
            <a:ext cx="10332720" cy="731520"/>
          </a:xfrm>
          <a:prstGeom prst="rect">
            <a:avLst/>
          </a:prstGeom>
          <a:noFill/>
          <a:ln/>
        </p:spPr>
        <p:txBody>
          <a:bodyPr wrap="square" rtlCol="0" anchor="ctr"/>
          <a:lstStyle/>
          <a:p>
            <a:pPr marL="0" indent="0" algn="ctr">
              <a:buNone/>
            </a:pPr>
            <a:r>
              <a:rPr lang="en-US" sz="2800" b="1" dirty="0">
                <a:solidFill>
                  <a:srgbClr val="222E2E"/>
                </a:solidFill>
                <a:latin typeface="Calibri" pitchFamily="34" charset="0"/>
                <a:ea typeface="Calibri" pitchFamily="34" charset="-122"/>
                <a:cs typeface="Calibri" pitchFamily="34" charset="-120"/>
              </a:rPr>
              <a:t>SISOL </a:t>
            </a:r>
          </a:p>
          <a:p>
            <a:pPr marL="0" indent="0" algn="ctr">
              <a:buNone/>
            </a:pPr>
            <a:r>
              <a:rPr lang="en-US" sz="2800" b="1" dirty="0" err="1">
                <a:solidFill>
                  <a:srgbClr val="222E2E"/>
                </a:solidFill>
                <a:latin typeface="Calibri" pitchFamily="34" charset="0"/>
                <a:ea typeface="Calibri" pitchFamily="34" charset="-122"/>
                <a:cs typeface="Calibri" pitchFamily="34" charset="-120"/>
              </a:rPr>
              <a:t>Curso</a:t>
            </a:r>
            <a:r>
              <a:rPr lang="en-US" sz="2800" b="1" dirty="0">
                <a:solidFill>
                  <a:srgbClr val="222E2E"/>
                </a:solidFill>
                <a:latin typeface="Calibri" pitchFamily="34" charset="0"/>
                <a:ea typeface="Calibri" pitchFamily="34" charset="-122"/>
                <a:cs typeface="Calibri" pitchFamily="34" charset="-120"/>
              </a:rPr>
              <a:t> de Atención al Usuario en los Servicios de Salud</a:t>
            </a:r>
            <a:endParaRPr lang="en-US" sz="2800" b="1" dirty="0"/>
          </a:p>
        </p:txBody>
      </p:sp>
      <p:sp>
        <p:nvSpPr>
          <p:cNvPr id="6" name="Text 3"/>
          <p:cNvSpPr/>
          <p:nvPr/>
        </p:nvSpPr>
        <p:spPr>
          <a:xfrm>
            <a:off x="914400" y="3601988"/>
            <a:ext cx="10332720" cy="1371600"/>
          </a:xfrm>
          <a:prstGeom prst="rect">
            <a:avLst/>
          </a:prstGeom>
          <a:noFill/>
          <a:ln/>
        </p:spPr>
        <p:txBody>
          <a:bodyPr wrap="square" rtlCol="0" anchor="t"/>
          <a:lstStyle/>
          <a:p>
            <a:pPr marL="0" indent="0" algn="ctr">
              <a:lnSpc>
                <a:spcPts val="3800"/>
              </a:lnSpc>
              <a:buNone/>
            </a:pPr>
            <a:r>
              <a:rPr lang="en-US" sz="3000" b="1" dirty="0">
                <a:solidFill>
                  <a:srgbClr val="0B3D3F"/>
                </a:solidFill>
                <a:latin typeface="Cambria" pitchFamily="34" charset="0"/>
                <a:ea typeface="Cambria" pitchFamily="34" charset="-122"/>
                <a:cs typeface="Cambria" pitchFamily="34" charset="-120"/>
              </a:rPr>
              <a:t>Unidad I</a:t>
            </a:r>
            <a:endParaRPr lang="en-US" sz="3000" dirty="0"/>
          </a:p>
          <a:p>
            <a:pPr marL="0" indent="0" algn="ctr">
              <a:lnSpc>
                <a:spcPts val="3800"/>
              </a:lnSpc>
              <a:buNone/>
            </a:pPr>
            <a:r>
              <a:rPr lang="en-US" sz="3000" b="1" dirty="0">
                <a:solidFill>
                  <a:srgbClr val="0B3D3F"/>
                </a:solidFill>
                <a:latin typeface="Cambria" pitchFamily="34" charset="0"/>
                <a:ea typeface="Cambria" pitchFamily="34" charset="-122"/>
                <a:cs typeface="Cambria" pitchFamily="34" charset="-120"/>
              </a:rPr>
              <a:t>El servicio como valor diferenciador en salud</a:t>
            </a:r>
            <a:endParaRPr lang="en-US" sz="3000" dirty="0"/>
          </a:p>
        </p:txBody>
      </p:sp>
      <p:sp>
        <p:nvSpPr>
          <p:cNvPr id="7" name="Shape 4"/>
          <p:cNvSpPr/>
          <p:nvPr/>
        </p:nvSpPr>
        <p:spPr>
          <a:xfrm>
            <a:off x="5632704" y="4617720"/>
            <a:ext cx="914400" cy="41148"/>
          </a:xfrm>
          <a:prstGeom prst="rect">
            <a:avLst/>
          </a:prstGeom>
          <a:solidFill>
            <a:srgbClr val="02C39A"/>
          </a:solidFill>
          <a:ln/>
        </p:spPr>
      </p:sp>
      <p:sp>
        <p:nvSpPr>
          <p:cNvPr id="9" name="Text 6"/>
          <p:cNvSpPr/>
          <p:nvPr/>
        </p:nvSpPr>
        <p:spPr>
          <a:xfrm>
            <a:off x="7680960" y="5806440"/>
            <a:ext cx="4114800" cy="640080"/>
          </a:xfrm>
          <a:prstGeom prst="rect">
            <a:avLst/>
          </a:prstGeom>
          <a:noFill/>
          <a:ln/>
        </p:spPr>
        <p:txBody>
          <a:bodyPr wrap="square" rtlCol="0" anchor="ctr"/>
          <a:lstStyle/>
          <a:p>
            <a:pPr marL="0" indent="0" algn="r">
              <a:buNone/>
            </a:pPr>
            <a:r>
              <a:rPr lang="en-US" sz="1400" b="1" dirty="0">
                <a:latin typeface="Arial" panose="020B0604020202020204" pitchFamily="34" charset="0"/>
                <a:cs typeface="Arial" panose="020B0604020202020204" pitchFamily="34" charset="0"/>
              </a:rPr>
              <a:t>Prof. Felix Manzanares</a:t>
            </a:r>
            <a:endParaRPr lang="en-US" sz="1400" dirty="0"/>
          </a:p>
          <a:p>
            <a:pPr algn="r"/>
            <a:r>
              <a:rPr lang="es-ES_tradnl" sz="1400" dirty="0">
                <a:latin typeface="Arial" panose="020B0604020202020204" pitchFamily="34" charset="0"/>
                <a:cs typeface="Arial" panose="020B0604020202020204" pitchFamily="34" charset="0"/>
                <a:hlinkClick r:id="rId3"/>
              </a:rPr>
              <a:t>fmanzanares@esan.edu.pe</a:t>
            </a:r>
            <a:endParaRPr lang="en-US" sz="2400"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476EC513-FBF5-D693-68E1-7DF515DA02D9}"/>
              </a:ext>
            </a:extLst>
          </p:cNvPr>
          <p:cNvPicPr>
            <a:picLocks noChangeAspect="1"/>
          </p:cNvPicPr>
          <p:nvPr/>
        </p:nvPicPr>
        <p:blipFill>
          <a:blip r:embed="rId4"/>
          <a:stretch>
            <a:fillRect/>
          </a:stretch>
        </p:blipFill>
        <p:spPr>
          <a:xfrm>
            <a:off x="294776" y="275548"/>
            <a:ext cx="2036728" cy="8254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0104" y="274320"/>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EN ESTA UNIDAD</a:t>
            </a:r>
            <a:endParaRPr lang="en-US" sz="1250" dirty="0"/>
          </a:p>
        </p:txBody>
      </p:sp>
      <p:sp>
        <p:nvSpPr>
          <p:cNvPr id="4" name="Text 1"/>
          <p:cNvSpPr/>
          <p:nvPr/>
        </p:nvSpPr>
        <p:spPr>
          <a:xfrm>
            <a:off x="2350104" y="548640"/>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Temas que vamos a desarrollar</a:t>
            </a:r>
            <a:endParaRPr lang="en-US" sz="2500" dirty="0"/>
          </a:p>
        </p:txBody>
      </p:sp>
      <p:sp>
        <p:nvSpPr>
          <p:cNvPr id="5" name="Shape 2"/>
          <p:cNvSpPr/>
          <p:nvPr/>
        </p:nvSpPr>
        <p:spPr>
          <a:xfrm>
            <a:off x="320040" y="1389888"/>
            <a:ext cx="11567160" cy="0"/>
          </a:xfrm>
          <a:prstGeom prst="line">
            <a:avLst/>
          </a:prstGeom>
          <a:noFill/>
          <a:ln w="15875">
            <a:solidFill>
              <a:srgbClr val="D8E6E6"/>
            </a:solidFill>
            <a:prstDash val="solid"/>
          </a:ln>
        </p:spPr>
      </p:sp>
      <p:sp>
        <p:nvSpPr>
          <p:cNvPr id="6" name="Shape 3"/>
          <p:cNvSpPr/>
          <p:nvPr/>
        </p:nvSpPr>
        <p:spPr>
          <a:xfrm>
            <a:off x="320040" y="1691640"/>
            <a:ext cx="11521440" cy="749808"/>
          </a:xfrm>
          <a:prstGeom prst="roundRect">
            <a:avLst>
              <a:gd name="adj" fmla="val 8537"/>
            </a:avLst>
          </a:prstGeom>
          <a:solidFill>
            <a:srgbClr val="F2F8F8"/>
          </a:solidFill>
          <a:ln w="12700">
            <a:solidFill>
              <a:srgbClr val="E2EDED"/>
            </a:solidFill>
            <a:prstDash val="solid"/>
          </a:ln>
        </p:spPr>
      </p:sp>
      <p:sp>
        <p:nvSpPr>
          <p:cNvPr id="7" name="Shape 4"/>
          <p:cNvSpPr/>
          <p:nvPr/>
        </p:nvSpPr>
        <p:spPr>
          <a:xfrm>
            <a:off x="548640" y="1819656"/>
            <a:ext cx="493776" cy="493776"/>
          </a:xfrm>
          <a:prstGeom prst="ellipse">
            <a:avLst/>
          </a:prstGeom>
          <a:solidFill>
            <a:srgbClr val="028090"/>
          </a:solidFill>
          <a:ln/>
        </p:spPr>
      </p:sp>
      <p:sp>
        <p:nvSpPr>
          <p:cNvPr id="8" name="Text 5"/>
          <p:cNvSpPr/>
          <p:nvPr/>
        </p:nvSpPr>
        <p:spPr>
          <a:xfrm>
            <a:off x="548640" y="1819656"/>
            <a:ext cx="493776" cy="49377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1234440" y="1691640"/>
            <a:ext cx="10424160" cy="749808"/>
          </a:xfrm>
          <a:prstGeom prst="rect">
            <a:avLst/>
          </a:prstGeom>
          <a:noFill/>
          <a:ln/>
        </p:spPr>
        <p:txBody>
          <a:bodyPr wrap="square" rtlCol="0" anchor="ctr"/>
          <a:lstStyle/>
          <a:p>
            <a:pPr marL="0" indent="0">
              <a:buNone/>
            </a:pPr>
            <a:r>
              <a:rPr lang="en-US" sz="1450" dirty="0">
                <a:solidFill>
                  <a:srgbClr val="222E2E"/>
                </a:solidFill>
                <a:latin typeface="Calibri" pitchFamily="34" charset="0"/>
                <a:ea typeface="Calibri" pitchFamily="34" charset="-122"/>
                <a:cs typeface="Calibri" pitchFamily="34" charset="-120"/>
              </a:rPr>
              <a:t>¿Qué es un servicio? Características y del enfoque centrado en el producto al centrado en el cliente</a:t>
            </a:r>
            <a:endParaRPr lang="en-US" sz="1450" dirty="0"/>
          </a:p>
        </p:txBody>
      </p:sp>
      <p:sp>
        <p:nvSpPr>
          <p:cNvPr id="10" name="Shape 7"/>
          <p:cNvSpPr/>
          <p:nvPr/>
        </p:nvSpPr>
        <p:spPr>
          <a:xfrm>
            <a:off x="320040" y="2606040"/>
            <a:ext cx="11521440" cy="749808"/>
          </a:xfrm>
          <a:prstGeom prst="roundRect">
            <a:avLst>
              <a:gd name="adj" fmla="val 8537"/>
            </a:avLst>
          </a:prstGeom>
          <a:solidFill>
            <a:srgbClr val="FFFFFF"/>
          </a:solidFill>
          <a:ln w="12700">
            <a:solidFill>
              <a:srgbClr val="E2EDED"/>
            </a:solidFill>
            <a:prstDash val="solid"/>
          </a:ln>
        </p:spPr>
      </p:sp>
      <p:sp>
        <p:nvSpPr>
          <p:cNvPr id="11" name="Shape 8"/>
          <p:cNvSpPr/>
          <p:nvPr/>
        </p:nvSpPr>
        <p:spPr>
          <a:xfrm>
            <a:off x="548640" y="2734056"/>
            <a:ext cx="493776" cy="493776"/>
          </a:xfrm>
          <a:prstGeom prst="ellipse">
            <a:avLst/>
          </a:prstGeom>
          <a:solidFill>
            <a:srgbClr val="028090"/>
          </a:solidFill>
          <a:ln/>
        </p:spPr>
      </p:sp>
      <p:sp>
        <p:nvSpPr>
          <p:cNvPr id="12" name="Text 9"/>
          <p:cNvSpPr/>
          <p:nvPr/>
        </p:nvSpPr>
        <p:spPr>
          <a:xfrm>
            <a:off x="548640" y="2734056"/>
            <a:ext cx="493776" cy="49377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0"/>
          <p:cNvSpPr/>
          <p:nvPr/>
        </p:nvSpPr>
        <p:spPr>
          <a:xfrm>
            <a:off x="1234440" y="2606040"/>
            <a:ext cx="10424160" cy="749808"/>
          </a:xfrm>
          <a:prstGeom prst="rect">
            <a:avLst/>
          </a:prstGeom>
          <a:noFill/>
          <a:ln/>
        </p:spPr>
        <p:txBody>
          <a:bodyPr wrap="square" rtlCol="0" anchor="ctr"/>
          <a:lstStyle/>
          <a:p>
            <a:pPr marL="0" indent="0">
              <a:buNone/>
            </a:pPr>
            <a:r>
              <a:rPr lang="en-US" sz="1450" dirty="0">
                <a:solidFill>
                  <a:srgbClr val="222E2E"/>
                </a:solidFill>
                <a:latin typeface="Calibri" pitchFamily="34" charset="0"/>
                <a:ea typeface="Calibri" pitchFamily="34" charset="-122"/>
                <a:cs typeface="Calibri" pitchFamily="34" charset="-120"/>
              </a:rPr>
              <a:t>La salud como industria de servicios: particularidades frente a otros sectores</a:t>
            </a:r>
            <a:endParaRPr lang="en-US" sz="1450" dirty="0"/>
          </a:p>
        </p:txBody>
      </p:sp>
      <p:sp>
        <p:nvSpPr>
          <p:cNvPr id="14" name="Shape 11"/>
          <p:cNvSpPr/>
          <p:nvPr/>
        </p:nvSpPr>
        <p:spPr>
          <a:xfrm>
            <a:off x="320040" y="3520440"/>
            <a:ext cx="11521440" cy="749808"/>
          </a:xfrm>
          <a:prstGeom prst="roundRect">
            <a:avLst>
              <a:gd name="adj" fmla="val 8537"/>
            </a:avLst>
          </a:prstGeom>
          <a:solidFill>
            <a:srgbClr val="F2F8F8"/>
          </a:solidFill>
          <a:ln w="12700">
            <a:solidFill>
              <a:srgbClr val="E2EDED"/>
            </a:solidFill>
            <a:prstDash val="solid"/>
          </a:ln>
        </p:spPr>
      </p:sp>
      <p:sp>
        <p:nvSpPr>
          <p:cNvPr id="15" name="Shape 12"/>
          <p:cNvSpPr/>
          <p:nvPr/>
        </p:nvSpPr>
        <p:spPr>
          <a:xfrm>
            <a:off x="548640" y="3648456"/>
            <a:ext cx="493776" cy="493776"/>
          </a:xfrm>
          <a:prstGeom prst="ellipse">
            <a:avLst/>
          </a:prstGeom>
          <a:solidFill>
            <a:srgbClr val="028090"/>
          </a:solidFill>
          <a:ln/>
        </p:spPr>
      </p:sp>
      <p:sp>
        <p:nvSpPr>
          <p:cNvPr id="16" name="Text 13"/>
          <p:cNvSpPr/>
          <p:nvPr/>
        </p:nvSpPr>
        <p:spPr>
          <a:xfrm>
            <a:off x="548640" y="3648456"/>
            <a:ext cx="493776" cy="49377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p:nvPr/>
        </p:nvSpPr>
        <p:spPr>
          <a:xfrm>
            <a:off x="1234440" y="3520440"/>
            <a:ext cx="10424160" cy="749808"/>
          </a:xfrm>
          <a:prstGeom prst="rect">
            <a:avLst/>
          </a:prstGeom>
          <a:noFill/>
          <a:ln/>
        </p:spPr>
        <p:txBody>
          <a:bodyPr wrap="square" rtlCol="0" anchor="ctr"/>
          <a:lstStyle/>
          <a:p>
            <a:pPr marL="0" indent="0">
              <a:buNone/>
            </a:pPr>
            <a:r>
              <a:rPr lang="en-US" sz="1450" dirty="0">
                <a:solidFill>
                  <a:srgbClr val="222E2E"/>
                </a:solidFill>
                <a:latin typeface="Calibri" pitchFamily="34" charset="0"/>
                <a:ea typeface="Calibri" pitchFamily="34" charset="-122"/>
                <a:cs typeface="Calibri" pitchFamily="34" charset="-120"/>
              </a:rPr>
              <a:t>Del “usuario” a la “persona”: evolución histórica de los modelos de atención</a:t>
            </a:r>
            <a:endParaRPr lang="en-US" sz="1450" dirty="0"/>
          </a:p>
        </p:txBody>
      </p:sp>
      <p:sp>
        <p:nvSpPr>
          <p:cNvPr id="18" name="Shape 15"/>
          <p:cNvSpPr/>
          <p:nvPr/>
        </p:nvSpPr>
        <p:spPr>
          <a:xfrm>
            <a:off x="320040" y="4434840"/>
            <a:ext cx="11521440" cy="749808"/>
          </a:xfrm>
          <a:prstGeom prst="roundRect">
            <a:avLst>
              <a:gd name="adj" fmla="val 8537"/>
            </a:avLst>
          </a:prstGeom>
          <a:solidFill>
            <a:srgbClr val="FFFFFF"/>
          </a:solidFill>
          <a:ln w="12700">
            <a:solidFill>
              <a:srgbClr val="E2EDED"/>
            </a:solidFill>
            <a:prstDash val="solid"/>
          </a:ln>
        </p:spPr>
      </p:sp>
      <p:sp>
        <p:nvSpPr>
          <p:cNvPr id="19" name="Shape 16"/>
          <p:cNvSpPr/>
          <p:nvPr/>
        </p:nvSpPr>
        <p:spPr>
          <a:xfrm>
            <a:off x="548640" y="4562856"/>
            <a:ext cx="493776" cy="493776"/>
          </a:xfrm>
          <a:prstGeom prst="ellipse">
            <a:avLst/>
          </a:prstGeom>
          <a:solidFill>
            <a:srgbClr val="028090"/>
          </a:solidFill>
          <a:ln/>
        </p:spPr>
      </p:sp>
      <p:sp>
        <p:nvSpPr>
          <p:cNvPr id="20" name="Text 17"/>
          <p:cNvSpPr/>
          <p:nvPr/>
        </p:nvSpPr>
        <p:spPr>
          <a:xfrm>
            <a:off x="548640" y="4562856"/>
            <a:ext cx="493776" cy="49377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8"/>
          <p:cNvSpPr/>
          <p:nvPr/>
        </p:nvSpPr>
        <p:spPr>
          <a:xfrm>
            <a:off x="1234440" y="4434840"/>
            <a:ext cx="10424160" cy="749808"/>
          </a:xfrm>
          <a:prstGeom prst="rect">
            <a:avLst/>
          </a:prstGeom>
          <a:noFill/>
          <a:ln/>
        </p:spPr>
        <p:txBody>
          <a:bodyPr wrap="square" rtlCol="0" anchor="ctr"/>
          <a:lstStyle/>
          <a:p>
            <a:pPr marL="0" indent="0">
              <a:buNone/>
            </a:pPr>
            <a:r>
              <a:rPr lang="en-US" sz="1450" dirty="0">
                <a:solidFill>
                  <a:srgbClr val="222E2E"/>
                </a:solidFill>
                <a:latin typeface="Calibri" pitchFamily="34" charset="0"/>
                <a:ea typeface="Calibri" pitchFamily="34" charset="-122"/>
                <a:cs typeface="Calibri" pitchFamily="34" charset="-120"/>
              </a:rPr>
              <a:t>Pirámide invertida dentro de la organización: cómo se construye una cultura de servicio</a:t>
            </a:r>
            <a:endParaRPr lang="en-US" sz="1450" dirty="0"/>
          </a:p>
        </p:txBody>
      </p:sp>
      <p:sp>
        <p:nvSpPr>
          <p:cNvPr id="22" name="Shape 19"/>
          <p:cNvSpPr/>
          <p:nvPr/>
        </p:nvSpPr>
        <p:spPr>
          <a:xfrm>
            <a:off x="320040" y="5349240"/>
            <a:ext cx="11521440" cy="749808"/>
          </a:xfrm>
          <a:prstGeom prst="roundRect">
            <a:avLst>
              <a:gd name="adj" fmla="val 8537"/>
            </a:avLst>
          </a:prstGeom>
          <a:solidFill>
            <a:srgbClr val="F2F8F8"/>
          </a:solidFill>
          <a:ln w="12700">
            <a:solidFill>
              <a:srgbClr val="E2EDED"/>
            </a:solidFill>
            <a:prstDash val="solid"/>
          </a:ln>
        </p:spPr>
      </p:sp>
      <p:sp>
        <p:nvSpPr>
          <p:cNvPr id="23" name="Shape 20"/>
          <p:cNvSpPr/>
          <p:nvPr/>
        </p:nvSpPr>
        <p:spPr>
          <a:xfrm>
            <a:off x="548640" y="5477256"/>
            <a:ext cx="493776" cy="493776"/>
          </a:xfrm>
          <a:prstGeom prst="ellipse">
            <a:avLst/>
          </a:prstGeom>
          <a:solidFill>
            <a:srgbClr val="028090"/>
          </a:solidFill>
          <a:ln/>
        </p:spPr>
      </p:sp>
      <p:sp>
        <p:nvSpPr>
          <p:cNvPr id="24" name="Text 21"/>
          <p:cNvSpPr/>
          <p:nvPr/>
        </p:nvSpPr>
        <p:spPr>
          <a:xfrm>
            <a:off x="548640" y="5477256"/>
            <a:ext cx="493776" cy="49377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Text 22"/>
          <p:cNvSpPr/>
          <p:nvPr/>
        </p:nvSpPr>
        <p:spPr>
          <a:xfrm>
            <a:off x="1234440" y="5349240"/>
            <a:ext cx="10424160" cy="749808"/>
          </a:xfrm>
          <a:prstGeom prst="rect">
            <a:avLst/>
          </a:prstGeom>
          <a:noFill/>
          <a:ln/>
        </p:spPr>
        <p:txBody>
          <a:bodyPr wrap="square" rtlCol="0" anchor="ctr"/>
          <a:lstStyle/>
          <a:p>
            <a:pPr marL="0" indent="0">
              <a:buNone/>
            </a:pPr>
            <a:r>
              <a:rPr lang="en-US" sz="1450" dirty="0">
                <a:solidFill>
                  <a:srgbClr val="222E2E"/>
                </a:solidFill>
                <a:latin typeface="Calibri" pitchFamily="34" charset="0"/>
                <a:ea typeface="Calibri" pitchFamily="34" charset="-122"/>
                <a:cs typeface="Calibri" pitchFamily="34" charset="-120"/>
              </a:rPr>
              <a:t>Casos de éxito y de fracaso en servicio al paciente en instituciones de salud</a:t>
            </a:r>
            <a:endParaRPr lang="en-US" sz="1450" dirty="0"/>
          </a:p>
        </p:txBody>
      </p:sp>
      <p:pic>
        <p:nvPicPr>
          <p:cNvPr id="27" name="Imagen 26">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9529" y="274320"/>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4" name="Text 1"/>
          <p:cNvSpPr/>
          <p:nvPr/>
        </p:nvSpPr>
        <p:spPr>
          <a:xfrm>
            <a:off x="2359529" y="548640"/>
            <a:ext cx="717097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Resultado de aprendizaje de la unidad</a:t>
            </a:r>
            <a:endParaRPr lang="en-US" sz="2500" dirty="0"/>
          </a:p>
        </p:txBody>
      </p:sp>
      <p:sp>
        <p:nvSpPr>
          <p:cNvPr id="5" name="Shape 2"/>
          <p:cNvSpPr/>
          <p:nvPr/>
        </p:nvSpPr>
        <p:spPr>
          <a:xfrm>
            <a:off x="320040" y="1389888"/>
            <a:ext cx="11567160" cy="0"/>
          </a:xfrm>
          <a:prstGeom prst="line">
            <a:avLst/>
          </a:prstGeom>
          <a:noFill/>
          <a:ln w="15875">
            <a:solidFill>
              <a:srgbClr val="D8E6E6"/>
            </a:solidFill>
            <a:prstDash val="solid"/>
          </a:ln>
        </p:spPr>
      </p:sp>
      <p:sp>
        <p:nvSpPr>
          <p:cNvPr id="6" name="Shape 3"/>
          <p:cNvSpPr/>
          <p:nvPr/>
        </p:nvSpPr>
        <p:spPr>
          <a:xfrm>
            <a:off x="320040" y="1828800"/>
            <a:ext cx="11521440" cy="2651760"/>
          </a:xfrm>
          <a:prstGeom prst="roundRect">
            <a:avLst>
              <a:gd name="adj" fmla="val 3448"/>
            </a:avLst>
          </a:prstGeom>
          <a:solidFill>
            <a:srgbClr val="F2F8F8"/>
          </a:solidFill>
          <a:ln w="12700">
            <a:solidFill>
              <a:srgbClr val="00A896"/>
            </a:solidFill>
            <a:prstDash val="solid"/>
          </a:ln>
        </p:spPr>
      </p:sp>
      <p:sp>
        <p:nvSpPr>
          <p:cNvPr id="7" name="Shape 4"/>
          <p:cNvSpPr/>
          <p:nvPr/>
        </p:nvSpPr>
        <p:spPr>
          <a:xfrm>
            <a:off x="685800" y="2148840"/>
            <a:ext cx="640080" cy="640080"/>
          </a:xfrm>
          <a:prstGeom prst="ellipse">
            <a:avLst/>
          </a:prstGeom>
          <a:solidFill>
            <a:srgbClr val="02C39A"/>
          </a:solidFill>
          <a:ln/>
        </p:spPr>
      </p:sp>
      <p:sp>
        <p:nvSpPr>
          <p:cNvPr id="8" name="Text 5"/>
          <p:cNvSpPr/>
          <p:nvPr/>
        </p:nvSpPr>
        <p:spPr>
          <a:xfrm>
            <a:off x="685800" y="2148840"/>
            <a:ext cx="640080" cy="64008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9" name="Text 6"/>
          <p:cNvSpPr/>
          <p:nvPr/>
        </p:nvSpPr>
        <p:spPr>
          <a:xfrm>
            <a:off x="1554480" y="2057400"/>
            <a:ext cx="9966960" cy="2194560"/>
          </a:xfrm>
          <a:prstGeom prst="rect">
            <a:avLst/>
          </a:prstGeom>
          <a:noFill/>
          <a:ln/>
        </p:spPr>
        <p:txBody>
          <a:bodyPr wrap="square" rtlCol="0" anchor="ctr"/>
          <a:lstStyle/>
          <a:p>
            <a:pPr marL="0" indent="0">
              <a:lnSpc>
                <a:spcPts val="2600"/>
              </a:lnSpc>
              <a:buNone/>
            </a:pPr>
            <a:r>
              <a:rPr lang="en-US" sz="2400" dirty="0">
                <a:solidFill>
                  <a:srgbClr val="222E2E"/>
                </a:solidFill>
                <a:latin typeface="Calibri" pitchFamily="34" charset="0"/>
                <a:ea typeface="Calibri" pitchFamily="34" charset="-122"/>
                <a:cs typeface="Calibri" pitchFamily="34" charset="-120"/>
              </a:rPr>
              <a:t>Reconocer el servicio como un elemento estratégico y diferenciador de las organizaciones de salud, y su relación directa con la experiencia del paciente y la reputación de la institución.</a:t>
            </a:r>
            <a:endParaRPr lang="en-US" sz="2400" dirty="0"/>
          </a:p>
        </p:txBody>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sp>
        <p:nvSpPr>
          <p:cNvPr id="6" name="Shape 3"/>
          <p:cNvSpPr/>
          <p:nvPr/>
        </p:nvSpPr>
        <p:spPr>
          <a:xfrm>
            <a:off x="320040" y="1828800"/>
            <a:ext cx="11521440" cy="2651760"/>
          </a:xfrm>
          <a:prstGeom prst="roundRect">
            <a:avLst>
              <a:gd name="adj" fmla="val 3448"/>
            </a:avLst>
          </a:prstGeom>
          <a:solidFill>
            <a:srgbClr val="F2F8F8"/>
          </a:solidFill>
          <a:ln w="12700">
            <a:solidFill>
              <a:srgbClr val="00A896"/>
            </a:solidFill>
            <a:prstDash val="solid"/>
          </a:ln>
        </p:spPr>
      </p:sp>
      <p:sp>
        <p:nvSpPr>
          <p:cNvPr id="9" name="Text 6"/>
          <p:cNvSpPr/>
          <p:nvPr/>
        </p:nvSpPr>
        <p:spPr>
          <a:xfrm>
            <a:off x="1120140" y="2045855"/>
            <a:ext cx="9966960" cy="2194560"/>
          </a:xfrm>
          <a:prstGeom prst="rect">
            <a:avLst/>
          </a:prstGeom>
          <a:noFill/>
          <a:ln/>
        </p:spPr>
        <p:txBody>
          <a:bodyPr wrap="square" rtlCol="0" anchor="ctr"/>
          <a:lstStyle/>
          <a:p>
            <a:pPr marL="0" indent="0" algn="ctr">
              <a:lnSpc>
                <a:spcPts val="2600"/>
              </a:lnSpc>
              <a:buNone/>
            </a:pPr>
            <a:r>
              <a:rPr lang="en-US" sz="4800" b="1" dirty="0">
                <a:solidFill>
                  <a:srgbClr val="222E2E"/>
                </a:solidFill>
                <a:latin typeface="Calibri" pitchFamily="34" charset="0"/>
                <a:ea typeface="Calibri" pitchFamily="34" charset="-122"/>
                <a:cs typeface="Calibri" pitchFamily="34" charset="-120"/>
              </a:rPr>
              <a:t>¿</a:t>
            </a:r>
            <a:r>
              <a:rPr lang="en-US" sz="4800" b="1" dirty="0" err="1">
                <a:solidFill>
                  <a:srgbClr val="222E2E"/>
                </a:solidFill>
                <a:latin typeface="Calibri" pitchFamily="34" charset="0"/>
                <a:ea typeface="Calibri" pitchFamily="34" charset="-122"/>
                <a:cs typeface="Calibri" pitchFamily="34" charset="-120"/>
              </a:rPr>
              <a:t>Qué</a:t>
            </a:r>
            <a:r>
              <a:rPr lang="en-US" sz="4800" b="1" dirty="0">
                <a:solidFill>
                  <a:srgbClr val="222E2E"/>
                </a:solidFill>
                <a:latin typeface="Calibri" pitchFamily="34" charset="0"/>
                <a:ea typeface="Calibri" pitchFamily="34" charset="-122"/>
                <a:cs typeface="Calibri" pitchFamily="34" charset="-120"/>
              </a:rPr>
              <a:t> </a:t>
            </a:r>
            <a:r>
              <a:rPr lang="en-US" sz="4800" b="1" dirty="0" err="1">
                <a:solidFill>
                  <a:srgbClr val="222E2E"/>
                </a:solidFill>
                <a:latin typeface="Calibri" pitchFamily="34" charset="0"/>
                <a:ea typeface="Calibri" pitchFamily="34" charset="-122"/>
                <a:cs typeface="Calibri" pitchFamily="34" charset="-120"/>
              </a:rPr>
              <a:t>es</a:t>
            </a:r>
            <a:r>
              <a:rPr lang="en-US" sz="4800" b="1" dirty="0">
                <a:solidFill>
                  <a:srgbClr val="222E2E"/>
                </a:solidFill>
                <a:latin typeface="Calibri" pitchFamily="34" charset="0"/>
                <a:ea typeface="Calibri" pitchFamily="34" charset="-122"/>
                <a:cs typeface="Calibri" pitchFamily="34" charset="-120"/>
              </a:rPr>
              <a:t> un </a:t>
            </a:r>
            <a:r>
              <a:rPr lang="en-US" sz="4800" b="1" dirty="0" err="1">
                <a:solidFill>
                  <a:srgbClr val="222E2E"/>
                </a:solidFill>
                <a:latin typeface="Calibri" pitchFamily="34" charset="0"/>
                <a:ea typeface="Calibri" pitchFamily="34" charset="-122"/>
                <a:cs typeface="Calibri" pitchFamily="34" charset="-120"/>
              </a:rPr>
              <a:t>servicio</a:t>
            </a:r>
            <a:r>
              <a:rPr lang="en-US" sz="4800" b="1" dirty="0">
                <a:solidFill>
                  <a:srgbClr val="222E2E"/>
                </a:solidFill>
                <a:latin typeface="Calibri" pitchFamily="34" charset="0"/>
                <a:ea typeface="Calibri" pitchFamily="34" charset="-122"/>
                <a:cs typeface="Calibri" pitchFamily="34" charset="-120"/>
              </a:rPr>
              <a:t>?</a:t>
            </a:r>
            <a:endParaRPr lang="en-US" sz="4800" b="1" dirty="0"/>
          </a:p>
        </p:txBody>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Tree>
    <p:extLst>
      <p:ext uri="{BB962C8B-B14F-4D97-AF65-F5344CB8AC3E}">
        <p14:creationId xmlns:p14="http://schemas.microsoft.com/office/powerpoint/2010/main" val="2585015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0102" y="274320"/>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1 · ¿QUÉ ES UN SERVICIO?</a:t>
            </a:r>
            <a:endParaRPr lang="en-US" sz="1250" dirty="0"/>
          </a:p>
        </p:txBody>
      </p:sp>
      <p:sp>
        <p:nvSpPr>
          <p:cNvPr id="4" name="Text 1"/>
          <p:cNvSpPr/>
          <p:nvPr/>
        </p:nvSpPr>
        <p:spPr>
          <a:xfrm>
            <a:off x="2350102" y="548640"/>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Definición y características fundamentales</a:t>
            </a:r>
            <a:endParaRPr lang="en-US" sz="250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Text 4"/>
          <p:cNvSpPr/>
          <p:nvPr/>
        </p:nvSpPr>
        <p:spPr>
          <a:xfrm>
            <a:off x="320040" y="1536192"/>
            <a:ext cx="11521440" cy="685800"/>
          </a:xfrm>
          <a:prstGeom prst="rect">
            <a:avLst/>
          </a:prstGeom>
          <a:noFill/>
          <a:ln/>
        </p:spPr>
        <p:txBody>
          <a:bodyPr wrap="square" rtlCol="0" anchor="ctr"/>
          <a:lstStyle/>
          <a:p>
            <a:pPr>
              <a:lnSpc>
                <a:spcPts val="2000"/>
              </a:lnSpc>
            </a:pPr>
            <a:r>
              <a:rPr lang="es-MX" sz="1450" dirty="0">
                <a:solidFill>
                  <a:srgbClr val="222E2E"/>
                </a:solidFill>
                <a:latin typeface="Calibri" pitchFamily="34" charset="0"/>
                <a:ea typeface="Calibri" pitchFamily="34" charset="-122"/>
                <a:cs typeface="Calibri" pitchFamily="34" charset="-120"/>
              </a:rPr>
              <a:t>En salud, un servicio es la atención que recibe una persona para responder a una necesidad. No se trata solo de lo que se hace, sino también de cómo la persona vive esa atención.</a:t>
            </a:r>
            <a:endParaRPr lang="en-US" sz="1450" dirty="0"/>
          </a:p>
        </p:txBody>
      </p:sp>
      <p:sp>
        <p:nvSpPr>
          <p:cNvPr id="8" name="Shape 5"/>
          <p:cNvSpPr/>
          <p:nvPr/>
        </p:nvSpPr>
        <p:spPr>
          <a:xfrm>
            <a:off x="320040" y="2423160"/>
            <a:ext cx="2743200" cy="2331720"/>
          </a:xfrm>
          <a:prstGeom prst="roundRect">
            <a:avLst>
              <a:gd name="adj" fmla="val 3137"/>
            </a:avLst>
          </a:prstGeom>
          <a:solidFill>
            <a:srgbClr val="F2F8F8"/>
          </a:solidFill>
          <a:ln w="12700">
            <a:solidFill>
              <a:srgbClr val="D8E6E6"/>
            </a:solidFill>
            <a:prstDash val="solid"/>
          </a:ln>
        </p:spPr>
      </p:sp>
      <p:sp>
        <p:nvSpPr>
          <p:cNvPr id="9" name="Shape 6"/>
          <p:cNvSpPr/>
          <p:nvPr/>
        </p:nvSpPr>
        <p:spPr>
          <a:xfrm>
            <a:off x="1435608" y="2624328"/>
            <a:ext cx="512064" cy="512064"/>
          </a:xfrm>
          <a:prstGeom prst="ellipse">
            <a:avLst/>
          </a:prstGeom>
          <a:solidFill>
            <a:srgbClr val="028090"/>
          </a:solidFill>
          <a:ln/>
        </p:spPr>
      </p:sp>
      <p:sp>
        <p:nvSpPr>
          <p:cNvPr id="10" name="Text 7"/>
          <p:cNvSpPr/>
          <p:nvPr/>
        </p:nvSpPr>
        <p:spPr>
          <a:xfrm>
            <a:off x="1435608" y="2624328"/>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1" name="Text 8"/>
          <p:cNvSpPr/>
          <p:nvPr/>
        </p:nvSpPr>
        <p:spPr>
          <a:xfrm>
            <a:off x="457200" y="3246120"/>
            <a:ext cx="2468880" cy="365760"/>
          </a:xfrm>
          <a:prstGeom prst="rect">
            <a:avLst/>
          </a:prstGeom>
          <a:noFill/>
          <a:ln/>
        </p:spPr>
        <p:txBody>
          <a:bodyPr wrap="square" rtlCol="0" anchor="ctr"/>
          <a:lstStyle/>
          <a:p>
            <a:pPr algn="ctr"/>
            <a:r>
              <a:rPr lang="en-US" sz="1400" b="1" dirty="0" err="1">
                <a:solidFill>
                  <a:srgbClr val="0B3D3F"/>
                </a:solidFill>
                <a:latin typeface="Calibri" pitchFamily="34" charset="0"/>
                <a:ea typeface="Calibri" pitchFamily="34" charset="-122"/>
                <a:cs typeface="Calibri" pitchFamily="34" charset="-120"/>
              </a:rPr>
              <a:t>Intangibilidad</a:t>
            </a:r>
            <a:endParaRPr lang="en-US" sz="1400" b="1" dirty="0">
              <a:solidFill>
                <a:srgbClr val="0B3D3F"/>
              </a:solidFill>
              <a:latin typeface="Calibri" pitchFamily="34" charset="0"/>
              <a:ea typeface="Calibri" pitchFamily="34" charset="-122"/>
              <a:cs typeface="Calibri" pitchFamily="34" charset="-120"/>
            </a:endParaRPr>
          </a:p>
          <a:p>
            <a:pPr algn="ctr"/>
            <a:r>
              <a:rPr lang="es-PE" sz="1400" b="1" dirty="0" err="1">
                <a:solidFill>
                  <a:srgbClr val="0B3D3F"/>
                </a:solidFill>
                <a:latin typeface="Calibri" pitchFamily="34" charset="0"/>
                <a:ea typeface="Calibri" pitchFamily="34" charset="-122"/>
                <a:cs typeface="Calibri" pitchFamily="34" charset="-120"/>
              </a:rPr>
              <a:t>Intangibility</a:t>
            </a:r>
            <a:endParaRPr lang="en-US" sz="1400" b="1" dirty="0">
              <a:solidFill>
                <a:srgbClr val="0B3D3F"/>
              </a:solidFill>
              <a:latin typeface="Calibri" pitchFamily="34" charset="0"/>
              <a:ea typeface="Calibri" pitchFamily="34" charset="-122"/>
              <a:cs typeface="Calibri" pitchFamily="34" charset="-120"/>
            </a:endParaRPr>
          </a:p>
        </p:txBody>
      </p:sp>
      <p:sp>
        <p:nvSpPr>
          <p:cNvPr id="12" name="Text 9"/>
          <p:cNvSpPr/>
          <p:nvPr/>
        </p:nvSpPr>
        <p:spPr>
          <a:xfrm>
            <a:off x="502920" y="3611880"/>
            <a:ext cx="2377440" cy="1005840"/>
          </a:xfrm>
          <a:prstGeom prst="rect">
            <a:avLst/>
          </a:prstGeom>
          <a:noFill/>
          <a:ln/>
        </p:spPr>
        <p:txBody>
          <a:bodyPr wrap="square" rtlCol="0" anchor="ctr"/>
          <a:lstStyle/>
          <a:p>
            <a:pPr marL="0" indent="0" algn="ctr">
              <a:lnSpc>
                <a:spcPts val="1350"/>
              </a:lnSpc>
              <a:buNone/>
            </a:pPr>
            <a:r>
              <a:rPr lang="en-US" sz="1100" dirty="0">
                <a:solidFill>
                  <a:srgbClr val="222E2E"/>
                </a:solidFill>
                <a:latin typeface="Calibri" pitchFamily="34" charset="0"/>
                <a:ea typeface="Calibri" pitchFamily="34" charset="-122"/>
                <a:cs typeface="Calibri" pitchFamily="34" charset="-120"/>
              </a:rPr>
              <a:t>No se puede ver, tocar ni almacenar antes de la compra. El usuario debe confiar en la promesa del servicio antes de vivirlo.</a:t>
            </a:r>
            <a:endParaRPr lang="en-US" sz="1100" dirty="0"/>
          </a:p>
        </p:txBody>
      </p:sp>
      <p:sp>
        <p:nvSpPr>
          <p:cNvPr id="13" name="Shape 10"/>
          <p:cNvSpPr/>
          <p:nvPr/>
        </p:nvSpPr>
        <p:spPr>
          <a:xfrm>
            <a:off x="3200400" y="2423160"/>
            <a:ext cx="2743200" cy="2331720"/>
          </a:xfrm>
          <a:prstGeom prst="roundRect">
            <a:avLst>
              <a:gd name="adj" fmla="val 3137"/>
            </a:avLst>
          </a:prstGeom>
          <a:solidFill>
            <a:srgbClr val="E4F5F3"/>
          </a:solidFill>
          <a:ln w="12700">
            <a:solidFill>
              <a:srgbClr val="D8E6E6"/>
            </a:solidFill>
            <a:prstDash val="solid"/>
          </a:ln>
        </p:spPr>
      </p:sp>
      <p:sp>
        <p:nvSpPr>
          <p:cNvPr id="14" name="Shape 11"/>
          <p:cNvSpPr/>
          <p:nvPr/>
        </p:nvSpPr>
        <p:spPr>
          <a:xfrm>
            <a:off x="4315968" y="2624328"/>
            <a:ext cx="512064" cy="512064"/>
          </a:xfrm>
          <a:prstGeom prst="ellipse">
            <a:avLst/>
          </a:prstGeom>
          <a:solidFill>
            <a:srgbClr val="028090"/>
          </a:solidFill>
          <a:ln/>
        </p:spPr>
      </p:sp>
      <p:sp>
        <p:nvSpPr>
          <p:cNvPr id="15" name="Text 12"/>
          <p:cNvSpPr/>
          <p:nvPr/>
        </p:nvSpPr>
        <p:spPr>
          <a:xfrm>
            <a:off x="4315968" y="2624328"/>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6" name="Text 13"/>
          <p:cNvSpPr/>
          <p:nvPr/>
        </p:nvSpPr>
        <p:spPr>
          <a:xfrm>
            <a:off x="3337560" y="3246120"/>
            <a:ext cx="2468880" cy="365760"/>
          </a:xfrm>
          <a:prstGeom prst="rect">
            <a:avLst/>
          </a:prstGeom>
          <a:noFill/>
          <a:ln/>
        </p:spPr>
        <p:txBody>
          <a:bodyPr wrap="square" rtlCol="0" anchor="ctr"/>
          <a:lstStyle/>
          <a:p>
            <a:pPr algn="ctr"/>
            <a:r>
              <a:rPr lang="en-US" sz="1400" b="1" dirty="0" err="1">
                <a:solidFill>
                  <a:srgbClr val="0B3D3F"/>
                </a:solidFill>
                <a:latin typeface="Calibri" pitchFamily="34" charset="0"/>
                <a:ea typeface="Calibri" pitchFamily="34" charset="-122"/>
                <a:cs typeface="Calibri" pitchFamily="34" charset="-120"/>
              </a:rPr>
              <a:t>Heterogeneidad</a:t>
            </a:r>
            <a:endParaRPr lang="en-US" sz="1400" b="1" dirty="0">
              <a:solidFill>
                <a:srgbClr val="0B3D3F"/>
              </a:solidFill>
              <a:latin typeface="Calibri" pitchFamily="34" charset="0"/>
              <a:ea typeface="Calibri" pitchFamily="34" charset="-122"/>
              <a:cs typeface="Calibri" pitchFamily="34" charset="-120"/>
            </a:endParaRPr>
          </a:p>
          <a:p>
            <a:pPr algn="ctr"/>
            <a:r>
              <a:rPr lang="en-US" sz="1400" b="1" dirty="0">
                <a:solidFill>
                  <a:srgbClr val="0B3D3F"/>
                </a:solidFill>
                <a:latin typeface="Calibri" pitchFamily="34" charset="0"/>
                <a:ea typeface="Calibri" pitchFamily="34" charset="-122"/>
                <a:cs typeface="Calibri" pitchFamily="34" charset="-120"/>
              </a:rPr>
              <a:t> </a:t>
            </a:r>
            <a:r>
              <a:rPr lang="es-PE" sz="1400" b="1" dirty="0" err="1">
                <a:solidFill>
                  <a:srgbClr val="0B3D3F"/>
                </a:solidFill>
                <a:latin typeface="Calibri" pitchFamily="34" charset="0"/>
                <a:ea typeface="Calibri" pitchFamily="34" charset="-122"/>
                <a:cs typeface="Calibri" pitchFamily="34" charset="-120"/>
              </a:rPr>
              <a:t>Heterogeneity</a:t>
            </a:r>
            <a:endParaRPr lang="en-US" sz="1400" b="1" dirty="0">
              <a:solidFill>
                <a:srgbClr val="0B3D3F"/>
              </a:solidFill>
              <a:latin typeface="Calibri" pitchFamily="34" charset="0"/>
              <a:ea typeface="Calibri" pitchFamily="34" charset="-122"/>
              <a:cs typeface="Calibri" pitchFamily="34" charset="-120"/>
            </a:endParaRPr>
          </a:p>
        </p:txBody>
      </p:sp>
      <p:sp>
        <p:nvSpPr>
          <p:cNvPr id="17" name="Text 14"/>
          <p:cNvSpPr/>
          <p:nvPr/>
        </p:nvSpPr>
        <p:spPr>
          <a:xfrm>
            <a:off x="3383280" y="3611880"/>
            <a:ext cx="2377440" cy="1005840"/>
          </a:xfrm>
          <a:prstGeom prst="rect">
            <a:avLst/>
          </a:prstGeom>
          <a:noFill/>
          <a:ln/>
        </p:spPr>
        <p:txBody>
          <a:bodyPr wrap="square" rtlCol="0" anchor="ctr"/>
          <a:lstStyle/>
          <a:p>
            <a:pPr marL="0" indent="0" algn="ctr">
              <a:lnSpc>
                <a:spcPts val="1350"/>
              </a:lnSpc>
              <a:buNone/>
            </a:pPr>
            <a:r>
              <a:rPr lang="en-US" sz="1100" dirty="0">
                <a:solidFill>
                  <a:srgbClr val="222E2E"/>
                </a:solidFill>
                <a:latin typeface="Calibri" pitchFamily="34" charset="0"/>
                <a:ea typeface="Calibri" pitchFamily="34" charset="-122"/>
                <a:cs typeface="Calibri" pitchFamily="34" charset="-120"/>
              </a:rPr>
              <a:t>Cada prestación es distinta, porque depende de quién la entrega, a quién, y en </a:t>
            </a:r>
            <a:r>
              <a:rPr lang="en-US" sz="1100" dirty="0" err="1">
                <a:solidFill>
                  <a:srgbClr val="222E2E"/>
                </a:solidFill>
                <a:latin typeface="Calibri" pitchFamily="34" charset="0"/>
                <a:ea typeface="Calibri" pitchFamily="34" charset="-122"/>
                <a:cs typeface="Calibri" pitchFamily="34" charset="-120"/>
              </a:rPr>
              <a:t>qué</a:t>
            </a:r>
            <a:r>
              <a:rPr lang="en-US" sz="1100" dirty="0">
                <a:solidFill>
                  <a:srgbClr val="222E2E"/>
                </a:solidFill>
                <a:latin typeface="Calibri" pitchFamily="34" charset="0"/>
                <a:ea typeface="Calibri" pitchFamily="34" charset="-122"/>
                <a:cs typeface="Calibri" pitchFamily="34" charset="-120"/>
              </a:rPr>
              <a:t> </a:t>
            </a:r>
            <a:r>
              <a:rPr lang="en-US" sz="1100" dirty="0" err="1">
                <a:solidFill>
                  <a:srgbClr val="222E2E"/>
                </a:solidFill>
                <a:latin typeface="Calibri" pitchFamily="34" charset="0"/>
                <a:ea typeface="Calibri" pitchFamily="34" charset="-122"/>
                <a:cs typeface="Calibri" pitchFamily="34" charset="-120"/>
              </a:rPr>
              <a:t>circunstancia</a:t>
            </a:r>
            <a:r>
              <a:rPr lang="en-US" sz="1100" dirty="0">
                <a:solidFill>
                  <a:srgbClr val="222E2E"/>
                </a:solidFill>
                <a:latin typeface="Calibri" pitchFamily="34" charset="0"/>
                <a:ea typeface="Calibri" pitchFamily="34" charset="-122"/>
                <a:cs typeface="Calibri" pitchFamily="34" charset="-120"/>
              </a:rPr>
              <a:t>, es difícil estandarizar al 100%.</a:t>
            </a:r>
            <a:endParaRPr lang="en-US" sz="1100" dirty="0"/>
          </a:p>
        </p:txBody>
      </p:sp>
      <p:sp>
        <p:nvSpPr>
          <p:cNvPr id="18" name="Shape 15"/>
          <p:cNvSpPr/>
          <p:nvPr/>
        </p:nvSpPr>
        <p:spPr>
          <a:xfrm>
            <a:off x="6080760" y="2423160"/>
            <a:ext cx="2743200" cy="2331720"/>
          </a:xfrm>
          <a:prstGeom prst="roundRect">
            <a:avLst>
              <a:gd name="adj" fmla="val 3137"/>
            </a:avLst>
          </a:prstGeom>
          <a:solidFill>
            <a:srgbClr val="F2F8F8"/>
          </a:solidFill>
          <a:ln w="12700">
            <a:solidFill>
              <a:srgbClr val="D8E6E6"/>
            </a:solidFill>
            <a:prstDash val="solid"/>
          </a:ln>
        </p:spPr>
      </p:sp>
      <p:sp>
        <p:nvSpPr>
          <p:cNvPr id="19" name="Shape 16"/>
          <p:cNvSpPr/>
          <p:nvPr/>
        </p:nvSpPr>
        <p:spPr>
          <a:xfrm>
            <a:off x="7196328" y="2624328"/>
            <a:ext cx="512064" cy="512064"/>
          </a:xfrm>
          <a:prstGeom prst="ellipse">
            <a:avLst/>
          </a:prstGeom>
          <a:solidFill>
            <a:srgbClr val="028090"/>
          </a:solidFill>
          <a:ln/>
        </p:spPr>
      </p:sp>
      <p:sp>
        <p:nvSpPr>
          <p:cNvPr id="20" name="Text 17"/>
          <p:cNvSpPr/>
          <p:nvPr/>
        </p:nvSpPr>
        <p:spPr>
          <a:xfrm>
            <a:off x="7196328" y="2624328"/>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8"/>
          <p:cNvSpPr/>
          <p:nvPr/>
        </p:nvSpPr>
        <p:spPr>
          <a:xfrm>
            <a:off x="6217920" y="3246120"/>
            <a:ext cx="2468880" cy="365760"/>
          </a:xfrm>
          <a:prstGeom prst="rect">
            <a:avLst/>
          </a:prstGeom>
          <a:noFill/>
          <a:ln/>
        </p:spPr>
        <p:txBody>
          <a:bodyPr wrap="square" rtlCol="0" anchor="ctr"/>
          <a:lstStyle/>
          <a:p>
            <a:pPr marL="0" indent="0" algn="ctr">
              <a:buNone/>
            </a:pPr>
            <a:r>
              <a:rPr lang="en-US" sz="1400" b="1" dirty="0" err="1">
                <a:solidFill>
                  <a:srgbClr val="0B3D3F"/>
                </a:solidFill>
                <a:latin typeface="Calibri" pitchFamily="34" charset="0"/>
                <a:ea typeface="Calibri" pitchFamily="34" charset="-122"/>
                <a:cs typeface="Calibri" pitchFamily="34" charset="-120"/>
              </a:rPr>
              <a:t>Inseparabilidad</a:t>
            </a:r>
            <a:endParaRPr lang="en-US" sz="1400" b="1" dirty="0">
              <a:solidFill>
                <a:srgbClr val="0B3D3F"/>
              </a:solidFill>
              <a:latin typeface="Calibri" pitchFamily="34" charset="0"/>
              <a:ea typeface="Calibri" pitchFamily="34" charset="-122"/>
              <a:cs typeface="Calibri" pitchFamily="34" charset="-120"/>
            </a:endParaRPr>
          </a:p>
          <a:p>
            <a:pPr marL="0" indent="0" algn="ctr">
              <a:buNone/>
            </a:pPr>
            <a:r>
              <a:rPr lang="en-US" sz="1400" b="1" dirty="0">
                <a:solidFill>
                  <a:srgbClr val="0B3D3F"/>
                </a:solidFill>
                <a:latin typeface="Calibri" pitchFamily="34" charset="0"/>
                <a:ea typeface="Calibri" pitchFamily="34" charset="-122"/>
                <a:cs typeface="Calibri" pitchFamily="34" charset="-120"/>
              </a:rPr>
              <a:t>Inseparability</a:t>
            </a:r>
            <a:endParaRPr lang="en-US" sz="1400" dirty="0"/>
          </a:p>
        </p:txBody>
      </p:sp>
      <p:sp>
        <p:nvSpPr>
          <p:cNvPr id="22" name="Text 19"/>
          <p:cNvSpPr/>
          <p:nvPr/>
        </p:nvSpPr>
        <p:spPr>
          <a:xfrm>
            <a:off x="6263640" y="3611880"/>
            <a:ext cx="2377440" cy="1005840"/>
          </a:xfrm>
          <a:prstGeom prst="rect">
            <a:avLst/>
          </a:prstGeom>
          <a:noFill/>
          <a:ln/>
        </p:spPr>
        <p:txBody>
          <a:bodyPr wrap="square" rtlCol="0" anchor="ctr"/>
          <a:lstStyle/>
          <a:p>
            <a:pPr marL="0" indent="0" algn="ctr">
              <a:lnSpc>
                <a:spcPts val="1350"/>
              </a:lnSpc>
              <a:buNone/>
            </a:pPr>
            <a:r>
              <a:rPr lang="en-US" sz="1100" dirty="0">
                <a:solidFill>
                  <a:srgbClr val="222E2E"/>
                </a:solidFill>
                <a:latin typeface="Calibri" pitchFamily="34" charset="0"/>
                <a:ea typeface="Calibri" pitchFamily="34" charset="-122"/>
                <a:cs typeface="Calibri" pitchFamily="34" charset="-120"/>
              </a:rPr>
              <a:t>Se produce y se consume al mismo tiempo. El usuario suele estar presente durante la “fabricación” del servicio.</a:t>
            </a:r>
            <a:endParaRPr lang="en-US" sz="1100" dirty="0"/>
          </a:p>
        </p:txBody>
      </p:sp>
      <p:sp>
        <p:nvSpPr>
          <p:cNvPr id="23" name="Shape 20"/>
          <p:cNvSpPr/>
          <p:nvPr/>
        </p:nvSpPr>
        <p:spPr>
          <a:xfrm>
            <a:off x="8961120" y="2423160"/>
            <a:ext cx="2743200" cy="2331720"/>
          </a:xfrm>
          <a:prstGeom prst="roundRect">
            <a:avLst>
              <a:gd name="adj" fmla="val 3137"/>
            </a:avLst>
          </a:prstGeom>
          <a:solidFill>
            <a:srgbClr val="E4F5F3"/>
          </a:solidFill>
          <a:ln w="12700">
            <a:solidFill>
              <a:srgbClr val="D8E6E6"/>
            </a:solidFill>
            <a:prstDash val="solid"/>
          </a:ln>
        </p:spPr>
      </p:sp>
      <p:sp>
        <p:nvSpPr>
          <p:cNvPr id="24" name="Shape 21"/>
          <p:cNvSpPr/>
          <p:nvPr/>
        </p:nvSpPr>
        <p:spPr>
          <a:xfrm>
            <a:off x="10076688" y="2624328"/>
            <a:ext cx="512064" cy="512064"/>
          </a:xfrm>
          <a:prstGeom prst="ellipse">
            <a:avLst/>
          </a:prstGeom>
          <a:solidFill>
            <a:srgbClr val="028090"/>
          </a:solidFill>
          <a:ln/>
        </p:spPr>
      </p:sp>
      <p:sp>
        <p:nvSpPr>
          <p:cNvPr id="25" name="Text 22"/>
          <p:cNvSpPr/>
          <p:nvPr/>
        </p:nvSpPr>
        <p:spPr>
          <a:xfrm>
            <a:off x="10076688" y="2624328"/>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6" name="Text 23"/>
          <p:cNvSpPr/>
          <p:nvPr/>
        </p:nvSpPr>
        <p:spPr>
          <a:xfrm>
            <a:off x="9098280" y="3246120"/>
            <a:ext cx="2468880" cy="365760"/>
          </a:xfrm>
          <a:prstGeom prst="rect">
            <a:avLst/>
          </a:prstGeom>
          <a:noFill/>
          <a:ln/>
        </p:spPr>
        <p:txBody>
          <a:bodyPr wrap="square" rtlCol="0" anchor="ctr"/>
          <a:lstStyle/>
          <a:p>
            <a:pPr marL="0" indent="0" algn="ctr">
              <a:buNone/>
            </a:pPr>
            <a:r>
              <a:rPr lang="en-US" sz="1400" b="1" dirty="0" err="1">
                <a:solidFill>
                  <a:srgbClr val="0B3D3F"/>
                </a:solidFill>
                <a:latin typeface="Calibri" pitchFamily="34" charset="0"/>
                <a:ea typeface="Calibri" pitchFamily="34" charset="-122"/>
                <a:cs typeface="Calibri" pitchFamily="34" charset="-120"/>
              </a:rPr>
              <a:t>Perecibilidad</a:t>
            </a:r>
            <a:endParaRPr lang="en-US" sz="1400" b="1" dirty="0">
              <a:solidFill>
                <a:srgbClr val="0B3D3F"/>
              </a:solidFill>
              <a:latin typeface="Calibri" pitchFamily="34" charset="0"/>
              <a:ea typeface="Calibri" pitchFamily="34" charset="-122"/>
              <a:cs typeface="Calibri" pitchFamily="34" charset="-120"/>
            </a:endParaRPr>
          </a:p>
          <a:p>
            <a:pPr marL="0" indent="0" algn="ctr">
              <a:buNone/>
            </a:pPr>
            <a:r>
              <a:rPr lang="en-US" sz="1400" b="1" dirty="0">
                <a:solidFill>
                  <a:srgbClr val="0B3D3F"/>
                </a:solidFill>
                <a:latin typeface="Calibri" pitchFamily="34" charset="0"/>
                <a:ea typeface="Calibri" pitchFamily="34" charset="-122"/>
                <a:cs typeface="Calibri" pitchFamily="34" charset="-120"/>
              </a:rPr>
              <a:t>Perishability</a:t>
            </a:r>
          </a:p>
        </p:txBody>
      </p:sp>
      <p:sp>
        <p:nvSpPr>
          <p:cNvPr id="27" name="Text 24"/>
          <p:cNvSpPr/>
          <p:nvPr/>
        </p:nvSpPr>
        <p:spPr>
          <a:xfrm>
            <a:off x="9144000" y="3611880"/>
            <a:ext cx="2377440" cy="1005840"/>
          </a:xfrm>
          <a:prstGeom prst="rect">
            <a:avLst/>
          </a:prstGeom>
          <a:noFill/>
          <a:ln/>
        </p:spPr>
        <p:txBody>
          <a:bodyPr wrap="square" rtlCol="0" anchor="ctr"/>
          <a:lstStyle/>
          <a:p>
            <a:pPr marL="0" indent="0" algn="ctr">
              <a:lnSpc>
                <a:spcPts val="1350"/>
              </a:lnSpc>
              <a:buNone/>
            </a:pPr>
            <a:r>
              <a:rPr lang="en-US" sz="1100" dirty="0">
                <a:solidFill>
                  <a:srgbClr val="222E2E"/>
                </a:solidFill>
                <a:latin typeface="Calibri" pitchFamily="34" charset="0"/>
                <a:ea typeface="Calibri" pitchFamily="34" charset="-122"/>
                <a:cs typeface="Calibri" pitchFamily="34" charset="-120"/>
              </a:rPr>
              <a:t>No se puede almacenar para venderlo después: una cita médica no utilizada hoy no se puede “guardar” para mañana.</a:t>
            </a:r>
            <a:endParaRPr lang="en-US" sz="1100" dirty="0"/>
          </a:p>
        </p:txBody>
      </p:sp>
      <p:sp>
        <p:nvSpPr>
          <p:cNvPr id="28" name="Text 25"/>
          <p:cNvSpPr/>
          <p:nvPr/>
        </p:nvSpPr>
        <p:spPr>
          <a:xfrm>
            <a:off x="320040" y="4937760"/>
            <a:ext cx="11521440" cy="640080"/>
          </a:xfrm>
          <a:prstGeom prst="rect">
            <a:avLst/>
          </a:prstGeom>
          <a:noFill/>
          <a:ln/>
        </p:spPr>
        <p:txBody>
          <a:bodyPr wrap="square" rtlCol="0" anchor="ctr"/>
          <a:lstStyle/>
          <a:p>
            <a:pPr marL="0" indent="0">
              <a:lnSpc>
                <a:spcPts val="1600"/>
              </a:lnSpc>
              <a:buNone/>
            </a:pPr>
            <a:r>
              <a:rPr lang="en-US" sz="1250" i="1" dirty="0">
                <a:solidFill>
                  <a:srgbClr val="5A6B6E"/>
                </a:solidFill>
                <a:latin typeface="Calibri" pitchFamily="34" charset="0"/>
                <a:ea typeface="Calibri" pitchFamily="34" charset="-122"/>
                <a:cs typeface="Calibri" pitchFamily="34" charset="-120"/>
              </a:rPr>
              <a:t>Estas cuatro características (conocidas como el modelo IHIP) son la base para entender por qué gestionar un servicio de salud requiere lógicas distintas a las de gestionar un producto.</a:t>
            </a:r>
            <a:endParaRPr lang="en-US" sz="1250" dirty="0"/>
          </a:p>
        </p:txBody>
      </p:sp>
      <p:sp>
        <p:nvSpPr>
          <p:cNvPr id="29" name="Text 26"/>
          <p:cNvSpPr/>
          <p:nvPr/>
        </p:nvSpPr>
        <p:spPr>
          <a:xfrm>
            <a:off x="320040" y="6473952"/>
            <a:ext cx="11521440" cy="292608"/>
          </a:xfrm>
          <a:prstGeom prst="rect">
            <a:avLst/>
          </a:prstGeom>
          <a:noFill/>
          <a:ln/>
        </p:spPr>
        <p:txBody>
          <a:bodyPr wrap="square" rtlCol="0" anchor="ctr"/>
          <a:lstStyle/>
          <a:p>
            <a:pPr marL="0" indent="0">
              <a:buNone/>
            </a:pPr>
            <a:r>
              <a:rPr lang="en-US" sz="950" i="1" dirty="0">
                <a:solidFill>
                  <a:srgbClr val="5A6B6E"/>
                </a:solidFill>
                <a:latin typeface="Calibri" pitchFamily="34" charset="0"/>
                <a:ea typeface="Calibri" pitchFamily="34" charset="-122"/>
                <a:cs typeface="Calibri" pitchFamily="34" charset="-120"/>
              </a:rPr>
              <a:t>Modelo IHIP de servicios (marco clásico de marketing de servicios), aplicado al contexto de atención en salud.</a:t>
            </a:r>
            <a:endParaRPr lang="en-US" sz="950" dirty="0"/>
          </a:p>
        </p:txBody>
      </p:sp>
      <p:pic>
        <p:nvPicPr>
          <p:cNvPr id="31" name="Imagen 3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sp>
        <p:nvSpPr>
          <p:cNvPr id="6" name="Shape 3"/>
          <p:cNvSpPr/>
          <p:nvPr/>
        </p:nvSpPr>
        <p:spPr>
          <a:xfrm>
            <a:off x="320040" y="1828800"/>
            <a:ext cx="11521440" cy="2651760"/>
          </a:xfrm>
          <a:prstGeom prst="roundRect">
            <a:avLst>
              <a:gd name="adj" fmla="val 3448"/>
            </a:avLst>
          </a:prstGeom>
          <a:solidFill>
            <a:srgbClr val="F2F8F8"/>
          </a:solidFill>
          <a:ln w="12700">
            <a:solidFill>
              <a:srgbClr val="00A896"/>
            </a:solidFill>
            <a:prstDash val="solid"/>
          </a:ln>
        </p:spPr>
      </p:sp>
      <p:sp>
        <p:nvSpPr>
          <p:cNvPr id="9" name="Text 6"/>
          <p:cNvSpPr/>
          <p:nvPr/>
        </p:nvSpPr>
        <p:spPr>
          <a:xfrm>
            <a:off x="1120140" y="2045855"/>
            <a:ext cx="9966960" cy="2194560"/>
          </a:xfrm>
          <a:prstGeom prst="rect">
            <a:avLst/>
          </a:prstGeom>
          <a:noFill/>
          <a:ln/>
        </p:spPr>
        <p:txBody>
          <a:bodyPr wrap="square" rtlCol="0" anchor="ctr"/>
          <a:lstStyle/>
          <a:p>
            <a:pPr marL="0" indent="0" algn="ctr">
              <a:buNone/>
            </a:pPr>
            <a:r>
              <a:rPr lang="en-US" sz="4800" b="1" dirty="0">
                <a:solidFill>
                  <a:srgbClr val="222E2E"/>
                </a:solidFill>
                <a:latin typeface="Calibri" pitchFamily="34" charset="0"/>
                <a:ea typeface="Calibri" pitchFamily="34" charset="-122"/>
                <a:cs typeface="Calibri" pitchFamily="34" charset="-120"/>
              </a:rPr>
              <a:t>¿</a:t>
            </a:r>
            <a:r>
              <a:rPr lang="en-US" sz="4800" b="1" dirty="0" err="1">
                <a:solidFill>
                  <a:srgbClr val="222E2E"/>
                </a:solidFill>
                <a:latin typeface="Calibri" pitchFamily="34" charset="0"/>
                <a:ea typeface="Calibri" pitchFamily="34" charset="-122"/>
                <a:cs typeface="Calibri" pitchFamily="34" charset="-120"/>
              </a:rPr>
              <a:t>Por</a:t>
            </a:r>
            <a:r>
              <a:rPr lang="en-US" sz="4800" b="1" dirty="0">
                <a:solidFill>
                  <a:srgbClr val="222E2E"/>
                </a:solidFill>
                <a:latin typeface="Calibri" pitchFamily="34" charset="0"/>
                <a:ea typeface="Calibri" pitchFamily="34" charset="-122"/>
                <a:cs typeface="Calibri" pitchFamily="34" charset="-120"/>
              </a:rPr>
              <a:t> </a:t>
            </a:r>
            <a:r>
              <a:rPr lang="en-US" sz="4800" b="1" dirty="0" err="1">
                <a:solidFill>
                  <a:srgbClr val="222E2E"/>
                </a:solidFill>
                <a:latin typeface="Calibri" pitchFamily="34" charset="0"/>
                <a:ea typeface="Calibri" pitchFamily="34" charset="-122"/>
                <a:cs typeface="Calibri" pitchFamily="34" charset="-120"/>
              </a:rPr>
              <a:t>qué</a:t>
            </a:r>
            <a:r>
              <a:rPr lang="en-US" sz="4800" b="1" dirty="0">
                <a:solidFill>
                  <a:srgbClr val="222E2E"/>
                </a:solidFill>
                <a:latin typeface="Calibri" pitchFamily="34" charset="0"/>
                <a:ea typeface="Calibri" pitchFamily="34" charset="-122"/>
                <a:cs typeface="Calibri" pitchFamily="34" charset="-120"/>
              </a:rPr>
              <a:t> </a:t>
            </a:r>
            <a:r>
              <a:rPr lang="en-US" sz="4800" b="1" dirty="0" err="1">
                <a:solidFill>
                  <a:srgbClr val="222E2E"/>
                </a:solidFill>
                <a:latin typeface="Calibri" pitchFamily="34" charset="0"/>
                <a:ea typeface="Calibri" pitchFamily="34" charset="-122"/>
                <a:cs typeface="Calibri" pitchFamily="34" charset="-120"/>
              </a:rPr>
              <a:t>es</a:t>
            </a:r>
            <a:r>
              <a:rPr lang="en-US" sz="4800" b="1" dirty="0">
                <a:solidFill>
                  <a:srgbClr val="222E2E"/>
                </a:solidFill>
                <a:latin typeface="Calibri" pitchFamily="34" charset="0"/>
                <a:ea typeface="Calibri" pitchFamily="34" charset="-122"/>
                <a:cs typeface="Calibri" pitchFamily="34" charset="-120"/>
              </a:rPr>
              <a:t> </a:t>
            </a:r>
            <a:r>
              <a:rPr lang="en-US" sz="4800" b="1" dirty="0" err="1">
                <a:solidFill>
                  <a:srgbClr val="222E2E"/>
                </a:solidFill>
                <a:latin typeface="Calibri" pitchFamily="34" charset="0"/>
                <a:ea typeface="Calibri" pitchFamily="34" charset="-122"/>
                <a:cs typeface="Calibri" pitchFamily="34" charset="-120"/>
              </a:rPr>
              <a:t>importante</a:t>
            </a:r>
            <a:r>
              <a:rPr lang="en-US" sz="4800" b="1" dirty="0">
                <a:solidFill>
                  <a:srgbClr val="222E2E"/>
                </a:solidFill>
                <a:latin typeface="Calibri" pitchFamily="34" charset="0"/>
                <a:ea typeface="Calibri" pitchFamily="34" charset="-122"/>
                <a:cs typeface="Calibri" pitchFamily="34" charset="-120"/>
              </a:rPr>
              <a:t> la persona y no el </a:t>
            </a:r>
            <a:r>
              <a:rPr lang="en-US" sz="4800" b="1" dirty="0" err="1">
                <a:solidFill>
                  <a:srgbClr val="222E2E"/>
                </a:solidFill>
                <a:latin typeface="Calibri" pitchFamily="34" charset="0"/>
                <a:ea typeface="Calibri" pitchFamily="34" charset="-122"/>
                <a:cs typeface="Calibri" pitchFamily="34" charset="-120"/>
              </a:rPr>
              <a:t>producto</a:t>
            </a:r>
            <a:r>
              <a:rPr lang="en-US" sz="4800" b="1" dirty="0">
                <a:solidFill>
                  <a:srgbClr val="222E2E"/>
                </a:solidFill>
                <a:latin typeface="Calibri" pitchFamily="34" charset="0"/>
                <a:ea typeface="Calibri" pitchFamily="34" charset="-122"/>
                <a:cs typeface="Calibri" pitchFamily="34" charset="-120"/>
              </a:rPr>
              <a:t>?</a:t>
            </a:r>
            <a:endParaRPr lang="en-US" sz="4800" b="1" dirty="0"/>
          </a:p>
        </p:txBody>
      </p:sp>
      <p:sp>
        <p:nvSpPr>
          <p:cNvPr id="10" name="Text 7"/>
          <p:cNvSpPr/>
          <p:nvPr/>
        </p:nvSpPr>
        <p:spPr>
          <a:xfrm>
            <a:off x="11612880" y="6510528"/>
            <a:ext cx="457200" cy="274320"/>
          </a:xfrm>
          <a:prstGeom prst="rect">
            <a:avLst/>
          </a:prstGeom>
          <a:noFill/>
          <a:ln/>
        </p:spPr>
        <p:txBody>
          <a:bodyPr wrap="square" rtlCol="0" anchor="ctr"/>
          <a:lstStyle/>
          <a:p>
            <a:pPr marL="0" indent="0" algn="r">
              <a:buNone/>
            </a:pPr>
            <a:endParaRPr lang="en-US" sz="1000" dirty="0"/>
          </a:p>
        </p:txBody>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Tree>
    <p:extLst>
      <p:ext uri="{BB962C8B-B14F-4D97-AF65-F5344CB8AC3E}">
        <p14:creationId xmlns:p14="http://schemas.microsoft.com/office/powerpoint/2010/main" val="2029796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0102" y="274320"/>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1 · ¿QUÉ ES UN SERVICIO?</a:t>
            </a:r>
            <a:endParaRPr lang="en-US" sz="1250" dirty="0"/>
          </a:p>
        </p:txBody>
      </p:sp>
      <p:sp>
        <p:nvSpPr>
          <p:cNvPr id="4" name="Text 1"/>
          <p:cNvSpPr/>
          <p:nvPr/>
        </p:nvSpPr>
        <p:spPr>
          <a:xfrm>
            <a:off x="2350102" y="548640"/>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Del enfoque centrado en el producto al centrado en el cliente</a:t>
            </a:r>
            <a:endParaRPr lang="en-US" sz="2500" dirty="0"/>
          </a:p>
        </p:txBody>
      </p:sp>
      <p:sp>
        <p:nvSpPr>
          <p:cNvPr id="5" name="Text 2"/>
          <p:cNvSpPr/>
          <p:nvPr/>
        </p:nvSpPr>
        <p:spPr>
          <a:xfrm>
            <a:off x="2350102" y="1033272"/>
            <a:ext cx="9966960" cy="320040"/>
          </a:xfrm>
          <a:prstGeom prst="rect">
            <a:avLst/>
          </a:prstGeom>
          <a:noFill/>
          <a:ln/>
        </p:spPr>
        <p:txBody>
          <a:bodyPr wrap="square" rtlCol="0" anchor="ctr"/>
          <a:lstStyle/>
          <a:p>
            <a:pPr marL="0" indent="0">
              <a:buNone/>
            </a:pPr>
            <a:r>
              <a:rPr lang="en-US" sz="1350" i="1" dirty="0">
                <a:solidFill>
                  <a:srgbClr val="5A6B6E"/>
                </a:solidFill>
                <a:latin typeface="Calibri" pitchFamily="34" charset="0"/>
                <a:ea typeface="Calibri" pitchFamily="34" charset="-122"/>
                <a:cs typeface="Calibri" pitchFamily="34" charset="-120"/>
              </a:rPr>
              <a:t>Dos formas distintas de diseñar la atención</a:t>
            </a:r>
            <a:endParaRPr lang="en-US" sz="135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Shape 4"/>
          <p:cNvSpPr/>
          <p:nvPr/>
        </p:nvSpPr>
        <p:spPr>
          <a:xfrm>
            <a:off x="320040" y="1600200"/>
            <a:ext cx="5440680" cy="3383280"/>
          </a:xfrm>
          <a:prstGeom prst="roundRect">
            <a:avLst>
              <a:gd name="adj" fmla="val 2432"/>
            </a:avLst>
          </a:prstGeom>
          <a:solidFill>
            <a:srgbClr val="F2F8F8"/>
          </a:solidFill>
          <a:ln w="12700">
            <a:solidFill>
              <a:srgbClr val="D8E6E6"/>
            </a:solidFill>
            <a:prstDash val="solid"/>
          </a:ln>
        </p:spPr>
      </p:sp>
      <p:sp>
        <p:nvSpPr>
          <p:cNvPr id="8" name="Shape 5"/>
          <p:cNvSpPr/>
          <p:nvPr/>
        </p:nvSpPr>
        <p:spPr>
          <a:xfrm>
            <a:off x="320040" y="1600200"/>
            <a:ext cx="5440680" cy="502920"/>
          </a:xfrm>
          <a:prstGeom prst="rect">
            <a:avLst/>
          </a:prstGeom>
          <a:solidFill>
            <a:srgbClr val="5A6B6E"/>
          </a:solidFill>
          <a:ln/>
        </p:spPr>
      </p:sp>
      <p:sp>
        <p:nvSpPr>
          <p:cNvPr id="9" name="Text 6"/>
          <p:cNvSpPr/>
          <p:nvPr/>
        </p:nvSpPr>
        <p:spPr>
          <a:xfrm>
            <a:off x="502920" y="1600200"/>
            <a:ext cx="507492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Enfoque centrado en el producto</a:t>
            </a:r>
            <a:endParaRPr lang="en-US" sz="1500" dirty="0"/>
          </a:p>
        </p:txBody>
      </p:sp>
      <p:sp>
        <p:nvSpPr>
          <p:cNvPr id="10" name="Text 7"/>
          <p:cNvSpPr/>
          <p:nvPr/>
        </p:nvSpPr>
        <p:spPr>
          <a:xfrm>
            <a:off x="548640" y="2258568"/>
            <a:ext cx="4983480" cy="2560320"/>
          </a:xfrm>
          <a:prstGeom prst="rect">
            <a:avLst/>
          </a:prstGeom>
          <a:noFill/>
          <a:ln/>
        </p:spPr>
        <p:txBody>
          <a:bodyPr wrap="square" rtlCol="0" anchor="ctr"/>
          <a:lstStyle/>
          <a:p>
            <a:pPr marL="342900" indent="-342900" algn="just">
              <a:lnSpc>
                <a:spcPts val="1500"/>
              </a:lnSpc>
              <a:spcAft>
                <a:spcPts val="900"/>
              </a:spcAft>
              <a:buSzPct val="100000"/>
              <a:buChar char="•"/>
            </a:pPr>
            <a:r>
              <a:rPr lang="en-US" sz="1250" dirty="0">
                <a:solidFill>
                  <a:srgbClr val="222E2E"/>
                </a:solidFill>
                <a:latin typeface="Calibri" pitchFamily="34" charset="0"/>
                <a:ea typeface="Calibri" pitchFamily="34" charset="-122"/>
                <a:cs typeface="Calibri" pitchFamily="34" charset="-120"/>
              </a:rPr>
              <a:t>La organización parte de su propia oferta, capacidad instalada y </a:t>
            </a:r>
            <a:r>
              <a:rPr lang="en-US" sz="1250" dirty="0" err="1">
                <a:solidFill>
                  <a:srgbClr val="222E2E"/>
                </a:solidFill>
                <a:latin typeface="Calibri" pitchFamily="34" charset="0"/>
                <a:ea typeface="Calibri" pitchFamily="34" charset="-122"/>
                <a:cs typeface="Calibri" pitchFamily="34" charset="-120"/>
              </a:rPr>
              <a:t>procesos</a:t>
            </a:r>
            <a:r>
              <a:rPr lang="en-US" sz="1250" dirty="0">
                <a:solidFill>
                  <a:srgbClr val="222E2E"/>
                </a:solidFill>
                <a:latin typeface="Calibri" pitchFamily="34" charset="0"/>
                <a:ea typeface="Calibri" pitchFamily="34" charset="-122"/>
                <a:cs typeface="Calibri" pitchFamily="34" charset="-120"/>
              </a:rPr>
              <a:t> </a:t>
            </a:r>
            <a:r>
              <a:rPr lang="en-US" sz="1250" dirty="0" err="1">
                <a:solidFill>
                  <a:srgbClr val="222E2E"/>
                </a:solidFill>
                <a:latin typeface="Calibri" pitchFamily="34" charset="0"/>
                <a:ea typeface="Calibri" pitchFamily="34" charset="-122"/>
                <a:cs typeface="Calibri" pitchFamily="34" charset="-120"/>
              </a:rPr>
              <a:t>internos</a:t>
            </a:r>
            <a:r>
              <a:rPr lang="en-US" sz="1250" dirty="0">
                <a:solidFill>
                  <a:srgbClr val="222E2E"/>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222E2E"/>
                </a:solidFill>
                <a:latin typeface="Calibri" pitchFamily="34" charset="0"/>
                <a:ea typeface="Calibri" pitchFamily="34" charset="-122"/>
                <a:cs typeface="Calibri" pitchFamily="34" charset="-120"/>
              </a:rPr>
              <a:t>El protocolo se diseña por conveniencia operativa: turnos fijos, ventanillas únicas, </a:t>
            </a:r>
            <a:r>
              <a:rPr lang="en-US" sz="1250" dirty="0" err="1">
                <a:solidFill>
                  <a:srgbClr val="222E2E"/>
                </a:solidFill>
                <a:latin typeface="Calibri" pitchFamily="34" charset="0"/>
                <a:ea typeface="Calibri" pitchFamily="34" charset="-122"/>
                <a:cs typeface="Calibri" pitchFamily="34" charset="-120"/>
              </a:rPr>
              <a:t>horarios</a:t>
            </a:r>
            <a:r>
              <a:rPr lang="en-US" sz="1250" dirty="0">
                <a:solidFill>
                  <a:srgbClr val="222E2E"/>
                </a:solidFill>
                <a:latin typeface="Calibri" pitchFamily="34" charset="0"/>
                <a:ea typeface="Calibri" pitchFamily="34" charset="-122"/>
                <a:cs typeface="Calibri" pitchFamily="34" charset="-120"/>
              </a:rPr>
              <a:t> </a:t>
            </a:r>
            <a:r>
              <a:rPr lang="en-US" sz="1250" dirty="0" err="1">
                <a:solidFill>
                  <a:srgbClr val="222E2E"/>
                </a:solidFill>
                <a:latin typeface="Calibri" pitchFamily="34" charset="0"/>
                <a:ea typeface="Calibri" pitchFamily="34" charset="-122"/>
                <a:cs typeface="Calibri" pitchFamily="34" charset="-120"/>
              </a:rPr>
              <a:t>rígidos</a:t>
            </a:r>
            <a:r>
              <a:rPr lang="en-US" sz="1250" dirty="0">
                <a:solidFill>
                  <a:srgbClr val="222E2E"/>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222E2E"/>
                </a:solidFill>
                <a:latin typeface="Calibri" pitchFamily="34" charset="0"/>
                <a:ea typeface="Calibri" pitchFamily="34" charset="-122"/>
                <a:cs typeface="Calibri" pitchFamily="34" charset="-120"/>
              </a:rPr>
              <a:t>El usuario debe adaptarse a los tiempos y procedimientos de la </a:t>
            </a:r>
            <a:r>
              <a:rPr lang="en-US" sz="1250" dirty="0" err="1">
                <a:solidFill>
                  <a:srgbClr val="222E2E"/>
                </a:solidFill>
                <a:latin typeface="Calibri" pitchFamily="34" charset="0"/>
                <a:ea typeface="Calibri" pitchFamily="34" charset="-122"/>
                <a:cs typeface="Calibri" pitchFamily="34" charset="-120"/>
              </a:rPr>
              <a:t>institución</a:t>
            </a:r>
            <a:r>
              <a:rPr lang="en-US" sz="1250" dirty="0">
                <a:solidFill>
                  <a:srgbClr val="222E2E"/>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222E2E"/>
                </a:solidFill>
                <a:latin typeface="Calibri" pitchFamily="34" charset="0"/>
                <a:ea typeface="Calibri" pitchFamily="34" charset="-122"/>
                <a:cs typeface="Calibri" pitchFamily="34" charset="-120"/>
              </a:rPr>
              <a:t>El éxito se mide en indicadores de producción: número de atenciones, ocupación de camas, </a:t>
            </a:r>
            <a:r>
              <a:rPr lang="en-US" sz="1250" dirty="0" err="1">
                <a:solidFill>
                  <a:srgbClr val="222E2E"/>
                </a:solidFill>
                <a:latin typeface="Calibri" pitchFamily="34" charset="0"/>
                <a:ea typeface="Calibri" pitchFamily="34" charset="-122"/>
                <a:cs typeface="Calibri" pitchFamily="34" charset="-120"/>
              </a:rPr>
              <a:t>procedimientos</a:t>
            </a:r>
            <a:r>
              <a:rPr lang="en-US" sz="1250" dirty="0">
                <a:solidFill>
                  <a:srgbClr val="222E2E"/>
                </a:solidFill>
                <a:latin typeface="Calibri" pitchFamily="34" charset="0"/>
                <a:ea typeface="Calibri" pitchFamily="34" charset="-122"/>
                <a:cs typeface="Calibri" pitchFamily="34" charset="-120"/>
              </a:rPr>
              <a:t> </a:t>
            </a:r>
            <a:r>
              <a:rPr lang="en-US" sz="1250" dirty="0" err="1">
                <a:solidFill>
                  <a:srgbClr val="222E2E"/>
                </a:solidFill>
                <a:latin typeface="Calibri" pitchFamily="34" charset="0"/>
                <a:ea typeface="Calibri" pitchFamily="34" charset="-122"/>
                <a:cs typeface="Calibri" pitchFamily="34" charset="-120"/>
              </a:rPr>
              <a:t>realizados</a:t>
            </a:r>
            <a:r>
              <a:rPr lang="en-US" sz="1250" dirty="0">
                <a:solidFill>
                  <a:srgbClr val="222E2E"/>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222E2E"/>
                </a:solidFill>
                <a:latin typeface="Calibri" pitchFamily="34" charset="0"/>
                <a:ea typeface="Calibri" pitchFamily="34" charset="-122"/>
                <a:cs typeface="Calibri" pitchFamily="34" charset="-120"/>
              </a:rPr>
              <a:t>La comunicación es unidireccional: la institución informa, el </a:t>
            </a:r>
            <a:r>
              <a:rPr lang="en-US" sz="1250" dirty="0" err="1">
                <a:solidFill>
                  <a:srgbClr val="222E2E"/>
                </a:solidFill>
                <a:latin typeface="Calibri" pitchFamily="34" charset="0"/>
                <a:ea typeface="Calibri" pitchFamily="34" charset="-122"/>
                <a:cs typeface="Calibri" pitchFamily="34" charset="-120"/>
              </a:rPr>
              <a:t>usuario</a:t>
            </a:r>
            <a:r>
              <a:rPr lang="en-US" sz="1250" dirty="0">
                <a:solidFill>
                  <a:srgbClr val="222E2E"/>
                </a:solidFill>
                <a:latin typeface="Calibri" pitchFamily="34" charset="0"/>
                <a:ea typeface="Calibri" pitchFamily="34" charset="-122"/>
                <a:cs typeface="Calibri" pitchFamily="34" charset="-120"/>
              </a:rPr>
              <a:t> </a:t>
            </a:r>
            <a:r>
              <a:rPr lang="en-US" sz="1250" dirty="0" err="1">
                <a:solidFill>
                  <a:srgbClr val="222E2E"/>
                </a:solidFill>
                <a:latin typeface="Calibri" pitchFamily="34" charset="0"/>
                <a:ea typeface="Calibri" pitchFamily="34" charset="-122"/>
                <a:cs typeface="Calibri" pitchFamily="34" charset="-120"/>
              </a:rPr>
              <a:t>recibe</a:t>
            </a:r>
            <a:r>
              <a:rPr lang="en-US" sz="1250" dirty="0">
                <a:solidFill>
                  <a:srgbClr val="222E2E"/>
                </a:solidFill>
                <a:latin typeface="Calibri" pitchFamily="34" charset="0"/>
                <a:ea typeface="Calibri" pitchFamily="34" charset="-122"/>
                <a:cs typeface="Calibri" pitchFamily="34" charset="-120"/>
              </a:rPr>
              <a:t>.</a:t>
            </a:r>
            <a:endParaRPr lang="en-US" sz="1250" dirty="0"/>
          </a:p>
        </p:txBody>
      </p:sp>
      <p:sp>
        <p:nvSpPr>
          <p:cNvPr id="11" name="Shape 8"/>
          <p:cNvSpPr/>
          <p:nvPr/>
        </p:nvSpPr>
        <p:spPr>
          <a:xfrm>
            <a:off x="6035040" y="1600200"/>
            <a:ext cx="5440680" cy="3383280"/>
          </a:xfrm>
          <a:prstGeom prst="roundRect">
            <a:avLst>
              <a:gd name="adj" fmla="val 2432"/>
            </a:avLst>
          </a:prstGeom>
          <a:solidFill>
            <a:srgbClr val="E4F5F3"/>
          </a:solidFill>
          <a:ln w="15875">
            <a:solidFill>
              <a:srgbClr val="00A896"/>
            </a:solidFill>
            <a:prstDash val="solid"/>
          </a:ln>
        </p:spPr>
      </p:sp>
      <p:sp>
        <p:nvSpPr>
          <p:cNvPr id="12" name="Shape 9"/>
          <p:cNvSpPr/>
          <p:nvPr/>
        </p:nvSpPr>
        <p:spPr>
          <a:xfrm>
            <a:off x="6025804" y="1581912"/>
            <a:ext cx="5449916" cy="521208"/>
          </a:xfrm>
          <a:prstGeom prst="rect">
            <a:avLst/>
          </a:prstGeom>
          <a:solidFill>
            <a:srgbClr val="028090"/>
          </a:solidFill>
          <a:ln/>
        </p:spPr>
      </p:sp>
      <p:sp>
        <p:nvSpPr>
          <p:cNvPr id="13" name="Text 10"/>
          <p:cNvSpPr/>
          <p:nvPr/>
        </p:nvSpPr>
        <p:spPr>
          <a:xfrm>
            <a:off x="6217920" y="1600200"/>
            <a:ext cx="507492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Enfoque centrado en el cliente</a:t>
            </a:r>
            <a:endParaRPr lang="en-US" sz="1500" dirty="0"/>
          </a:p>
        </p:txBody>
      </p:sp>
      <p:sp>
        <p:nvSpPr>
          <p:cNvPr id="14" name="Text 11"/>
          <p:cNvSpPr/>
          <p:nvPr/>
        </p:nvSpPr>
        <p:spPr>
          <a:xfrm>
            <a:off x="6263640" y="2258568"/>
            <a:ext cx="4983480" cy="2560320"/>
          </a:xfrm>
          <a:prstGeom prst="rect">
            <a:avLst/>
          </a:prstGeom>
          <a:noFill/>
          <a:ln/>
        </p:spPr>
        <p:txBody>
          <a:bodyPr wrap="square" rtlCol="0" anchor="ctr"/>
          <a:lstStyle/>
          <a:p>
            <a:pPr marL="342900" indent="-342900" algn="just">
              <a:lnSpc>
                <a:spcPts val="1500"/>
              </a:lnSpc>
              <a:spcAft>
                <a:spcPts val="900"/>
              </a:spcAft>
              <a:buSzPct val="100000"/>
              <a:buChar char="•"/>
            </a:pPr>
            <a:r>
              <a:rPr lang="en-US" sz="1250" dirty="0">
                <a:solidFill>
                  <a:srgbClr val="0B3D3F"/>
                </a:solidFill>
                <a:latin typeface="Calibri" pitchFamily="34" charset="0"/>
                <a:ea typeface="Calibri" pitchFamily="34" charset="-122"/>
                <a:cs typeface="Calibri" pitchFamily="34" charset="-120"/>
              </a:rPr>
              <a:t>La organización parte de las necesidades, expectativas y contexto del </a:t>
            </a:r>
            <a:r>
              <a:rPr lang="en-US" sz="1250" dirty="0" err="1">
                <a:solidFill>
                  <a:srgbClr val="0B3D3F"/>
                </a:solidFill>
                <a:latin typeface="Calibri" pitchFamily="34" charset="0"/>
                <a:ea typeface="Calibri" pitchFamily="34" charset="-122"/>
                <a:cs typeface="Calibri" pitchFamily="34" charset="-120"/>
              </a:rPr>
              <a:t>usuario</a:t>
            </a:r>
            <a:r>
              <a:rPr lang="en-US" sz="1250" dirty="0">
                <a:solidFill>
                  <a:srgbClr val="0B3D3F"/>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0B3D3F"/>
                </a:solidFill>
                <a:latin typeface="Calibri" pitchFamily="34" charset="0"/>
                <a:ea typeface="Calibri" pitchFamily="34" charset="-122"/>
                <a:cs typeface="Calibri" pitchFamily="34" charset="-120"/>
              </a:rPr>
              <a:t>El protocolo se ajusta para reducir la fricción y el esfuerzo que percibe el </a:t>
            </a:r>
            <a:r>
              <a:rPr lang="en-US" sz="1250" dirty="0" err="1">
                <a:solidFill>
                  <a:srgbClr val="0B3D3F"/>
                </a:solidFill>
                <a:latin typeface="Calibri" pitchFamily="34" charset="0"/>
                <a:ea typeface="Calibri" pitchFamily="34" charset="-122"/>
                <a:cs typeface="Calibri" pitchFamily="34" charset="-120"/>
              </a:rPr>
              <a:t>paciente</a:t>
            </a:r>
            <a:r>
              <a:rPr lang="en-US" sz="1250" dirty="0">
                <a:solidFill>
                  <a:srgbClr val="0B3D3F"/>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0B3D3F"/>
                </a:solidFill>
                <a:latin typeface="Calibri" pitchFamily="34" charset="0"/>
                <a:ea typeface="Calibri" pitchFamily="34" charset="-122"/>
                <a:cs typeface="Calibri" pitchFamily="34" charset="-120"/>
              </a:rPr>
              <a:t>La institución busca adaptarse al momento y circunstancia del usuario (horarios extendidos, canales digitales, </a:t>
            </a:r>
            <a:r>
              <a:rPr lang="en-US" sz="1250" dirty="0" err="1">
                <a:solidFill>
                  <a:srgbClr val="0B3D3F"/>
                </a:solidFill>
                <a:latin typeface="Calibri" pitchFamily="34" charset="0"/>
                <a:ea typeface="Calibri" pitchFamily="34" charset="-122"/>
                <a:cs typeface="Calibri" pitchFamily="34" charset="-120"/>
              </a:rPr>
              <a:t>teleorientación</a:t>
            </a:r>
            <a:r>
              <a:rPr lang="en-US" sz="1250" dirty="0">
                <a:solidFill>
                  <a:srgbClr val="0B3D3F"/>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0B3D3F"/>
                </a:solidFill>
                <a:latin typeface="Calibri" pitchFamily="34" charset="0"/>
                <a:ea typeface="Calibri" pitchFamily="34" charset="-122"/>
                <a:cs typeface="Calibri" pitchFamily="34" charset="-120"/>
              </a:rPr>
              <a:t>El éxito se mide en la calidad de la experiencia vivida: satisfacción, confianza, ausencia de reclamos, </a:t>
            </a:r>
            <a:r>
              <a:rPr lang="en-US" sz="1250" dirty="0" err="1">
                <a:solidFill>
                  <a:srgbClr val="0B3D3F"/>
                </a:solidFill>
                <a:latin typeface="Calibri" pitchFamily="34" charset="0"/>
                <a:ea typeface="Calibri" pitchFamily="34" charset="-122"/>
                <a:cs typeface="Calibri" pitchFamily="34" charset="-120"/>
              </a:rPr>
              <a:t>fidelización</a:t>
            </a:r>
            <a:r>
              <a:rPr lang="en-US" sz="1250" dirty="0">
                <a:solidFill>
                  <a:srgbClr val="0B3D3F"/>
                </a:solidFill>
                <a:latin typeface="Calibri" pitchFamily="34" charset="0"/>
                <a:ea typeface="Calibri" pitchFamily="34" charset="-122"/>
                <a:cs typeface="Calibri" pitchFamily="34" charset="-120"/>
              </a:rPr>
              <a:t>.</a:t>
            </a:r>
            <a:endParaRPr lang="en-US" sz="1250" dirty="0"/>
          </a:p>
          <a:p>
            <a:pPr marL="342900" indent="-342900" algn="just">
              <a:lnSpc>
                <a:spcPts val="1500"/>
              </a:lnSpc>
              <a:spcAft>
                <a:spcPts val="900"/>
              </a:spcAft>
              <a:buSzPct val="100000"/>
              <a:buChar char="•"/>
            </a:pPr>
            <a:r>
              <a:rPr lang="en-US" sz="1250" dirty="0">
                <a:solidFill>
                  <a:srgbClr val="0B3D3F"/>
                </a:solidFill>
                <a:latin typeface="Calibri" pitchFamily="34" charset="0"/>
                <a:ea typeface="Calibri" pitchFamily="34" charset="-122"/>
                <a:cs typeface="Calibri" pitchFamily="34" charset="-120"/>
              </a:rPr>
              <a:t>La comunicación es bidireccional: se escucha al usuario y se ajusta el servicio con </a:t>
            </a:r>
            <a:r>
              <a:rPr lang="en-US" sz="1250" dirty="0" err="1">
                <a:solidFill>
                  <a:srgbClr val="0B3D3F"/>
                </a:solidFill>
                <a:latin typeface="Calibri" pitchFamily="34" charset="0"/>
                <a:ea typeface="Calibri" pitchFamily="34" charset="-122"/>
                <a:cs typeface="Calibri" pitchFamily="34" charset="-120"/>
              </a:rPr>
              <a:t>esa</a:t>
            </a:r>
            <a:r>
              <a:rPr lang="en-US" sz="1250" dirty="0">
                <a:solidFill>
                  <a:srgbClr val="0B3D3F"/>
                </a:solidFill>
                <a:latin typeface="Calibri" pitchFamily="34" charset="0"/>
                <a:ea typeface="Calibri" pitchFamily="34" charset="-122"/>
                <a:cs typeface="Calibri" pitchFamily="34" charset="-120"/>
              </a:rPr>
              <a:t> </a:t>
            </a:r>
            <a:r>
              <a:rPr lang="en-US" sz="1250" dirty="0" err="1">
                <a:solidFill>
                  <a:srgbClr val="0B3D3F"/>
                </a:solidFill>
                <a:latin typeface="Calibri" pitchFamily="34" charset="0"/>
                <a:ea typeface="Calibri" pitchFamily="34" charset="-122"/>
                <a:cs typeface="Calibri" pitchFamily="34" charset="-120"/>
              </a:rPr>
              <a:t>información</a:t>
            </a:r>
            <a:r>
              <a:rPr lang="en-US" sz="1250" dirty="0">
                <a:solidFill>
                  <a:srgbClr val="0B3D3F"/>
                </a:solidFill>
                <a:latin typeface="Calibri" pitchFamily="34" charset="0"/>
                <a:ea typeface="Calibri" pitchFamily="34" charset="-122"/>
                <a:cs typeface="Calibri" pitchFamily="34" charset="-120"/>
              </a:rPr>
              <a:t>.</a:t>
            </a:r>
            <a:endParaRPr lang="en-US" sz="1250" dirty="0"/>
          </a:p>
        </p:txBody>
      </p:sp>
      <p:pic>
        <p:nvPicPr>
          <p:cNvPr id="17" name="Imagen 16">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18" name="Shape 5"/>
          <p:cNvSpPr/>
          <p:nvPr/>
        </p:nvSpPr>
        <p:spPr>
          <a:xfrm>
            <a:off x="5468112" y="3108960"/>
            <a:ext cx="795528" cy="457200"/>
          </a:xfrm>
          <a:prstGeom prst="chevron">
            <a:avLst/>
          </a:prstGeom>
          <a:solidFill>
            <a:srgbClr val="18B7A8"/>
          </a:solidFill>
          <a:ln w="12700">
            <a:solidFill>
              <a:srgbClr val="18B7A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46957" y="274320"/>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1 · ¿QUÉ ES UN SERVICIO?</a:t>
            </a:r>
            <a:endParaRPr lang="en-US" sz="1250" dirty="0"/>
          </a:p>
        </p:txBody>
      </p:sp>
      <p:sp>
        <p:nvSpPr>
          <p:cNvPr id="4" name="Text 1"/>
          <p:cNvSpPr/>
          <p:nvPr/>
        </p:nvSpPr>
        <p:spPr>
          <a:xfrm>
            <a:off x="2346957" y="548640"/>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¿Por qué esto es más crítico en salud que en otros sectores?</a:t>
            </a:r>
            <a:endParaRPr lang="en-US" sz="250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Text 4"/>
          <p:cNvSpPr/>
          <p:nvPr/>
        </p:nvSpPr>
        <p:spPr>
          <a:xfrm>
            <a:off x="320040" y="1536192"/>
            <a:ext cx="11521440" cy="914400"/>
          </a:xfrm>
          <a:prstGeom prst="rect">
            <a:avLst/>
          </a:prstGeom>
          <a:noFill/>
          <a:ln/>
        </p:spPr>
        <p:txBody>
          <a:bodyPr wrap="square" rtlCol="0" anchor="ctr"/>
          <a:lstStyle/>
          <a:p>
            <a:pPr marL="0" indent="0" algn="just">
              <a:lnSpc>
                <a:spcPts val="1900"/>
              </a:lnSpc>
              <a:buNone/>
            </a:pPr>
            <a:r>
              <a:rPr lang="en-US" dirty="0">
                <a:solidFill>
                  <a:srgbClr val="222E2E"/>
                </a:solidFill>
                <a:latin typeface="Calibri" pitchFamily="34" charset="0"/>
                <a:ea typeface="Calibri" pitchFamily="34" charset="-122"/>
                <a:cs typeface="Calibri" pitchFamily="34" charset="-120"/>
              </a:rPr>
              <a:t>Investigadores del Journal of Health Organization and Management estudiaron a 65 coordinadores de enfermería y a 9,393 pacientes en Toscana (Italia), cruzando el modelo organizativo de cuidados de enfermería con la experiencia reportada por los propios pacientes.</a:t>
            </a:r>
            <a:endParaRPr lang="en-US" dirty="0"/>
          </a:p>
        </p:txBody>
      </p:sp>
      <p:sp>
        <p:nvSpPr>
          <p:cNvPr id="8" name="Shape 5"/>
          <p:cNvSpPr/>
          <p:nvPr/>
        </p:nvSpPr>
        <p:spPr>
          <a:xfrm>
            <a:off x="320040" y="2606040"/>
            <a:ext cx="11521440" cy="1417320"/>
          </a:xfrm>
          <a:prstGeom prst="roundRect">
            <a:avLst>
              <a:gd name="adj" fmla="val 5806"/>
            </a:avLst>
          </a:prstGeom>
          <a:solidFill>
            <a:srgbClr val="E4F5F3"/>
          </a:solidFill>
          <a:ln w="15875">
            <a:solidFill>
              <a:srgbClr val="00A896"/>
            </a:solidFill>
            <a:prstDash val="solid"/>
          </a:ln>
        </p:spPr>
      </p:sp>
      <p:sp>
        <p:nvSpPr>
          <p:cNvPr id="9" name="Text 6"/>
          <p:cNvSpPr/>
          <p:nvPr/>
        </p:nvSpPr>
        <p:spPr>
          <a:xfrm>
            <a:off x="548640" y="2761488"/>
            <a:ext cx="3657600" cy="320040"/>
          </a:xfrm>
          <a:prstGeom prst="rect">
            <a:avLst/>
          </a:prstGeom>
          <a:noFill/>
          <a:ln/>
        </p:spPr>
        <p:txBody>
          <a:bodyPr wrap="square" rtlCol="0" anchor="ctr"/>
          <a:lstStyle/>
          <a:p>
            <a:pPr marL="0" indent="0" algn="just">
              <a:buNone/>
            </a:pPr>
            <a:r>
              <a:rPr lang="en-US" sz="1600" b="1" dirty="0">
                <a:solidFill>
                  <a:srgbClr val="028090"/>
                </a:solidFill>
                <a:latin typeface="Calibri" pitchFamily="34" charset="0"/>
                <a:ea typeface="Calibri" pitchFamily="34" charset="-122"/>
                <a:cs typeface="Calibri" pitchFamily="34" charset="-120"/>
              </a:rPr>
              <a:t>Hallazgo principal</a:t>
            </a:r>
            <a:endParaRPr lang="en-US" sz="1600" dirty="0"/>
          </a:p>
        </p:txBody>
      </p:sp>
      <p:sp>
        <p:nvSpPr>
          <p:cNvPr id="10" name="Text 7"/>
          <p:cNvSpPr/>
          <p:nvPr/>
        </p:nvSpPr>
        <p:spPr>
          <a:xfrm>
            <a:off x="548640" y="3063240"/>
            <a:ext cx="11064240" cy="914400"/>
          </a:xfrm>
          <a:prstGeom prst="rect">
            <a:avLst/>
          </a:prstGeom>
          <a:noFill/>
          <a:ln/>
        </p:spPr>
        <p:txBody>
          <a:bodyPr wrap="square" rtlCol="0" anchor="ctr"/>
          <a:lstStyle/>
          <a:p>
            <a:pPr marL="0" indent="0" algn="just">
              <a:lnSpc>
                <a:spcPts val="1700"/>
              </a:lnSpc>
              <a:buNone/>
            </a:pPr>
            <a:r>
              <a:rPr lang="en-US" sz="1600" dirty="0">
                <a:solidFill>
                  <a:srgbClr val="222E2E"/>
                </a:solidFill>
                <a:latin typeface="Calibri" pitchFamily="34" charset="0"/>
                <a:ea typeface="Calibri" pitchFamily="34" charset="-122"/>
                <a:cs typeface="Calibri" pitchFamily="34" charset="-120"/>
              </a:rPr>
              <a:t>Los pacientes valoran más tener una enfermera de referencia a cargo de su caso, que las características puramente organizativas como el “trabajo en equipo”. Es decir: el vínculo humano con una persona específica pesa más que la estructura organizativa detrás.</a:t>
            </a:r>
            <a:endParaRPr lang="en-US" sz="1600" dirty="0"/>
          </a:p>
        </p:txBody>
      </p:sp>
      <p:sp>
        <p:nvSpPr>
          <p:cNvPr id="11" name="Text 8"/>
          <p:cNvSpPr/>
          <p:nvPr/>
        </p:nvSpPr>
        <p:spPr>
          <a:xfrm>
            <a:off x="320040" y="4251960"/>
            <a:ext cx="11521440" cy="1005840"/>
          </a:xfrm>
          <a:prstGeom prst="rect">
            <a:avLst/>
          </a:prstGeom>
          <a:noFill/>
          <a:ln/>
        </p:spPr>
        <p:txBody>
          <a:bodyPr wrap="square" rtlCol="0" anchor="ctr"/>
          <a:lstStyle/>
          <a:p>
            <a:pPr marL="0" indent="0" algn="just">
              <a:lnSpc>
                <a:spcPts val="1900"/>
              </a:lnSpc>
              <a:buNone/>
            </a:pPr>
            <a:r>
              <a:rPr lang="en-US" b="1" dirty="0">
                <a:solidFill>
                  <a:srgbClr val="0B3D3F"/>
                </a:solidFill>
                <a:latin typeface="Calibri" pitchFamily="34" charset="0"/>
                <a:ea typeface="Calibri" pitchFamily="34" charset="-122"/>
                <a:cs typeface="Calibri" pitchFamily="34" charset="-120"/>
              </a:rPr>
              <a:t>Implicación práctica: </a:t>
            </a:r>
            <a:r>
              <a:rPr lang="en-US" dirty="0">
                <a:solidFill>
                  <a:srgbClr val="222E2E"/>
                </a:solidFill>
                <a:latin typeface="Calibri" pitchFamily="34" charset="0"/>
                <a:ea typeface="Calibri" pitchFamily="34" charset="-122"/>
                <a:cs typeface="Calibri" pitchFamily="34" charset="-120"/>
              </a:rPr>
              <a:t>en salud no basta con “tener un buen proceso” en el papel — el paciente experimenta el servicio a través de personas concretas. Por eso, en ningún otro servicio es tan crítico gestionar bien la experiencia del usuario como en salud (Berry, 2019).</a:t>
            </a:r>
            <a:endParaRPr lang="en-US" dirty="0"/>
          </a:p>
        </p:txBody>
      </p:sp>
      <p:sp>
        <p:nvSpPr>
          <p:cNvPr id="12" name="Text 9"/>
          <p:cNvSpPr/>
          <p:nvPr/>
        </p:nvSpPr>
        <p:spPr>
          <a:xfrm>
            <a:off x="320040" y="6473952"/>
            <a:ext cx="11521440" cy="292608"/>
          </a:xfrm>
          <a:prstGeom prst="rect">
            <a:avLst/>
          </a:prstGeom>
          <a:noFill/>
          <a:ln/>
        </p:spPr>
        <p:txBody>
          <a:bodyPr wrap="square" rtlCol="0" anchor="ctr"/>
          <a:lstStyle/>
          <a:p>
            <a:pPr marL="0" indent="0">
              <a:buNone/>
            </a:pPr>
            <a:r>
              <a:rPr lang="en-US" sz="950" i="1" dirty="0">
                <a:solidFill>
                  <a:srgbClr val="5A6B6E"/>
                </a:solidFill>
                <a:latin typeface="Calibri" pitchFamily="34" charset="0"/>
                <a:ea typeface="Calibri" pitchFamily="34" charset="-122"/>
                <a:cs typeface="Calibri" pitchFamily="34" charset="-120"/>
              </a:rPr>
              <a:t>De Rosis, S., Barchielli, C., Vainieri, M. &amp; Bellè, N. (2022). Journal of Health Organization and Management, 36(9), 1-24 · Berry, L. (2019).</a:t>
            </a:r>
            <a:endParaRPr lang="en-US" sz="950" dirty="0"/>
          </a:p>
        </p:txBody>
      </p:sp>
      <p:pic>
        <p:nvPicPr>
          <p:cNvPr id="14" name="Imagen 13">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sp>
        <p:nvSpPr>
          <p:cNvPr id="6" name="Shape 3"/>
          <p:cNvSpPr/>
          <p:nvPr/>
        </p:nvSpPr>
        <p:spPr>
          <a:xfrm>
            <a:off x="320040" y="1828800"/>
            <a:ext cx="11521440" cy="2651760"/>
          </a:xfrm>
          <a:prstGeom prst="roundRect">
            <a:avLst>
              <a:gd name="adj" fmla="val 3448"/>
            </a:avLst>
          </a:prstGeom>
          <a:solidFill>
            <a:srgbClr val="F2F8F8"/>
          </a:solidFill>
          <a:ln w="12700">
            <a:solidFill>
              <a:srgbClr val="00A896"/>
            </a:solidFill>
            <a:prstDash val="solid"/>
          </a:ln>
        </p:spPr>
      </p:sp>
      <p:sp>
        <p:nvSpPr>
          <p:cNvPr id="9" name="Text 6"/>
          <p:cNvSpPr/>
          <p:nvPr/>
        </p:nvSpPr>
        <p:spPr>
          <a:xfrm>
            <a:off x="1120140" y="2045855"/>
            <a:ext cx="9966960" cy="2194560"/>
          </a:xfrm>
          <a:prstGeom prst="rect">
            <a:avLst/>
          </a:prstGeom>
          <a:noFill/>
          <a:ln/>
        </p:spPr>
        <p:txBody>
          <a:bodyPr wrap="square" rtlCol="0" anchor="ctr"/>
          <a:lstStyle/>
          <a:p>
            <a:pPr marL="0" indent="0" algn="ctr">
              <a:buNone/>
            </a:pPr>
            <a:r>
              <a:rPr lang="en-US" sz="4800" b="1" dirty="0">
                <a:solidFill>
                  <a:srgbClr val="222E2E"/>
                </a:solidFill>
                <a:latin typeface="Calibri" pitchFamily="34" charset="0"/>
                <a:ea typeface="Calibri" pitchFamily="34" charset="-122"/>
                <a:cs typeface="Calibri" pitchFamily="34" charset="-120"/>
              </a:rPr>
              <a:t>¿</a:t>
            </a:r>
            <a:r>
              <a:rPr lang="en-US" sz="4800" b="1" dirty="0" err="1">
                <a:solidFill>
                  <a:srgbClr val="222E2E"/>
                </a:solidFill>
                <a:latin typeface="Calibri" pitchFamily="34" charset="0"/>
                <a:ea typeface="Calibri" pitchFamily="34" charset="-122"/>
                <a:cs typeface="Calibri" pitchFamily="34" charset="-120"/>
              </a:rPr>
              <a:t>Qués</a:t>
            </a:r>
            <a:r>
              <a:rPr lang="en-US" sz="4800" b="1" dirty="0">
                <a:solidFill>
                  <a:srgbClr val="222E2E"/>
                </a:solidFill>
                <a:latin typeface="Calibri" pitchFamily="34" charset="0"/>
                <a:ea typeface="Calibri" pitchFamily="34" charset="-122"/>
                <a:cs typeface="Calibri" pitchFamily="34" charset="-120"/>
              </a:rPr>
              <a:t> lo que </a:t>
            </a:r>
            <a:r>
              <a:rPr lang="en-US" sz="4800" b="1" dirty="0" err="1">
                <a:solidFill>
                  <a:srgbClr val="222E2E"/>
                </a:solidFill>
                <a:latin typeface="Calibri" pitchFamily="34" charset="0"/>
                <a:ea typeface="Calibri" pitchFamily="34" charset="-122"/>
                <a:cs typeface="Calibri" pitchFamily="34" charset="-120"/>
              </a:rPr>
              <a:t>hace</a:t>
            </a:r>
            <a:r>
              <a:rPr lang="en-US" sz="4800" b="1" dirty="0">
                <a:solidFill>
                  <a:srgbClr val="222E2E"/>
                </a:solidFill>
                <a:latin typeface="Calibri" pitchFamily="34" charset="0"/>
                <a:ea typeface="Calibri" pitchFamily="34" charset="-122"/>
                <a:cs typeface="Calibri" pitchFamily="34" charset="-120"/>
              </a:rPr>
              <a:t> </a:t>
            </a:r>
            <a:r>
              <a:rPr lang="en-US" sz="4800" b="1" dirty="0" err="1">
                <a:solidFill>
                  <a:srgbClr val="222E2E"/>
                </a:solidFill>
                <a:latin typeface="Calibri" pitchFamily="34" charset="0"/>
                <a:ea typeface="Calibri" pitchFamily="34" charset="-122"/>
                <a:cs typeface="Calibri" pitchFamily="34" charset="-120"/>
              </a:rPr>
              <a:t>única</a:t>
            </a:r>
            <a:r>
              <a:rPr lang="en-US" sz="4800" b="1" dirty="0">
                <a:solidFill>
                  <a:srgbClr val="222E2E"/>
                </a:solidFill>
                <a:latin typeface="Calibri" pitchFamily="34" charset="0"/>
                <a:ea typeface="Calibri" pitchFamily="34" charset="-122"/>
                <a:cs typeface="Calibri" pitchFamily="34" charset="-120"/>
              </a:rPr>
              <a:t> a la </a:t>
            </a:r>
            <a:r>
              <a:rPr lang="en-US" sz="4800" b="1" dirty="0" err="1">
                <a:solidFill>
                  <a:srgbClr val="222E2E"/>
                </a:solidFill>
                <a:latin typeface="Calibri" pitchFamily="34" charset="0"/>
                <a:ea typeface="Calibri" pitchFamily="34" charset="-122"/>
                <a:cs typeface="Calibri" pitchFamily="34" charset="-120"/>
              </a:rPr>
              <a:t>atención</a:t>
            </a:r>
            <a:r>
              <a:rPr lang="en-US" sz="4800" b="1" dirty="0">
                <a:solidFill>
                  <a:srgbClr val="222E2E"/>
                </a:solidFill>
                <a:latin typeface="Calibri" pitchFamily="34" charset="0"/>
                <a:ea typeface="Calibri" pitchFamily="34" charset="-122"/>
                <a:cs typeface="Calibri" pitchFamily="34" charset="-120"/>
              </a:rPr>
              <a:t> </a:t>
            </a:r>
            <a:r>
              <a:rPr lang="en-US" sz="4800" b="1" dirty="0" err="1">
                <a:solidFill>
                  <a:srgbClr val="222E2E"/>
                </a:solidFill>
                <a:latin typeface="Calibri" pitchFamily="34" charset="0"/>
                <a:ea typeface="Calibri" pitchFamily="34" charset="-122"/>
                <a:cs typeface="Calibri" pitchFamily="34" charset="-120"/>
              </a:rPr>
              <a:t>en</a:t>
            </a:r>
            <a:r>
              <a:rPr lang="en-US" sz="4800" b="1" dirty="0">
                <a:solidFill>
                  <a:srgbClr val="222E2E"/>
                </a:solidFill>
                <a:latin typeface="Calibri" pitchFamily="34" charset="0"/>
                <a:ea typeface="Calibri" pitchFamily="34" charset="-122"/>
                <a:cs typeface="Calibri" pitchFamily="34" charset="-120"/>
              </a:rPr>
              <a:t> </a:t>
            </a:r>
            <a:r>
              <a:rPr lang="en-US" sz="4800" b="1" dirty="0" err="1">
                <a:solidFill>
                  <a:srgbClr val="222E2E"/>
                </a:solidFill>
                <a:latin typeface="Calibri" pitchFamily="34" charset="0"/>
                <a:ea typeface="Calibri" pitchFamily="34" charset="-122"/>
                <a:cs typeface="Calibri" pitchFamily="34" charset="-120"/>
              </a:rPr>
              <a:t>salud</a:t>
            </a:r>
            <a:r>
              <a:rPr lang="en-US" sz="4800" b="1" dirty="0">
                <a:solidFill>
                  <a:srgbClr val="222E2E"/>
                </a:solidFill>
                <a:latin typeface="Calibri" pitchFamily="34" charset="0"/>
                <a:ea typeface="Calibri" pitchFamily="34" charset="-122"/>
                <a:cs typeface="Calibri" pitchFamily="34" charset="-120"/>
              </a:rPr>
              <a:t>?</a:t>
            </a:r>
            <a:endParaRPr lang="en-US" sz="4800" b="1" dirty="0"/>
          </a:p>
        </p:txBody>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Tree>
    <p:extLst>
      <p:ext uri="{BB962C8B-B14F-4D97-AF65-F5344CB8AC3E}">
        <p14:creationId xmlns:p14="http://schemas.microsoft.com/office/powerpoint/2010/main" val="2790462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6193" y="274320"/>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2 · LA SALUD COMO INDUSTRIA DE SERVICIOS</a:t>
            </a:r>
            <a:endParaRPr lang="en-US" sz="1250" dirty="0"/>
          </a:p>
        </p:txBody>
      </p:sp>
      <p:sp>
        <p:nvSpPr>
          <p:cNvPr id="4" name="Text 1"/>
          <p:cNvSpPr/>
          <p:nvPr/>
        </p:nvSpPr>
        <p:spPr>
          <a:xfrm>
            <a:off x="2356193" y="548640"/>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Particularidades frente a otros sectores (I)</a:t>
            </a:r>
            <a:endParaRPr lang="en-US" sz="250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Shape 4"/>
          <p:cNvSpPr/>
          <p:nvPr/>
        </p:nvSpPr>
        <p:spPr>
          <a:xfrm>
            <a:off x="320040" y="1600200"/>
            <a:ext cx="11521440" cy="1417320"/>
          </a:xfrm>
          <a:prstGeom prst="roundRect">
            <a:avLst>
              <a:gd name="adj" fmla="val 5161"/>
            </a:avLst>
          </a:prstGeom>
          <a:solidFill>
            <a:srgbClr val="F2F8F8"/>
          </a:solidFill>
          <a:ln w="12700">
            <a:solidFill>
              <a:srgbClr val="D8E6E6"/>
            </a:solidFill>
            <a:prstDash val="solid"/>
          </a:ln>
        </p:spPr>
      </p:sp>
      <p:sp>
        <p:nvSpPr>
          <p:cNvPr id="8" name="Shape 5"/>
          <p:cNvSpPr/>
          <p:nvPr/>
        </p:nvSpPr>
        <p:spPr>
          <a:xfrm>
            <a:off x="548640" y="1920240"/>
            <a:ext cx="548640" cy="548640"/>
          </a:xfrm>
          <a:prstGeom prst="ellipse">
            <a:avLst/>
          </a:prstGeom>
          <a:solidFill>
            <a:srgbClr val="028090"/>
          </a:solidFill>
          <a:ln/>
        </p:spPr>
      </p:sp>
      <p:sp>
        <p:nvSpPr>
          <p:cNvPr id="9" name="Text 6"/>
          <p:cNvSpPr/>
          <p:nvPr/>
        </p:nvSpPr>
        <p:spPr>
          <a:xfrm>
            <a:off x="548640" y="19202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p:nvPr/>
        </p:nvSpPr>
        <p:spPr>
          <a:xfrm>
            <a:off x="1325880" y="1728216"/>
            <a:ext cx="10332720" cy="365760"/>
          </a:xfrm>
          <a:prstGeom prst="rect">
            <a:avLst/>
          </a:prstGeom>
          <a:noFill/>
          <a:ln/>
        </p:spPr>
        <p:txBody>
          <a:bodyPr wrap="square" rtlCol="0" anchor="ctr"/>
          <a:lstStyle/>
          <a:p>
            <a:pPr marL="0" indent="0">
              <a:buNone/>
            </a:pPr>
            <a:r>
              <a:rPr lang="en-US" sz="1600" b="1" dirty="0">
                <a:solidFill>
                  <a:srgbClr val="0B3D3F"/>
                </a:solidFill>
                <a:latin typeface="Calibri" pitchFamily="34" charset="0"/>
                <a:ea typeface="Calibri" pitchFamily="34" charset="-122"/>
                <a:cs typeface="Calibri" pitchFamily="34" charset="-120"/>
              </a:rPr>
              <a:t>Alta carga emocional y vulnerabilidad</a:t>
            </a:r>
            <a:endParaRPr lang="en-US" sz="1600" dirty="0"/>
          </a:p>
        </p:txBody>
      </p:sp>
      <p:sp>
        <p:nvSpPr>
          <p:cNvPr id="11" name="Text 8"/>
          <p:cNvSpPr/>
          <p:nvPr/>
        </p:nvSpPr>
        <p:spPr>
          <a:xfrm>
            <a:off x="1325880" y="2103120"/>
            <a:ext cx="10332720" cy="822960"/>
          </a:xfrm>
          <a:prstGeom prst="rect">
            <a:avLst/>
          </a:prstGeom>
          <a:noFill/>
          <a:ln/>
        </p:spPr>
        <p:txBody>
          <a:bodyPr wrap="square" rtlCol="0" anchor="ctr"/>
          <a:lstStyle/>
          <a:p>
            <a:pPr marL="0" indent="0" algn="just">
              <a:lnSpc>
                <a:spcPts val="1500"/>
              </a:lnSpc>
              <a:buNone/>
            </a:pPr>
            <a:r>
              <a:rPr lang="en-US" sz="1400" dirty="0">
                <a:solidFill>
                  <a:srgbClr val="222E2E"/>
                </a:solidFill>
                <a:latin typeface="Calibri" pitchFamily="34" charset="0"/>
                <a:ea typeface="Calibri" pitchFamily="34" charset="-122"/>
                <a:cs typeface="Calibri" pitchFamily="34" charset="-120"/>
              </a:rPr>
              <a:t>A diferencia de comprar ropa o volar en avión, el usuario suele llegar con miedo, dolor, ansiedad o incertidumbre sobre su propia salud. Esa carga emocional condiciona cómo interpreta cada palabra y cada gesto del personal que lo atiende.</a:t>
            </a:r>
            <a:endParaRPr lang="en-US" sz="1400" dirty="0"/>
          </a:p>
        </p:txBody>
      </p:sp>
      <p:sp>
        <p:nvSpPr>
          <p:cNvPr id="12" name="Shape 9"/>
          <p:cNvSpPr/>
          <p:nvPr/>
        </p:nvSpPr>
        <p:spPr>
          <a:xfrm>
            <a:off x="320040" y="3172968"/>
            <a:ext cx="11521440" cy="1417320"/>
          </a:xfrm>
          <a:prstGeom prst="roundRect">
            <a:avLst>
              <a:gd name="adj" fmla="val 5161"/>
            </a:avLst>
          </a:prstGeom>
          <a:solidFill>
            <a:srgbClr val="E4F5F3"/>
          </a:solidFill>
          <a:ln w="12700">
            <a:solidFill>
              <a:srgbClr val="D8E6E6"/>
            </a:solidFill>
            <a:prstDash val="solid"/>
          </a:ln>
        </p:spPr>
      </p:sp>
      <p:sp>
        <p:nvSpPr>
          <p:cNvPr id="13" name="Shape 10"/>
          <p:cNvSpPr/>
          <p:nvPr/>
        </p:nvSpPr>
        <p:spPr>
          <a:xfrm>
            <a:off x="548640" y="3493008"/>
            <a:ext cx="548640" cy="548640"/>
          </a:xfrm>
          <a:prstGeom prst="ellipse">
            <a:avLst/>
          </a:prstGeom>
          <a:solidFill>
            <a:srgbClr val="028090"/>
          </a:solidFill>
          <a:ln/>
        </p:spPr>
      </p:sp>
      <p:sp>
        <p:nvSpPr>
          <p:cNvPr id="14" name="Text 11"/>
          <p:cNvSpPr/>
          <p:nvPr/>
        </p:nvSpPr>
        <p:spPr>
          <a:xfrm>
            <a:off x="548640" y="3493008"/>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2"/>
          <p:cNvSpPr/>
          <p:nvPr/>
        </p:nvSpPr>
        <p:spPr>
          <a:xfrm>
            <a:off x="1325880" y="3300984"/>
            <a:ext cx="10332720" cy="365760"/>
          </a:xfrm>
          <a:prstGeom prst="rect">
            <a:avLst/>
          </a:prstGeom>
          <a:noFill/>
          <a:ln/>
        </p:spPr>
        <p:txBody>
          <a:bodyPr wrap="square" rtlCol="0" anchor="ctr"/>
          <a:lstStyle/>
          <a:p>
            <a:pPr marL="0" indent="0">
              <a:buNone/>
            </a:pPr>
            <a:r>
              <a:rPr lang="en-US" sz="1600" b="1" dirty="0">
                <a:solidFill>
                  <a:srgbClr val="0B3D3F"/>
                </a:solidFill>
                <a:latin typeface="Calibri" pitchFamily="34" charset="0"/>
                <a:ea typeface="Calibri" pitchFamily="34" charset="-122"/>
                <a:cs typeface="Calibri" pitchFamily="34" charset="-120"/>
              </a:rPr>
              <a:t>Asimetría de información</a:t>
            </a:r>
            <a:endParaRPr lang="en-US" sz="1600" dirty="0"/>
          </a:p>
        </p:txBody>
      </p:sp>
      <p:sp>
        <p:nvSpPr>
          <p:cNvPr id="16" name="Text 13"/>
          <p:cNvSpPr/>
          <p:nvPr/>
        </p:nvSpPr>
        <p:spPr>
          <a:xfrm>
            <a:off x="1325880" y="3675888"/>
            <a:ext cx="10332720" cy="822960"/>
          </a:xfrm>
          <a:prstGeom prst="rect">
            <a:avLst/>
          </a:prstGeom>
          <a:noFill/>
          <a:ln/>
        </p:spPr>
        <p:txBody>
          <a:bodyPr wrap="square" rtlCol="0" anchor="ctr"/>
          <a:lstStyle/>
          <a:p>
            <a:pPr marL="0" indent="0" algn="just">
              <a:lnSpc>
                <a:spcPts val="1500"/>
              </a:lnSpc>
              <a:buNone/>
            </a:pPr>
            <a:r>
              <a:rPr lang="en-US" sz="1400" dirty="0">
                <a:solidFill>
                  <a:srgbClr val="222E2E"/>
                </a:solidFill>
                <a:latin typeface="Calibri" pitchFamily="34" charset="0"/>
                <a:ea typeface="Calibri" pitchFamily="34" charset="-122"/>
                <a:cs typeface="Calibri" pitchFamily="34" charset="-120"/>
              </a:rPr>
              <a:t>El profesional de salud sabe mucho más que el paciente sobre su propia condición clínica. Esta desigualdad de conocimiento exige un esfuerzo deliberado de </a:t>
            </a:r>
            <a:r>
              <a:rPr lang="en-US" sz="1400" dirty="0" err="1">
                <a:solidFill>
                  <a:srgbClr val="222E2E"/>
                </a:solidFill>
                <a:latin typeface="Calibri" pitchFamily="34" charset="0"/>
                <a:ea typeface="Calibri" pitchFamily="34" charset="-122"/>
                <a:cs typeface="Calibri" pitchFamily="34" charset="-120"/>
              </a:rPr>
              <a:t>comunicación</a:t>
            </a:r>
            <a:r>
              <a:rPr lang="en-US" sz="1400" dirty="0">
                <a:solidFill>
                  <a:srgbClr val="222E2E"/>
                </a:solidFill>
                <a:latin typeface="Calibri" pitchFamily="34" charset="0"/>
                <a:ea typeface="Calibri" pitchFamily="34" charset="-122"/>
                <a:cs typeface="Calibri" pitchFamily="34" charset="-120"/>
              </a:rPr>
              <a:t> </a:t>
            </a:r>
            <a:r>
              <a:rPr lang="en-US" sz="1400" dirty="0" err="1">
                <a:solidFill>
                  <a:srgbClr val="222E2E"/>
                </a:solidFill>
                <a:latin typeface="Calibri" pitchFamily="34" charset="0"/>
                <a:ea typeface="Calibri" pitchFamily="34" charset="-122"/>
                <a:cs typeface="Calibri" pitchFamily="34" charset="-120"/>
              </a:rPr>
              <a:t>clara</a:t>
            </a:r>
            <a:r>
              <a:rPr lang="en-US" sz="1400" dirty="0">
                <a:solidFill>
                  <a:srgbClr val="222E2E"/>
                </a:solidFill>
                <a:latin typeface="Calibri" pitchFamily="34" charset="0"/>
                <a:ea typeface="Calibri" pitchFamily="34" charset="-122"/>
                <a:cs typeface="Calibri" pitchFamily="34" charset="-120"/>
              </a:rPr>
              <a:t>, de lo contrario, el usuario queda en desventaja para participar en decisiones sobre su propia atención.</a:t>
            </a:r>
            <a:endParaRPr lang="en-US" sz="1400" dirty="0"/>
          </a:p>
        </p:txBody>
      </p:sp>
      <p:sp>
        <p:nvSpPr>
          <p:cNvPr id="17" name="Shape 14"/>
          <p:cNvSpPr/>
          <p:nvPr/>
        </p:nvSpPr>
        <p:spPr>
          <a:xfrm>
            <a:off x="320040" y="4745736"/>
            <a:ext cx="11521440" cy="1417320"/>
          </a:xfrm>
          <a:prstGeom prst="roundRect">
            <a:avLst>
              <a:gd name="adj" fmla="val 5161"/>
            </a:avLst>
          </a:prstGeom>
          <a:solidFill>
            <a:srgbClr val="F2F8F8"/>
          </a:solidFill>
          <a:ln w="12700">
            <a:solidFill>
              <a:srgbClr val="D8E6E6"/>
            </a:solidFill>
            <a:prstDash val="solid"/>
          </a:ln>
        </p:spPr>
      </p:sp>
      <p:sp>
        <p:nvSpPr>
          <p:cNvPr id="18" name="Shape 15"/>
          <p:cNvSpPr/>
          <p:nvPr/>
        </p:nvSpPr>
        <p:spPr>
          <a:xfrm>
            <a:off x="548640" y="5065776"/>
            <a:ext cx="548640" cy="548640"/>
          </a:xfrm>
          <a:prstGeom prst="ellipse">
            <a:avLst/>
          </a:prstGeom>
          <a:solidFill>
            <a:srgbClr val="028090"/>
          </a:solidFill>
          <a:ln/>
        </p:spPr>
      </p:sp>
      <p:sp>
        <p:nvSpPr>
          <p:cNvPr id="19" name="Text 16"/>
          <p:cNvSpPr/>
          <p:nvPr/>
        </p:nvSpPr>
        <p:spPr>
          <a:xfrm>
            <a:off x="548640" y="5065776"/>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7"/>
          <p:cNvSpPr/>
          <p:nvPr/>
        </p:nvSpPr>
        <p:spPr>
          <a:xfrm>
            <a:off x="1325880" y="4873752"/>
            <a:ext cx="10332720" cy="365760"/>
          </a:xfrm>
          <a:prstGeom prst="rect">
            <a:avLst/>
          </a:prstGeom>
          <a:noFill/>
          <a:ln/>
        </p:spPr>
        <p:txBody>
          <a:bodyPr wrap="square" rtlCol="0" anchor="ctr"/>
          <a:lstStyle/>
          <a:p>
            <a:pPr marL="0" indent="0">
              <a:buNone/>
            </a:pPr>
            <a:r>
              <a:rPr lang="en-US" sz="1600" b="1" dirty="0">
                <a:solidFill>
                  <a:srgbClr val="0B3D3F"/>
                </a:solidFill>
                <a:latin typeface="Calibri" pitchFamily="34" charset="0"/>
                <a:ea typeface="Calibri" pitchFamily="34" charset="-122"/>
                <a:cs typeface="Calibri" pitchFamily="34" charset="-120"/>
              </a:rPr>
              <a:t>Consecuencias de alto riesgo</a:t>
            </a:r>
            <a:endParaRPr lang="en-US" sz="1600" dirty="0"/>
          </a:p>
        </p:txBody>
      </p:sp>
      <p:sp>
        <p:nvSpPr>
          <p:cNvPr id="21" name="Text 18"/>
          <p:cNvSpPr/>
          <p:nvPr/>
        </p:nvSpPr>
        <p:spPr>
          <a:xfrm>
            <a:off x="1325880" y="5248656"/>
            <a:ext cx="10332720" cy="822960"/>
          </a:xfrm>
          <a:prstGeom prst="rect">
            <a:avLst/>
          </a:prstGeom>
          <a:noFill/>
          <a:ln/>
        </p:spPr>
        <p:txBody>
          <a:bodyPr wrap="square" rtlCol="0" anchor="ctr"/>
          <a:lstStyle/>
          <a:p>
            <a:pPr marL="0" indent="0" algn="just">
              <a:lnSpc>
                <a:spcPts val="1500"/>
              </a:lnSpc>
              <a:buNone/>
            </a:pPr>
            <a:r>
              <a:rPr lang="en-US" sz="1400" dirty="0">
                <a:solidFill>
                  <a:srgbClr val="222E2E"/>
                </a:solidFill>
                <a:latin typeface="Calibri" pitchFamily="34" charset="0"/>
                <a:ea typeface="Calibri" pitchFamily="34" charset="-122"/>
                <a:cs typeface="Calibri" pitchFamily="34" charset="-120"/>
              </a:rPr>
              <a:t>Un error de servicio en un restaurante genera una queja; un error de servicio en salud (una mala indicación, una demora crítica) puede tener consecuencias irreversibles para la vida de una persona.</a:t>
            </a:r>
            <a:endParaRPr lang="en-US" sz="1400" dirty="0"/>
          </a:p>
        </p:txBody>
      </p:sp>
      <p:pic>
        <p:nvPicPr>
          <p:cNvPr id="23" name="Imagen 22">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6195" y="274320"/>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2 · LA SALUD COMO INDUSTRIA DE SERVICIOS</a:t>
            </a:r>
            <a:endParaRPr lang="en-US" sz="1250" dirty="0"/>
          </a:p>
        </p:txBody>
      </p:sp>
      <p:sp>
        <p:nvSpPr>
          <p:cNvPr id="4" name="Text 1"/>
          <p:cNvSpPr/>
          <p:nvPr/>
        </p:nvSpPr>
        <p:spPr>
          <a:xfrm>
            <a:off x="2356195" y="548640"/>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Particularidades frente a otros sectores (II)</a:t>
            </a:r>
            <a:endParaRPr lang="en-US" sz="250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Shape 4"/>
          <p:cNvSpPr/>
          <p:nvPr/>
        </p:nvSpPr>
        <p:spPr>
          <a:xfrm>
            <a:off x="320040" y="1691640"/>
            <a:ext cx="11521440" cy="1691640"/>
          </a:xfrm>
          <a:prstGeom prst="roundRect">
            <a:avLst>
              <a:gd name="adj" fmla="val 4324"/>
            </a:avLst>
          </a:prstGeom>
          <a:solidFill>
            <a:srgbClr val="F2F8F8"/>
          </a:solidFill>
          <a:ln w="12700">
            <a:solidFill>
              <a:srgbClr val="D8E6E6"/>
            </a:solidFill>
            <a:prstDash val="solid"/>
          </a:ln>
        </p:spPr>
      </p:sp>
      <p:sp>
        <p:nvSpPr>
          <p:cNvPr id="8" name="Shape 5"/>
          <p:cNvSpPr/>
          <p:nvPr/>
        </p:nvSpPr>
        <p:spPr>
          <a:xfrm>
            <a:off x="548640" y="2148840"/>
            <a:ext cx="548640" cy="548640"/>
          </a:xfrm>
          <a:prstGeom prst="ellipse">
            <a:avLst/>
          </a:prstGeom>
          <a:solidFill>
            <a:srgbClr val="028090"/>
          </a:solidFill>
          <a:ln/>
        </p:spPr>
      </p:sp>
      <p:sp>
        <p:nvSpPr>
          <p:cNvPr id="9" name="Text 6"/>
          <p:cNvSpPr/>
          <p:nvPr/>
        </p:nvSpPr>
        <p:spPr>
          <a:xfrm>
            <a:off x="548640" y="21488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0" name="Text 7"/>
          <p:cNvSpPr/>
          <p:nvPr/>
        </p:nvSpPr>
        <p:spPr>
          <a:xfrm>
            <a:off x="1325880" y="1874520"/>
            <a:ext cx="10332720" cy="365760"/>
          </a:xfrm>
          <a:prstGeom prst="rect">
            <a:avLst/>
          </a:prstGeom>
          <a:noFill/>
          <a:ln/>
        </p:spPr>
        <p:txBody>
          <a:bodyPr wrap="square" rtlCol="0" anchor="ctr"/>
          <a:lstStyle/>
          <a:p>
            <a:pPr marL="0" indent="0">
              <a:buNone/>
            </a:pPr>
            <a:r>
              <a:rPr lang="en-US" sz="1600" b="1" dirty="0">
                <a:solidFill>
                  <a:srgbClr val="0B3D3F"/>
                </a:solidFill>
                <a:latin typeface="Calibri" pitchFamily="34" charset="0"/>
                <a:ea typeface="Calibri" pitchFamily="34" charset="-122"/>
                <a:cs typeface="Calibri" pitchFamily="34" charset="-120"/>
              </a:rPr>
              <a:t>Simultaneidad producción-consumo</a:t>
            </a:r>
            <a:endParaRPr lang="en-US" sz="1600" dirty="0"/>
          </a:p>
        </p:txBody>
      </p:sp>
      <p:sp>
        <p:nvSpPr>
          <p:cNvPr id="11" name="Text 8"/>
          <p:cNvSpPr/>
          <p:nvPr/>
        </p:nvSpPr>
        <p:spPr>
          <a:xfrm>
            <a:off x="1325880" y="2286000"/>
            <a:ext cx="10332720" cy="1005840"/>
          </a:xfrm>
          <a:prstGeom prst="rect">
            <a:avLst/>
          </a:prstGeom>
          <a:noFill/>
          <a:ln/>
        </p:spPr>
        <p:txBody>
          <a:bodyPr wrap="square" rtlCol="0" anchor="ctr"/>
          <a:lstStyle/>
          <a:p>
            <a:pPr marL="0" indent="0" algn="just">
              <a:lnSpc>
                <a:spcPts val="1600"/>
              </a:lnSpc>
              <a:buNone/>
            </a:pPr>
            <a:r>
              <a:rPr lang="en-US" sz="1400" dirty="0">
                <a:solidFill>
                  <a:srgbClr val="222E2E"/>
                </a:solidFill>
                <a:latin typeface="Calibri" pitchFamily="34" charset="0"/>
                <a:ea typeface="Calibri" pitchFamily="34" charset="-122"/>
                <a:cs typeface="Calibri" pitchFamily="34" charset="-120"/>
              </a:rPr>
              <a:t>La atención se produce y se consume en el mismo instante: no hay margen para “reprocesar” una consulta mal llevada. El único momento para hacer las cosas bien es cuando ocurren.</a:t>
            </a:r>
            <a:endParaRPr lang="en-US" sz="1400" dirty="0"/>
          </a:p>
        </p:txBody>
      </p:sp>
      <p:sp>
        <p:nvSpPr>
          <p:cNvPr id="12" name="Shape 9"/>
          <p:cNvSpPr/>
          <p:nvPr/>
        </p:nvSpPr>
        <p:spPr>
          <a:xfrm>
            <a:off x="320040" y="3520440"/>
            <a:ext cx="11521440" cy="1691640"/>
          </a:xfrm>
          <a:prstGeom prst="roundRect">
            <a:avLst>
              <a:gd name="adj" fmla="val 4324"/>
            </a:avLst>
          </a:prstGeom>
          <a:solidFill>
            <a:srgbClr val="E4F5F3"/>
          </a:solidFill>
          <a:ln w="12700">
            <a:solidFill>
              <a:srgbClr val="D8E6E6"/>
            </a:solidFill>
            <a:prstDash val="solid"/>
          </a:ln>
        </p:spPr>
      </p:sp>
      <p:sp>
        <p:nvSpPr>
          <p:cNvPr id="13" name="Shape 10"/>
          <p:cNvSpPr/>
          <p:nvPr/>
        </p:nvSpPr>
        <p:spPr>
          <a:xfrm>
            <a:off x="548640" y="3977640"/>
            <a:ext cx="548640" cy="548640"/>
          </a:xfrm>
          <a:prstGeom prst="ellipse">
            <a:avLst/>
          </a:prstGeom>
          <a:solidFill>
            <a:srgbClr val="028090"/>
          </a:solidFill>
          <a:ln/>
        </p:spPr>
      </p:sp>
      <p:sp>
        <p:nvSpPr>
          <p:cNvPr id="14" name="Text 11"/>
          <p:cNvSpPr/>
          <p:nvPr/>
        </p:nvSpPr>
        <p:spPr>
          <a:xfrm>
            <a:off x="548640" y="39776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5" name="Text 12"/>
          <p:cNvSpPr/>
          <p:nvPr/>
        </p:nvSpPr>
        <p:spPr>
          <a:xfrm>
            <a:off x="1325880" y="3703320"/>
            <a:ext cx="10332720" cy="365760"/>
          </a:xfrm>
          <a:prstGeom prst="rect">
            <a:avLst/>
          </a:prstGeom>
          <a:noFill/>
          <a:ln/>
        </p:spPr>
        <p:txBody>
          <a:bodyPr wrap="square" rtlCol="0" anchor="ctr"/>
          <a:lstStyle/>
          <a:p>
            <a:pPr marL="0" indent="0">
              <a:buNone/>
            </a:pPr>
            <a:r>
              <a:rPr lang="en-US" sz="1600" b="1" dirty="0">
                <a:solidFill>
                  <a:srgbClr val="0B3D3F"/>
                </a:solidFill>
                <a:latin typeface="Calibri" pitchFamily="34" charset="0"/>
                <a:ea typeface="Calibri" pitchFamily="34" charset="-122"/>
                <a:cs typeface="Calibri" pitchFamily="34" charset="-120"/>
              </a:rPr>
              <a:t>Heterogeneidad de la prestación</a:t>
            </a:r>
            <a:endParaRPr lang="en-US" sz="1600" dirty="0"/>
          </a:p>
        </p:txBody>
      </p:sp>
      <p:sp>
        <p:nvSpPr>
          <p:cNvPr id="16" name="Text 13"/>
          <p:cNvSpPr/>
          <p:nvPr/>
        </p:nvSpPr>
        <p:spPr>
          <a:xfrm>
            <a:off x="1325880" y="4114800"/>
            <a:ext cx="10332720" cy="1005840"/>
          </a:xfrm>
          <a:prstGeom prst="rect">
            <a:avLst/>
          </a:prstGeom>
          <a:noFill/>
          <a:ln/>
        </p:spPr>
        <p:txBody>
          <a:bodyPr wrap="square" rtlCol="0" anchor="ctr"/>
          <a:lstStyle/>
          <a:p>
            <a:pPr marL="0" indent="0" algn="just">
              <a:lnSpc>
                <a:spcPts val="1600"/>
              </a:lnSpc>
              <a:buNone/>
            </a:pPr>
            <a:r>
              <a:rPr lang="en-US" sz="1400" dirty="0">
                <a:solidFill>
                  <a:srgbClr val="222E2E"/>
                </a:solidFill>
                <a:latin typeface="Calibri" pitchFamily="34" charset="0"/>
                <a:ea typeface="Calibri" pitchFamily="34" charset="-122"/>
                <a:cs typeface="Calibri" pitchFamily="34" charset="-120"/>
              </a:rPr>
              <a:t>Cada interacción es distinta porque depende de quién atiende, a quién, en qué turno, y bajo qué carga de trabajo. Esto hace que la calidad percibida pueda variar de un consultorio a otro dentro de la misma institución.</a:t>
            </a:r>
            <a:endParaRPr lang="en-US" sz="1400" dirty="0"/>
          </a:p>
        </p:txBody>
      </p:sp>
      <p:sp>
        <p:nvSpPr>
          <p:cNvPr id="17" name="Shape 14"/>
          <p:cNvSpPr/>
          <p:nvPr/>
        </p:nvSpPr>
        <p:spPr>
          <a:xfrm>
            <a:off x="320040" y="5349240"/>
            <a:ext cx="11521440" cy="1051560"/>
          </a:xfrm>
          <a:prstGeom prst="roundRect">
            <a:avLst>
              <a:gd name="adj" fmla="val 7826"/>
            </a:avLst>
          </a:prstGeom>
          <a:solidFill>
            <a:srgbClr val="0B3D3F"/>
          </a:solidFill>
          <a:ln/>
        </p:spPr>
      </p:sp>
      <p:sp>
        <p:nvSpPr>
          <p:cNvPr id="18" name="Text 15"/>
          <p:cNvSpPr/>
          <p:nvPr/>
        </p:nvSpPr>
        <p:spPr>
          <a:xfrm>
            <a:off x="548640" y="5349240"/>
            <a:ext cx="11064240" cy="1051560"/>
          </a:xfrm>
          <a:prstGeom prst="rect">
            <a:avLst/>
          </a:prstGeom>
          <a:noFill/>
          <a:ln/>
        </p:spPr>
        <p:txBody>
          <a:bodyPr wrap="square" rtlCol="0" anchor="ctr"/>
          <a:lstStyle/>
          <a:p>
            <a:pPr marL="0" indent="0" algn="ctr">
              <a:lnSpc>
                <a:spcPts val="1700"/>
              </a:lnSpc>
              <a:buNone/>
            </a:pPr>
            <a:r>
              <a:rPr lang="en-US" sz="1600" dirty="0">
                <a:solidFill>
                  <a:srgbClr val="FFFFFF"/>
                </a:solidFill>
                <a:latin typeface="Calibri" pitchFamily="34" charset="0"/>
                <a:ea typeface="Calibri" pitchFamily="34" charset="-122"/>
                <a:cs typeface="Calibri" pitchFamily="34" charset="-120"/>
              </a:rPr>
              <a:t>Si el servicio se produce en el instante y varía según quién lo entrega, entonces la cultura de servicio del </a:t>
            </a:r>
            <a:r>
              <a:rPr lang="en-US" sz="1600" dirty="0" err="1">
                <a:solidFill>
                  <a:srgbClr val="FFFFFF"/>
                </a:solidFill>
                <a:latin typeface="Calibri" pitchFamily="34" charset="0"/>
                <a:ea typeface="Calibri" pitchFamily="34" charset="-122"/>
                <a:cs typeface="Calibri" pitchFamily="34" charset="-120"/>
              </a:rPr>
              <a:t>equipo</a:t>
            </a:r>
            <a:r>
              <a:rPr lang="en-US" sz="1600" dirty="0">
                <a:solidFill>
                  <a:srgbClr val="FFFFFF"/>
                </a:solidFill>
                <a:latin typeface="Calibri" pitchFamily="34" charset="0"/>
                <a:ea typeface="Calibri" pitchFamily="34" charset="-122"/>
                <a:cs typeface="Calibri" pitchFamily="34" charset="-120"/>
              </a:rPr>
              <a:t>, no solo el </a:t>
            </a:r>
            <a:r>
              <a:rPr lang="en-US" sz="1600" dirty="0" err="1">
                <a:solidFill>
                  <a:srgbClr val="FFFFFF"/>
                </a:solidFill>
                <a:latin typeface="Calibri" pitchFamily="34" charset="0"/>
                <a:ea typeface="Calibri" pitchFamily="34" charset="-122"/>
                <a:cs typeface="Calibri" pitchFamily="34" charset="-120"/>
              </a:rPr>
              <a:t>protocolo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escrito</a:t>
            </a:r>
            <a:r>
              <a:rPr lang="en-US" sz="1600" dirty="0">
                <a:solidFill>
                  <a:srgbClr val="FFFFFF"/>
                </a:solidFill>
                <a:latin typeface="Calibri" pitchFamily="34" charset="0"/>
                <a:ea typeface="Calibri" pitchFamily="34" charset="-122"/>
                <a:cs typeface="Calibri" pitchFamily="34" charset="-120"/>
              </a:rPr>
              <a:t>, es lo que finalmente determina la experiencia del paciente.</a:t>
            </a:r>
            <a:endParaRPr lang="en-US" sz="1600" dirty="0"/>
          </a:p>
        </p:txBody>
      </p:sp>
      <p:pic>
        <p:nvPicPr>
          <p:cNvPr id="20" name="Imagen 19">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pPr marL="0" indent="0">
              <a:buNone/>
            </a:pPr>
            <a:r>
              <a:rPr lang="en-US" sz="2500" b="1" dirty="0">
                <a:solidFill>
                  <a:srgbClr val="0B3D3F"/>
                </a:solidFill>
                <a:latin typeface="Cambria" pitchFamily="34" charset="0"/>
                <a:ea typeface="Cambria" pitchFamily="34" charset="-122"/>
                <a:cs typeface="Cambria" pitchFamily="34" charset="-120"/>
              </a:rPr>
              <a:t>El servicio convierte capacidad institucional en confianza</a:t>
            </a:r>
          </a:p>
        </p:txBody>
      </p:sp>
      <p:sp>
        <p:nvSpPr>
          <p:cNvPr id="12" name="Text 3"/>
          <p:cNvSpPr/>
          <p:nvPr/>
        </p:nvSpPr>
        <p:spPr>
          <a:xfrm>
            <a:off x="1109746" y="1828800"/>
            <a:ext cx="2194560" cy="320040"/>
          </a:xfrm>
          <a:prstGeom prst="rect">
            <a:avLst/>
          </a:prstGeom>
          <a:noFill/>
          <a:ln/>
        </p:spPr>
        <p:txBody>
          <a:bodyPr wrap="square" lIns="0" tIns="0" rIns="0" bIns="0" rtlCol="0" anchor="ctr"/>
          <a:lstStyle/>
          <a:p>
            <a:pPr marL="0" indent="0" algn="ctr">
              <a:buNone/>
            </a:pPr>
            <a:r>
              <a:rPr lang="en-US" sz="2000" b="1" dirty="0">
                <a:solidFill>
                  <a:srgbClr val="183D4A"/>
                </a:solidFill>
              </a:rPr>
              <a:t>Capacidad clínica</a:t>
            </a:r>
            <a:endParaRPr lang="en-US" sz="2000" dirty="0"/>
          </a:p>
        </p:txBody>
      </p:sp>
      <p:sp>
        <p:nvSpPr>
          <p:cNvPr id="13" name="Text 4"/>
          <p:cNvSpPr/>
          <p:nvPr/>
        </p:nvSpPr>
        <p:spPr>
          <a:xfrm>
            <a:off x="4630186" y="1828800"/>
            <a:ext cx="2468880" cy="320040"/>
          </a:xfrm>
          <a:prstGeom prst="rect">
            <a:avLst/>
          </a:prstGeom>
          <a:noFill/>
          <a:ln/>
        </p:spPr>
        <p:txBody>
          <a:bodyPr wrap="square" lIns="0" tIns="0" rIns="0" bIns="0" rtlCol="0" anchor="ctr"/>
          <a:lstStyle/>
          <a:p>
            <a:pPr marL="0" indent="0" algn="ctr">
              <a:buNone/>
            </a:pPr>
            <a:r>
              <a:rPr lang="en-US" sz="2000" b="1" dirty="0">
                <a:solidFill>
                  <a:srgbClr val="183D4A"/>
                </a:solidFill>
              </a:rPr>
              <a:t>Interacción humana</a:t>
            </a:r>
            <a:endParaRPr lang="en-US" sz="2000" dirty="0"/>
          </a:p>
        </p:txBody>
      </p:sp>
      <p:sp>
        <p:nvSpPr>
          <p:cNvPr id="14" name="Text 5"/>
          <p:cNvSpPr/>
          <p:nvPr/>
        </p:nvSpPr>
        <p:spPr>
          <a:xfrm>
            <a:off x="8424946" y="1828800"/>
            <a:ext cx="2926080" cy="320040"/>
          </a:xfrm>
          <a:prstGeom prst="rect">
            <a:avLst/>
          </a:prstGeom>
          <a:noFill/>
          <a:ln/>
        </p:spPr>
        <p:txBody>
          <a:bodyPr wrap="square" lIns="0" tIns="0" rIns="0" bIns="0" rtlCol="0" anchor="ctr"/>
          <a:lstStyle/>
          <a:p>
            <a:pPr marL="0" indent="0" algn="ctr">
              <a:buNone/>
            </a:pPr>
            <a:r>
              <a:rPr lang="en-US" sz="2000" b="1" dirty="0">
                <a:solidFill>
                  <a:srgbClr val="183D4A"/>
                </a:solidFill>
              </a:rPr>
              <a:t>Confianza y reputación</a:t>
            </a:r>
            <a:endParaRPr lang="en-US" sz="2000" dirty="0"/>
          </a:p>
        </p:txBody>
      </p:sp>
      <p:sp>
        <p:nvSpPr>
          <p:cNvPr id="15" name="Shape 6"/>
          <p:cNvSpPr/>
          <p:nvPr/>
        </p:nvSpPr>
        <p:spPr>
          <a:xfrm>
            <a:off x="1508760" y="2514600"/>
            <a:ext cx="1463040" cy="1463040"/>
          </a:xfrm>
          <a:prstGeom prst="ellipse">
            <a:avLst/>
          </a:prstGeom>
          <a:solidFill>
            <a:srgbClr val="EDF8F7"/>
          </a:solidFill>
          <a:ln w="17780">
            <a:solidFill>
              <a:srgbClr val="18B7A8"/>
            </a:solidFill>
            <a:prstDash val="solid"/>
          </a:ln>
        </p:spPr>
      </p:sp>
      <p:sp>
        <p:nvSpPr>
          <p:cNvPr id="16" name="Shape 7"/>
          <p:cNvSpPr/>
          <p:nvPr/>
        </p:nvSpPr>
        <p:spPr>
          <a:xfrm>
            <a:off x="5166360" y="2514600"/>
            <a:ext cx="1463040" cy="1463040"/>
          </a:xfrm>
          <a:prstGeom prst="ellipse">
            <a:avLst/>
          </a:prstGeom>
          <a:solidFill>
            <a:srgbClr val="EDF8F7"/>
          </a:solidFill>
          <a:ln w="17780">
            <a:solidFill>
              <a:srgbClr val="18B7A8"/>
            </a:solidFill>
            <a:prstDash val="solid"/>
          </a:ln>
        </p:spPr>
      </p:sp>
      <p:sp>
        <p:nvSpPr>
          <p:cNvPr id="17" name="Shape 8"/>
          <p:cNvSpPr/>
          <p:nvPr/>
        </p:nvSpPr>
        <p:spPr>
          <a:xfrm>
            <a:off x="9006840" y="2514600"/>
            <a:ext cx="1463040" cy="1463040"/>
          </a:xfrm>
          <a:prstGeom prst="ellipse">
            <a:avLst/>
          </a:prstGeom>
          <a:solidFill>
            <a:srgbClr val="EDF8F7"/>
          </a:solidFill>
          <a:ln w="17780">
            <a:solidFill>
              <a:srgbClr val="18B7A8"/>
            </a:solidFill>
            <a:prstDash val="solid"/>
          </a:ln>
        </p:spPr>
      </p:sp>
      <p:sp>
        <p:nvSpPr>
          <p:cNvPr id="18" name="Text 9"/>
          <p:cNvSpPr/>
          <p:nvPr/>
        </p:nvSpPr>
        <p:spPr>
          <a:xfrm>
            <a:off x="1709928" y="3046612"/>
            <a:ext cx="1069848" cy="384048"/>
          </a:xfrm>
          <a:prstGeom prst="rect">
            <a:avLst/>
          </a:prstGeom>
          <a:noFill/>
          <a:ln/>
        </p:spPr>
        <p:txBody>
          <a:bodyPr wrap="square" lIns="0" tIns="0" rIns="0" bIns="0" rtlCol="0" anchor="ctr"/>
          <a:lstStyle/>
          <a:p>
            <a:pPr marL="0" indent="0" algn="ctr">
              <a:buNone/>
            </a:pPr>
            <a:r>
              <a:rPr lang="en-US" sz="2000" b="1" dirty="0">
                <a:solidFill>
                  <a:srgbClr val="008B8B"/>
                </a:solidFill>
              </a:rPr>
              <a:t>Técnica</a:t>
            </a:r>
            <a:endParaRPr lang="en-US" sz="2000" dirty="0"/>
          </a:p>
          <a:p>
            <a:pPr marL="0" indent="0" algn="ctr">
              <a:buNone/>
            </a:pPr>
            <a:r>
              <a:rPr lang="en-US" sz="2000" b="1" dirty="0">
                <a:solidFill>
                  <a:srgbClr val="008B8B"/>
                </a:solidFill>
              </a:rPr>
              <a:t>segura</a:t>
            </a:r>
            <a:endParaRPr lang="en-US" sz="2000" dirty="0"/>
          </a:p>
        </p:txBody>
      </p:sp>
      <p:sp>
        <p:nvSpPr>
          <p:cNvPr id="19" name="Text 10"/>
          <p:cNvSpPr/>
          <p:nvPr/>
        </p:nvSpPr>
        <p:spPr>
          <a:xfrm>
            <a:off x="5376672" y="3046612"/>
            <a:ext cx="1024128" cy="384048"/>
          </a:xfrm>
          <a:prstGeom prst="rect">
            <a:avLst/>
          </a:prstGeom>
          <a:noFill/>
          <a:ln/>
        </p:spPr>
        <p:txBody>
          <a:bodyPr wrap="square" lIns="0" tIns="0" rIns="0" bIns="0" rtlCol="0" anchor="ctr"/>
          <a:lstStyle/>
          <a:p>
            <a:pPr marL="0" indent="0" algn="ctr">
              <a:buNone/>
            </a:pPr>
            <a:r>
              <a:rPr lang="en-US" sz="2000" b="1" dirty="0">
                <a:solidFill>
                  <a:srgbClr val="008B8B"/>
                </a:solidFill>
              </a:rPr>
              <a:t>Trato</a:t>
            </a:r>
            <a:endParaRPr lang="en-US" sz="2000" dirty="0"/>
          </a:p>
          <a:p>
            <a:pPr marL="0" indent="0" algn="ctr">
              <a:buNone/>
            </a:pPr>
            <a:r>
              <a:rPr lang="en-US" sz="2000" b="1" dirty="0">
                <a:solidFill>
                  <a:srgbClr val="008B8B"/>
                </a:solidFill>
              </a:rPr>
              <a:t>claro</a:t>
            </a:r>
            <a:endParaRPr lang="en-US" sz="2000" dirty="0"/>
          </a:p>
        </p:txBody>
      </p:sp>
      <p:sp>
        <p:nvSpPr>
          <p:cNvPr id="20" name="Text 11"/>
          <p:cNvSpPr/>
          <p:nvPr/>
        </p:nvSpPr>
        <p:spPr>
          <a:xfrm>
            <a:off x="9144000" y="3046612"/>
            <a:ext cx="1170432" cy="384048"/>
          </a:xfrm>
          <a:prstGeom prst="rect">
            <a:avLst/>
          </a:prstGeom>
          <a:noFill/>
          <a:ln/>
        </p:spPr>
        <p:txBody>
          <a:bodyPr wrap="square" lIns="0" tIns="0" rIns="0" bIns="0" rtlCol="0" anchor="ctr"/>
          <a:lstStyle/>
          <a:p>
            <a:pPr marL="0" indent="0" algn="ctr">
              <a:buNone/>
            </a:pPr>
            <a:r>
              <a:rPr lang="en-US" sz="2000" b="1" dirty="0">
                <a:solidFill>
                  <a:srgbClr val="008B8B"/>
                </a:solidFill>
              </a:rPr>
              <a:t>Elección</a:t>
            </a:r>
            <a:endParaRPr lang="en-US" sz="2000" dirty="0"/>
          </a:p>
          <a:p>
            <a:pPr marL="0" indent="0" algn="ctr">
              <a:buNone/>
            </a:pPr>
            <a:r>
              <a:rPr lang="en-US" sz="2000" b="1" dirty="0">
                <a:solidFill>
                  <a:srgbClr val="008B8B"/>
                </a:solidFill>
              </a:rPr>
              <a:t>y lealtad</a:t>
            </a:r>
            <a:endParaRPr lang="en-US" sz="2000" dirty="0"/>
          </a:p>
        </p:txBody>
      </p:sp>
      <p:sp>
        <p:nvSpPr>
          <p:cNvPr id="21" name="Shape 12"/>
          <p:cNvSpPr/>
          <p:nvPr/>
        </p:nvSpPr>
        <p:spPr>
          <a:xfrm>
            <a:off x="3063240" y="3246120"/>
            <a:ext cx="1874520" cy="0"/>
          </a:xfrm>
          <a:prstGeom prst="line">
            <a:avLst/>
          </a:prstGeom>
          <a:noFill/>
          <a:ln w="25400">
            <a:solidFill>
              <a:srgbClr val="18B7A8"/>
            </a:solidFill>
            <a:prstDash val="solid"/>
            <a:headEnd type="none"/>
            <a:tailEnd type="triangle"/>
          </a:ln>
        </p:spPr>
      </p:sp>
      <p:sp>
        <p:nvSpPr>
          <p:cNvPr id="22" name="Shape 13"/>
          <p:cNvSpPr/>
          <p:nvPr/>
        </p:nvSpPr>
        <p:spPr>
          <a:xfrm>
            <a:off x="6720840" y="3246120"/>
            <a:ext cx="1874520" cy="0"/>
          </a:xfrm>
          <a:prstGeom prst="line">
            <a:avLst/>
          </a:prstGeom>
          <a:noFill/>
          <a:ln w="25400">
            <a:solidFill>
              <a:srgbClr val="18B7A8"/>
            </a:solidFill>
            <a:prstDash val="solid"/>
            <a:headEnd type="none"/>
            <a:tailEnd type="triangle"/>
          </a:ln>
        </p:spPr>
      </p:sp>
      <p:sp>
        <p:nvSpPr>
          <p:cNvPr id="23" name="Shape 14"/>
          <p:cNvSpPr/>
          <p:nvPr/>
        </p:nvSpPr>
        <p:spPr>
          <a:xfrm>
            <a:off x="960120" y="5120640"/>
            <a:ext cx="10287000" cy="685800"/>
          </a:xfrm>
          <a:prstGeom prst="roundRect">
            <a:avLst>
              <a:gd name="adj" fmla="val 9333"/>
            </a:avLst>
          </a:prstGeom>
          <a:solidFill>
            <a:srgbClr val="F5FBFA"/>
          </a:solidFill>
          <a:ln w="12700">
            <a:solidFill>
              <a:srgbClr val="D8E6E4"/>
            </a:solidFill>
            <a:prstDash val="solid"/>
          </a:ln>
        </p:spPr>
      </p:sp>
      <p:sp>
        <p:nvSpPr>
          <p:cNvPr id="24" name="Text 15"/>
          <p:cNvSpPr/>
          <p:nvPr/>
        </p:nvSpPr>
        <p:spPr>
          <a:xfrm>
            <a:off x="1124712" y="5266944"/>
            <a:ext cx="9957816" cy="393192"/>
          </a:xfrm>
          <a:prstGeom prst="rect">
            <a:avLst/>
          </a:prstGeom>
          <a:noFill/>
          <a:ln/>
        </p:spPr>
        <p:txBody>
          <a:bodyPr wrap="square" lIns="0" tIns="0" rIns="0" bIns="0" rtlCol="0" anchor="ctr">
            <a:noAutofit/>
          </a:bodyPr>
          <a:lstStyle/>
          <a:p>
            <a:pPr marL="0" indent="0">
              <a:buNone/>
            </a:pPr>
            <a:r>
              <a:rPr lang="en-US" sz="2000" b="1" dirty="0">
                <a:solidFill>
                  <a:srgbClr val="193033"/>
                </a:solidFill>
              </a:rPr>
              <a:t>La experiencia humana no es solo encuesta de satisfacción: influye en resultados, compromiso del equipo, confianza comunitaria y sostenibilidad operativa.</a:t>
            </a:r>
            <a:endParaRPr lang="en-US" sz="2000" dirty="0"/>
          </a:p>
        </p:txBody>
      </p:sp>
    </p:spTree>
    <p:extLst>
      <p:ext uri="{BB962C8B-B14F-4D97-AF65-F5344CB8AC3E}">
        <p14:creationId xmlns:p14="http://schemas.microsoft.com/office/powerpoint/2010/main" val="704195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6200" y="228138"/>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3 · DEL “USUARIO” A LA “PERSONA”</a:t>
            </a:r>
            <a:endParaRPr lang="en-US" sz="1250" dirty="0"/>
          </a:p>
        </p:txBody>
      </p:sp>
      <p:sp>
        <p:nvSpPr>
          <p:cNvPr id="4" name="Text 1"/>
          <p:cNvSpPr/>
          <p:nvPr/>
        </p:nvSpPr>
        <p:spPr>
          <a:xfrm>
            <a:off x="2356200" y="502458"/>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Evolución histórica de los modelos de atención (I)</a:t>
            </a:r>
            <a:endParaRPr lang="en-US" sz="2500" dirty="0"/>
          </a:p>
        </p:txBody>
      </p:sp>
      <p:sp>
        <p:nvSpPr>
          <p:cNvPr id="5" name="Text 2"/>
          <p:cNvSpPr/>
          <p:nvPr/>
        </p:nvSpPr>
        <p:spPr>
          <a:xfrm>
            <a:off x="2356200" y="1033272"/>
            <a:ext cx="9966960" cy="320040"/>
          </a:xfrm>
          <a:prstGeom prst="rect">
            <a:avLst/>
          </a:prstGeom>
          <a:noFill/>
          <a:ln/>
        </p:spPr>
        <p:txBody>
          <a:bodyPr wrap="square" rtlCol="0" anchor="ctr"/>
          <a:lstStyle/>
          <a:p>
            <a:pPr marL="0" indent="0">
              <a:buNone/>
            </a:pPr>
            <a:r>
              <a:rPr lang="en-US" sz="1350" i="1" dirty="0">
                <a:solidFill>
                  <a:srgbClr val="5A6B6E"/>
                </a:solidFill>
                <a:latin typeface="Calibri" pitchFamily="34" charset="0"/>
                <a:ea typeface="Calibri" pitchFamily="34" charset="-122"/>
                <a:cs typeface="Calibri" pitchFamily="34" charset="-120"/>
              </a:rPr>
              <a:t>De la enfermedad en el órgano, a la persona completa</a:t>
            </a:r>
            <a:endParaRPr lang="en-US" sz="135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Shape 4"/>
          <p:cNvSpPr/>
          <p:nvPr/>
        </p:nvSpPr>
        <p:spPr>
          <a:xfrm>
            <a:off x="320040" y="1645920"/>
            <a:ext cx="1554480" cy="777240"/>
          </a:xfrm>
          <a:prstGeom prst="roundRect">
            <a:avLst>
              <a:gd name="adj" fmla="val 8235"/>
            </a:avLst>
          </a:prstGeom>
          <a:solidFill>
            <a:srgbClr val="028090"/>
          </a:solidFill>
          <a:ln/>
        </p:spPr>
      </p:sp>
      <p:sp>
        <p:nvSpPr>
          <p:cNvPr id="8" name="Text 5"/>
          <p:cNvSpPr/>
          <p:nvPr/>
        </p:nvSpPr>
        <p:spPr>
          <a:xfrm>
            <a:off x="320040" y="1645920"/>
            <a:ext cx="1554480" cy="7772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Antigüedad</a:t>
            </a:r>
            <a:endParaRPr lang="en-US" sz="1400" dirty="0"/>
          </a:p>
        </p:txBody>
      </p:sp>
      <p:sp>
        <p:nvSpPr>
          <p:cNvPr id="9" name="Text 6"/>
          <p:cNvSpPr/>
          <p:nvPr/>
        </p:nvSpPr>
        <p:spPr>
          <a:xfrm>
            <a:off x="2057400" y="1618488"/>
            <a:ext cx="9784080" cy="365760"/>
          </a:xfrm>
          <a:prstGeom prst="rect">
            <a:avLst/>
          </a:prstGeom>
          <a:noFill/>
          <a:ln/>
        </p:spPr>
        <p:txBody>
          <a:bodyPr wrap="square" rtlCol="0" anchor="ctr"/>
          <a:lstStyle/>
          <a:p>
            <a:pPr marL="0" indent="0" algn="just">
              <a:buNone/>
            </a:pPr>
            <a:r>
              <a:rPr lang="en-US" sz="1600" b="1" dirty="0">
                <a:solidFill>
                  <a:srgbClr val="0B3D3F"/>
                </a:solidFill>
                <a:latin typeface="Calibri" pitchFamily="34" charset="0"/>
                <a:ea typeface="Calibri" pitchFamily="34" charset="-122"/>
                <a:cs typeface="Calibri" pitchFamily="34" charset="-120"/>
              </a:rPr>
              <a:t>Escuela de Cos vs. Cnido</a:t>
            </a:r>
            <a:endParaRPr lang="en-US" sz="1600" dirty="0"/>
          </a:p>
        </p:txBody>
      </p:sp>
      <p:sp>
        <p:nvSpPr>
          <p:cNvPr id="10" name="Text 7"/>
          <p:cNvSpPr/>
          <p:nvPr/>
        </p:nvSpPr>
        <p:spPr>
          <a:xfrm>
            <a:off x="2057400" y="1975104"/>
            <a:ext cx="9784080" cy="502920"/>
          </a:xfrm>
          <a:prstGeom prst="rect">
            <a:avLst/>
          </a:prstGeom>
          <a:noFill/>
          <a:ln/>
        </p:spPr>
        <p:txBody>
          <a:bodyPr wrap="square" rtlCol="0" anchor="ctr"/>
          <a:lstStyle/>
          <a:p>
            <a:pPr marL="0" indent="0" algn="just">
              <a:lnSpc>
                <a:spcPts val="1450"/>
              </a:lnSpc>
              <a:buNone/>
            </a:pPr>
            <a:r>
              <a:rPr lang="en-US" sz="1400" dirty="0">
                <a:solidFill>
                  <a:srgbClr val="222E2E"/>
                </a:solidFill>
                <a:latin typeface="Calibri" pitchFamily="34" charset="0"/>
                <a:ea typeface="Calibri" pitchFamily="34" charset="-122"/>
                <a:cs typeface="Calibri" pitchFamily="34" charset="-120"/>
              </a:rPr>
              <a:t>Los médicos de Cos no separaban la enfermedad de la persona ni de su entorno; los de Cnido clasificaban al paciente según taxonomías de enfermedades.</a:t>
            </a:r>
            <a:endParaRPr lang="en-US" sz="1400" dirty="0"/>
          </a:p>
        </p:txBody>
      </p:sp>
      <p:sp>
        <p:nvSpPr>
          <p:cNvPr id="11" name="Shape 8"/>
          <p:cNvSpPr/>
          <p:nvPr/>
        </p:nvSpPr>
        <p:spPr>
          <a:xfrm>
            <a:off x="320040" y="2697480"/>
            <a:ext cx="1554480" cy="777240"/>
          </a:xfrm>
          <a:prstGeom prst="roundRect">
            <a:avLst>
              <a:gd name="adj" fmla="val 8235"/>
            </a:avLst>
          </a:prstGeom>
          <a:solidFill>
            <a:srgbClr val="028090"/>
          </a:solidFill>
          <a:ln/>
        </p:spPr>
      </p:sp>
      <p:sp>
        <p:nvSpPr>
          <p:cNvPr id="12" name="Text 9"/>
          <p:cNvSpPr/>
          <p:nvPr/>
        </p:nvSpPr>
        <p:spPr>
          <a:xfrm>
            <a:off x="320040" y="2697480"/>
            <a:ext cx="1554480" cy="7772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 XVII-XIX</a:t>
            </a:r>
            <a:endParaRPr lang="en-US" sz="1400" dirty="0"/>
          </a:p>
        </p:txBody>
      </p:sp>
      <p:sp>
        <p:nvSpPr>
          <p:cNvPr id="13" name="Text 10"/>
          <p:cNvSpPr/>
          <p:nvPr/>
        </p:nvSpPr>
        <p:spPr>
          <a:xfrm>
            <a:off x="2057400" y="2670048"/>
            <a:ext cx="9784080" cy="365760"/>
          </a:xfrm>
          <a:prstGeom prst="rect">
            <a:avLst/>
          </a:prstGeom>
          <a:noFill/>
          <a:ln/>
        </p:spPr>
        <p:txBody>
          <a:bodyPr wrap="square" rtlCol="0" anchor="ctr"/>
          <a:lstStyle/>
          <a:p>
            <a:pPr marL="0" indent="0" algn="just">
              <a:buNone/>
            </a:pPr>
            <a:r>
              <a:rPr lang="en-US" sz="1600" b="1" dirty="0">
                <a:solidFill>
                  <a:srgbClr val="0B3D3F"/>
                </a:solidFill>
                <a:latin typeface="Calibri" pitchFamily="34" charset="0"/>
                <a:ea typeface="Calibri" pitchFamily="34" charset="-122"/>
                <a:cs typeface="Calibri" pitchFamily="34" charset="-120"/>
              </a:rPr>
              <a:t>Consolidación del modelo biomédico</a:t>
            </a:r>
            <a:endParaRPr lang="en-US" sz="1600" dirty="0"/>
          </a:p>
        </p:txBody>
      </p:sp>
      <p:sp>
        <p:nvSpPr>
          <p:cNvPr id="14" name="Text 11"/>
          <p:cNvSpPr/>
          <p:nvPr/>
        </p:nvSpPr>
        <p:spPr>
          <a:xfrm>
            <a:off x="2057400" y="3026664"/>
            <a:ext cx="9784080" cy="502920"/>
          </a:xfrm>
          <a:prstGeom prst="rect">
            <a:avLst/>
          </a:prstGeom>
          <a:noFill/>
          <a:ln/>
        </p:spPr>
        <p:txBody>
          <a:bodyPr wrap="square" rtlCol="0" anchor="ctr"/>
          <a:lstStyle/>
          <a:p>
            <a:pPr marL="0" indent="0" algn="just">
              <a:lnSpc>
                <a:spcPts val="1450"/>
              </a:lnSpc>
              <a:buNone/>
            </a:pPr>
            <a:r>
              <a:rPr lang="en-US" sz="1400" dirty="0">
                <a:solidFill>
                  <a:srgbClr val="222E2E"/>
                </a:solidFill>
                <a:latin typeface="Calibri" pitchFamily="34" charset="0"/>
                <a:ea typeface="Calibri" pitchFamily="34" charset="-122"/>
                <a:cs typeface="Calibri" pitchFamily="34" charset="-120"/>
              </a:rPr>
              <a:t>Sydenham, Bichat, Laënnec, Pasteur y Koch desarrollan el método clínico centrado en la enfermedad: signos, síntomas y causalidad específica.</a:t>
            </a:r>
            <a:endParaRPr lang="en-US" sz="1400" dirty="0"/>
          </a:p>
        </p:txBody>
      </p:sp>
      <p:sp>
        <p:nvSpPr>
          <p:cNvPr id="15" name="Shape 12"/>
          <p:cNvSpPr/>
          <p:nvPr/>
        </p:nvSpPr>
        <p:spPr>
          <a:xfrm>
            <a:off x="320040" y="3749040"/>
            <a:ext cx="1554480" cy="777240"/>
          </a:xfrm>
          <a:prstGeom prst="roundRect">
            <a:avLst>
              <a:gd name="adj" fmla="val 8235"/>
            </a:avLst>
          </a:prstGeom>
          <a:solidFill>
            <a:srgbClr val="028090"/>
          </a:solidFill>
          <a:ln/>
        </p:spPr>
      </p:sp>
      <p:sp>
        <p:nvSpPr>
          <p:cNvPr id="16" name="Text 13"/>
          <p:cNvSpPr/>
          <p:nvPr/>
        </p:nvSpPr>
        <p:spPr>
          <a:xfrm>
            <a:off x="320040" y="3749040"/>
            <a:ext cx="1554480" cy="7772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1926</a:t>
            </a:r>
            <a:endParaRPr lang="en-US" sz="1400" dirty="0"/>
          </a:p>
        </p:txBody>
      </p:sp>
      <p:sp>
        <p:nvSpPr>
          <p:cNvPr id="17" name="Text 14"/>
          <p:cNvSpPr/>
          <p:nvPr/>
        </p:nvSpPr>
        <p:spPr>
          <a:xfrm>
            <a:off x="2057400" y="3721608"/>
            <a:ext cx="9784080" cy="365760"/>
          </a:xfrm>
          <a:prstGeom prst="rect">
            <a:avLst/>
          </a:prstGeom>
          <a:noFill/>
          <a:ln/>
        </p:spPr>
        <p:txBody>
          <a:bodyPr wrap="square" rtlCol="0" anchor="ctr"/>
          <a:lstStyle/>
          <a:p>
            <a:pPr marL="0" indent="0" algn="just">
              <a:buNone/>
            </a:pPr>
            <a:r>
              <a:rPr lang="en-US" sz="1600" b="1" dirty="0">
                <a:solidFill>
                  <a:srgbClr val="0B3D3F"/>
                </a:solidFill>
                <a:latin typeface="Calibri" pitchFamily="34" charset="0"/>
                <a:ea typeface="Calibri" pitchFamily="34" charset="-122"/>
                <a:cs typeface="Calibri" pitchFamily="34" charset="-120"/>
              </a:rPr>
              <a:t>Crookshank: dos métodos explicativos</a:t>
            </a:r>
            <a:endParaRPr lang="en-US" sz="1600" dirty="0"/>
          </a:p>
        </p:txBody>
      </p:sp>
      <p:sp>
        <p:nvSpPr>
          <p:cNvPr id="18" name="Text 15"/>
          <p:cNvSpPr/>
          <p:nvPr/>
        </p:nvSpPr>
        <p:spPr>
          <a:xfrm>
            <a:off x="2057400" y="4078224"/>
            <a:ext cx="9784080" cy="502920"/>
          </a:xfrm>
          <a:prstGeom prst="rect">
            <a:avLst/>
          </a:prstGeom>
          <a:noFill/>
          <a:ln/>
        </p:spPr>
        <p:txBody>
          <a:bodyPr wrap="square" rtlCol="0" anchor="ctr"/>
          <a:lstStyle/>
          <a:p>
            <a:pPr marL="0" indent="0" algn="just">
              <a:lnSpc>
                <a:spcPts val="1450"/>
              </a:lnSpc>
              <a:buNone/>
            </a:pPr>
            <a:r>
              <a:rPr lang="en-US" sz="1400" dirty="0">
                <a:solidFill>
                  <a:srgbClr val="222E2E"/>
                </a:solidFill>
                <a:latin typeface="Calibri" pitchFamily="34" charset="0"/>
                <a:ea typeface="Calibri" pitchFamily="34" charset="-122"/>
                <a:cs typeface="Calibri" pitchFamily="34" charset="-120"/>
              </a:rPr>
              <a:t>El modelo ontológico (la enfermedad como entidad en el órgano) frente al modelo ecológico (la enfermedad como desequilibrio persona-ambiente).</a:t>
            </a:r>
            <a:endParaRPr lang="en-US" sz="1400" dirty="0"/>
          </a:p>
        </p:txBody>
      </p:sp>
      <p:sp>
        <p:nvSpPr>
          <p:cNvPr id="19" name="Shape 16"/>
          <p:cNvSpPr/>
          <p:nvPr/>
        </p:nvSpPr>
        <p:spPr>
          <a:xfrm>
            <a:off x="320040" y="4800600"/>
            <a:ext cx="1554480" cy="777240"/>
          </a:xfrm>
          <a:prstGeom prst="roundRect">
            <a:avLst>
              <a:gd name="adj" fmla="val 8235"/>
            </a:avLst>
          </a:prstGeom>
          <a:solidFill>
            <a:srgbClr val="028090"/>
          </a:solidFill>
          <a:ln/>
        </p:spPr>
      </p:sp>
      <p:sp>
        <p:nvSpPr>
          <p:cNvPr id="20" name="Text 17"/>
          <p:cNvSpPr/>
          <p:nvPr/>
        </p:nvSpPr>
        <p:spPr>
          <a:xfrm>
            <a:off x="320040" y="4800600"/>
            <a:ext cx="1554480" cy="7772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Siglo XX</a:t>
            </a:r>
            <a:endParaRPr lang="en-US" sz="1400" dirty="0"/>
          </a:p>
        </p:txBody>
      </p:sp>
      <p:sp>
        <p:nvSpPr>
          <p:cNvPr id="21" name="Text 18"/>
          <p:cNvSpPr/>
          <p:nvPr/>
        </p:nvSpPr>
        <p:spPr>
          <a:xfrm>
            <a:off x="2057400" y="4773168"/>
            <a:ext cx="9784080" cy="365760"/>
          </a:xfrm>
          <a:prstGeom prst="rect">
            <a:avLst/>
          </a:prstGeom>
          <a:noFill/>
          <a:ln/>
        </p:spPr>
        <p:txBody>
          <a:bodyPr wrap="square" rtlCol="0" anchor="ctr"/>
          <a:lstStyle/>
          <a:p>
            <a:pPr marL="0" indent="0" algn="just">
              <a:buNone/>
            </a:pPr>
            <a:r>
              <a:rPr lang="en-US" sz="1600" b="1" dirty="0">
                <a:solidFill>
                  <a:srgbClr val="0B3D3F"/>
                </a:solidFill>
                <a:latin typeface="Calibri" pitchFamily="34" charset="0"/>
                <a:ea typeface="Calibri" pitchFamily="34" charset="-122"/>
                <a:cs typeface="Calibri" pitchFamily="34" charset="-120"/>
              </a:rPr>
              <a:t>Balint y la “medicina centrada en el paciente”</a:t>
            </a:r>
            <a:endParaRPr lang="en-US" sz="1600" dirty="0"/>
          </a:p>
        </p:txBody>
      </p:sp>
      <p:sp>
        <p:nvSpPr>
          <p:cNvPr id="22" name="Text 19"/>
          <p:cNvSpPr/>
          <p:nvPr/>
        </p:nvSpPr>
        <p:spPr>
          <a:xfrm>
            <a:off x="2057400" y="5129784"/>
            <a:ext cx="9784080" cy="502920"/>
          </a:xfrm>
          <a:prstGeom prst="rect">
            <a:avLst/>
          </a:prstGeom>
          <a:noFill/>
          <a:ln/>
        </p:spPr>
        <p:txBody>
          <a:bodyPr wrap="square" rtlCol="0" anchor="ctr"/>
          <a:lstStyle/>
          <a:p>
            <a:pPr marL="0" indent="0" algn="just">
              <a:lnSpc>
                <a:spcPts val="1450"/>
              </a:lnSpc>
              <a:buNone/>
            </a:pPr>
            <a:r>
              <a:rPr lang="en-US" sz="1400" dirty="0">
                <a:solidFill>
                  <a:srgbClr val="222E2E"/>
                </a:solidFill>
                <a:latin typeface="Calibri" pitchFamily="34" charset="0"/>
                <a:ea typeface="Calibri" pitchFamily="34" charset="-122"/>
                <a:cs typeface="Calibri" pitchFamily="34" charset="-120"/>
              </a:rPr>
              <a:t>El psicoanalista Michael Balint desarrolla un método de entrevista médica que incorpora las circunstancias vitales y psicológicas del paciente, no solo su enfermedad.</a:t>
            </a:r>
            <a:endParaRPr lang="en-US" sz="1400" dirty="0"/>
          </a:p>
        </p:txBody>
      </p:sp>
      <p:sp>
        <p:nvSpPr>
          <p:cNvPr id="23" name="Text 20"/>
          <p:cNvSpPr/>
          <p:nvPr/>
        </p:nvSpPr>
        <p:spPr>
          <a:xfrm>
            <a:off x="320040" y="6473952"/>
            <a:ext cx="11521440" cy="292608"/>
          </a:xfrm>
          <a:prstGeom prst="rect">
            <a:avLst/>
          </a:prstGeom>
          <a:noFill/>
          <a:ln/>
        </p:spPr>
        <p:txBody>
          <a:bodyPr wrap="square" rtlCol="0" anchor="ctr"/>
          <a:lstStyle/>
          <a:p>
            <a:pPr marL="0" indent="0">
              <a:buNone/>
            </a:pPr>
            <a:r>
              <a:rPr lang="en-US" sz="950" i="1" dirty="0">
                <a:solidFill>
                  <a:srgbClr val="5A6B6E"/>
                </a:solidFill>
                <a:latin typeface="Calibri" pitchFamily="34" charset="0"/>
                <a:ea typeface="Calibri" pitchFamily="34" charset="-122"/>
                <a:cs typeface="Calibri" pitchFamily="34" charset="-120"/>
              </a:rPr>
              <a:t>Cacace, P.J. &amp; Giménez-Lascano, G. (2022). Modelos de atención centrados en la persona. Revista Mexicana de Medicina Familiar, 9, 63-72.</a:t>
            </a:r>
            <a:endParaRPr lang="en-US" sz="950" dirty="0"/>
          </a:p>
        </p:txBody>
      </p:sp>
      <p:pic>
        <p:nvPicPr>
          <p:cNvPr id="25" name="Imagen 24">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6193" y="228139"/>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3 · DEL “USUARIO” A LA “PERSONA”</a:t>
            </a:r>
            <a:endParaRPr lang="en-US" sz="1250" dirty="0"/>
          </a:p>
        </p:txBody>
      </p:sp>
      <p:sp>
        <p:nvSpPr>
          <p:cNvPr id="4" name="Text 1"/>
          <p:cNvSpPr/>
          <p:nvPr/>
        </p:nvSpPr>
        <p:spPr>
          <a:xfrm>
            <a:off x="2356193" y="502459"/>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Evolución histórica de los modelos de atención (II)</a:t>
            </a:r>
            <a:endParaRPr lang="en-US" sz="2500" dirty="0"/>
          </a:p>
        </p:txBody>
      </p:sp>
      <p:sp>
        <p:nvSpPr>
          <p:cNvPr id="5" name="Text 2"/>
          <p:cNvSpPr/>
          <p:nvPr/>
        </p:nvSpPr>
        <p:spPr>
          <a:xfrm>
            <a:off x="2356193" y="1033272"/>
            <a:ext cx="9966960" cy="320040"/>
          </a:xfrm>
          <a:prstGeom prst="rect">
            <a:avLst/>
          </a:prstGeom>
          <a:noFill/>
          <a:ln/>
        </p:spPr>
        <p:txBody>
          <a:bodyPr wrap="square" rtlCol="0" anchor="ctr"/>
          <a:lstStyle/>
          <a:p>
            <a:pPr marL="0" indent="0">
              <a:buNone/>
            </a:pPr>
            <a:r>
              <a:rPr lang="en-US" sz="1350" i="1" dirty="0">
                <a:solidFill>
                  <a:srgbClr val="5A6B6E"/>
                </a:solidFill>
                <a:latin typeface="Calibri" pitchFamily="34" charset="0"/>
                <a:ea typeface="Calibri" pitchFamily="34" charset="-122"/>
                <a:cs typeface="Calibri" pitchFamily="34" charset="-120"/>
              </a:rPr>
              <a:t>Del modelo biopsicosocial al marco global de la OMS</a:t>
            </a:r>
            <a:endParaRPr lang="en-US" sz="135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Shape 4"/>
          <p:cNvSpPr/>
          <p:nvPr/>
        </p:nvSpPr>
        <p:spPr>
          <a:xfrm>
            <a:off x="320040" y="1645920"/>
            <a:ext cx="1554480" cy="868680"/>
          </a:xfrm>
          <a:prstGeom prst="roundRect">
            <a:avLst>
              <a:gd name="adj" fmla="val 7368"/>
            </a:avLst>
          </a:prstGeom>
          <a:solidFill>
            <a:srgbClr val="028090"/>
          </a:solidFill>
          <a:ln/>
        </p:spPr>
      </p:sp>
      <p:sp>
        <p:nvSpPr>
          <p:cNvPr id="8" name="Text 5"/>
          <p:cNvSpPr/>
          <p:nvPr/>
        </p:nvSpPr>
        <p:spPr>
          <a:xfrm>
            <a:off x="320040" y="1645920"/>
            <a:ext cx="1554480" cy="8686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1977</a:t>
            </a:r>
            <a:endParaRPr lang="en-US" sz="1400" dirty="0"/>
          </a:p>
        </p:txBody>
      </p:sp>
      <p:sp>
        <p:nvSpPr>
          <p:cNvPr id="9" name="Text 6"/>
          <p:cNvSpPr/>
          <p:nvPr/>
        </p:nvSpPr>
        <p:spPr>
          <a:xfrm>
            <a:off x="2057400" y="1618488"/>
            <a:ext cx="9784080" cy="411480"/>
          </a:xfrm>
          <a:prstGeom prst="rect">
            <a:avLst/>
          </a:prstGeom>
          <a:noFill/>
          <a:ln/>
        </p:spPr>
        <p:txBody>
          <a:bodyPr wrap="square" rtlCol="0" anchor="ctr"/>
          <a:lstStyle/>
          <a:p>
            <a:pPr marL="0" indent="0" algn="just">
              <a:buNone/>
            </a:pPr>
            <a:r>
              <a:rPr lang="en-US" sz="1600" b="1" dirty="0">
                <a:solidFill>
                  <a:srgbClr val="0B3D3F"/>
                </a:solidFill>
                <a:latin typeface="Calibri" pitchFamily="34" charset="0"/>
                <a:ea typeface="Calibri" pitchFamily="34" charset="-122"/>
                <a:cs typeface="Calibri" pitchFamily="34" charset="-120"/>
              </a:rPr>
              <a:t>George Engel: modelo biopsicosocial</a:t>
            </a:r>
            <a:endParaRPr lang="en-US" sz="1600" dirty="0"/>
          </a:p>
        </p:txBody>
      </p:sp>
      <p:sp>
        <p:nvSpPr>
          <p:cNvPr id="10" name="Text 7"/>
          <p:cNvSpPr/>
          <p:nvPr/>
        </p:nvSpPr>
        <p:spPr>
          <a:xfrm>
            <a:off x="2057400" y="2011680"/>
            <a:ext cx="9784080" cy="594360"/>
          </a:xfrm>
          <a:prstGeom prst="rect">
            <a:avLst/>
          </a:prstGeom>
          <a:noFill/>
          <a:ln/>
        </p:spPr>
        <p:txBody>
          <a:bodyPr wrap="square" rtlCol="0" anchor="ctr"/>
          <a:lstStyle/>
          <a:p>
            <a:pPr marL="0" indent="0" algn="just">
              <a:lnSpc>
                <a:spcPts val="1450"/>
              </a:lnSpc>
              <a:buNone/>
            </a:pPr>
            <a:r>
              <a:rPr lang="en-US" sz="1400" dirty="0">
                <a:solidFill>
                  <a:srgbClr val="222E2E"/>
                </a:solidFill>
                <a:latin typeface="Calibri" pitchFamily="34" charset="0"/>
                <a:ea typeface="Calibri" pitchFamily="34" charset="-122"/>
                <a:cs typeface="Calibri" pitchFamily="34" charset="-120"/>
              </a:rPr>
              <a:t>Integra lo biológico, lo emocional y lo contextual usando la teoría general de sistemas, superando el enfoque reduccionista de “organos aislados”.</a:t>
            </a:r>
            <a:endParaRPr lang="en-US" sz="1400" dirty="0"/>
          </a:p>
        </p:txBody>
      </p:sp>
      <p:sp>
        <p:nvSpPr>
          <p:cNvPr id="11" name="Shape 8"/>
          <p:cNvSpPr/>
          <p:nvPr/>
        </p:nvSpPr>
        <p:spPr>
          <a:xfrm>
            <a:off x="320040" y="2816352"/>
            <a:ext cx="1554480" cy="868680"/>
          </a:xfrm>
          <a:prstGeom prst="roundRect">
            <a:avLst>
              <a:gd name="adj" fmla="val 7368"/>
            </a:avLst>
          </a:prstGeom>
          <a:solidFill>
            <a:srgbClr val="028090"/>
          </a:solidFill>
          <a:ln/>
        </p:spPr>
      </p:sp>
      <p:sp>
        <p:nvSpPr>
          <p:cNvPr id="12" name="Text 9"/>
          <p:cNvSpPr/>
          <p:nvPr/>
        </p:nvSpPr>
        <p:spPr>
          <a:xfrm>
            <a:off x="320040" y="2816352"/>
            <a:ext cx="1554480" cy="8686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Fines s. XX</a:t>
            </a:r>
            <a:endParaRPr lang="en-US" sz="1400" dirty="0"/>
          </a:p>
        </p:txBody>
      </p:sp>
      <p:sp>
        <p:nvSpPr>
          <p:cNvPr id="13" name="Text 10"/>
          <p:cNvSpPr/>
          <p:nvPr/>
        </p:nvSpPr>
        <p:spPr>
          <a:xfrm>
            <a:off x="2057400" y="2788920"/>
            <a:ext cx="9784080" cy="411480"/>
          </a:xfrm>
          <a:prstGeom prst="rect">
            <a:avLst/>
          </a:prstGeom>
          <a:noFill/>
          <a:ln/>
        </p:spPr>
        <p:txBody>
          <a:bodyPr wrap="square" rtlCol="0" anchor="ctr"/>
          <a:lstStyle/>
          <a:p>
            <a:pPr marL="0" indent="0" algn="just">
              <a:buNone/>
            </a:pPr>
            <a:r>
              <a:rPr lang="en-US" sz="1600" b="1" dirty="0">
                <a:solidFill>
                  <a:srgbClr val="0B3D3F"/>
                </a:solidFill>
                <a:latin typeface="Calibri" pitchFamily="34" charset="0"/>
                <a:ea typeface="Calibri" pitchFamily="34" charset="-122"/>
                <a:cs typeface="Calibri" pitchFamily="34" charset="-120"/>
              </a:rPr>
              <a:t>McWhinney y el método clínico centrado en el paciente (MCCP)</a:t>
            </a:r>
            <a:endParaRPr lang="en-US" sz="1600" dirty="0"/>
          </a:p>
        </p:txBody>
      </p:sp>
      <p:sp>
        <p:nvSpPr>
          <p:cNvPr id="14" name="Text 11"/>
          <p:cNvSpPr/>
          <p:nvPr/>
        </p:nvSpPr>
        <p:spPr>
          <a:xfrm>
            <a:off x="2057400" y="3182112"/>
            <a:ext cx="9784080" cy="594360"/>
          </a:xfrm>
          <a:prstGeom prst="rect">
            <a:avLst/>
          </a:prstGeom>
          <a:noFill/>
          <a:ln/>
        </p:spPr>
        <p:txBody>
          <a:bodyPr wrap="square" rtlCol="0" anchor="ctr"/>
          <a:lstStyle/>
          <a:p>
            <a:pPr marL="0" indent="0" algn="just">
              <a:lnSpc>
                <a:spcPts val="1450"/>
              </a:lnSpc>
              <a:buNone/>
            </a:pPr>
            <a:r>
              <a:rPr lang="en-US" sz="1400" dirty="0">
                <a:solidFill>
                  <a:srgbClr val="222E2E"/>
                </a:solidFill>
                <a:latin typeface="Calibri" pitchFamily="34" charset="0"/>
                <a:ea typeface="Calibri" pitchFamily="34" charset="-122"/>
                <a:cs typeface="Calibri" pitchFamily="34" charset="-120"/>
              </a:rPr>
              <a:t>Desde la Universidad de Western Ontario, opera el modelo biopsicosocial e introduce la participación activa del paciente en la toma de decisiones.</a:t>
            </a:r>
            <a:endParaRPr lang="en-US" sz="1400" dirty="0"/>
          </a:p>
        </p:txBody>
      </p:sp>
      <p:sp>
        <p:nvSpPr>
          <p:cNvPr id="15" name="Shape 12"/>
          <p:cNvSpPr/>
          <p:nvPr/>
        </p:nvSpPr>
        <p:spPr>
          <a:xfrm>
            <a:off x="320040" y="3986784"/>
            <a:ext cx="1554480" cy="868680"/>
          </a:xfrm>
          <a:prstGeom prst="roundRect">
            <a:avLst>
              <a:gd name="adj" fmla="val 7368"/>
            </a:avLst>
          </a:prstGeom>
          <a:solidFill>
            <a:srgbClr val="0B3D3F"/>
          </a:solidFill>
          <a:ln/>
        </p:spPr>
      </p:sp>
      <p:sp>
        <p:nvSpPr>
          <p:cNvPr id="16" name="Text 13"/>
          <p:cNvSpPr/>
          <p:nvPr/>
        </p:nvSpPr>
        <p:spPr>
          <a:xfrm>
            <a:off x="320040" y="3986784"/>
            <a:ext cx="1554480" cy="8686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2016 – 2024</a:t>
            </a:r>
            <a:endParaRPr lang="en-US" sz="1400" dirty="0"/>
          </a:p>
        </p:txBody>
      </p:sp>
      <p:sp>
        <p:nvSpPr>
          <p:cNvPr id="17" name="Text 14"/>
          <p:cNvSpPr/>
          <p:nvPr/>
        </p:nvSpPr>
        <p:spPr>
          <a:xfrm>
            <a:off x="2057400" y="3959352"/>
            <a:ext cx="9784080" cy="411480"/>
          </a:xfrm>
          <a:prstGeom prst="rect">
            <a:avLst/>
          </a:prstGeom>
          <a:noFill/>
          <a:ln/>
        </p:spPr>
        <p:txBody>
          <a:bodyPr wrap="square" rtlCol="0" anchor="ctr"/>
          <a:lstStyle/>
          <a:p>
            <a:pPr marL="0" indent="0" algn="just">
              <a:buNone/>
            </a:pPr>
            <a:r>
              <a:rPr lang="en-US" sz="1600" b="1" dirty="0">
                <a:solidFill>
                  <a:srgbClr val="0B3D3F"/>
                </a:solidFill>
                <a:latin typeface="Calibri" pitchFamily="34" charset="0"/>
                <a:ea typeface="Calibri" pitchFamily="34" charset="-122"/>
                <a:cs typeface="Calibri" pitchFamily="34" charset="-120"/>
              </a:rPr>
              <a:t>OMS: servicios de salud integrados y centrados en la persona</a:t>
            </a:r>
            <a:endParaRPr lang="en-US" sz="1600" dirty="0"/>
          </a:p>
        </p:txBody>
      </p:sp>
      <p:sp>
        <p:nvSpPr>
          <p:cNvPr id="18" name="Text 15"/>
          <p:cNvSpPr/>
          <p:nvPr/>
        </p:nvSpPr>
        <p:spPr>
          <a:xfrm>
            <a:off x="2057400" y="4352544"/>
            <a:ext cx="9784080" cy="594360"/>
          </a:xfrm>
          <a:prstGeom prst="rect">
            <a:avLst/>
          </a:prstGeom>
          <a:noFill/>
          <a:ln/>
        </p:spPr>
        <p:txBody>
          <a:bodyPr wrap="square" rtlCol="0" anchor="ctr"/>
          <a:lstStyle/>
          <a:p>
            <a:pPr marL="0" indent="0" algn="just">
              <a:lnSpc>
                <a:spcPts val="1450"/>
              </a:lnSpc>
              <a:buNone/>
            </a:pPr>
            <a:r>
              <a:rPr lang="en-US" sz="1400" dirty="0">
                <a:solidFill>
                  <a:srgbClr val="222E2E"/>
                </a:solidFill>
                <a:latin typeface="Calibri" pitchFamily="34" charset="0"/>
                <a:ea typeface="Calibri" pitchFamily="34" charset="-122"/>
                <a:cs typeface="Calibri" pitchFamily="34" charset="-120"/>
              </a:rPr>
              <a:t>Marco adoptado y adaptado por más de 100 países; incluye 5 estrategias interdependientes y ha guiado reformas en Brasil, Chile, Uruguay, Indonesia y otras regiones.</a:t>
            </a:r>
            <a:endParaRPr lang="en-US" sz="1400" dirty="0"/>
          </a:p>
        </p:txBody>
      </p:sp>
      <p:sp>
        <p:nvSpPr>
          <p:cNvPr id="19" name="Shape 16"/>
          <p:cNvSpPr/>
          <p:nvPr/>
        </p:nvSpPr>
        <p:spPr>
          <a:xfrm>
            <a:off x="320040" y="5340095"/>
            <a:ext cx="11521440" cy="812803"/>
          </a:xfrm>
          <a:prstGeom prst="roundRect">
            <a:avLst>
              <a:gd name="adj" fmla="val 6000"/>
            </a:avLst>
          </a:prstGeom>
          <a:solidFill>
            <a:srgbClr val="E4F5F3"/>
          </a:solidFill>
          <a:ln w="15875">
            <a:solidFill>
              <a:srgbClr val="00A896"/>
            </a:solidFill>
            <a:prstDash val="solid"/>
          </a:ln>
        </p:spPr>
      </p:sp>
      <p:sp>
        <p:nvSpPr>
          <p:cNvPr id="20" name="Text 17"/>
          <p:cNvSpPr/>
          <p:nvPr/>
        </p:nvSpPr>
        <p:spPr>
          <a:xfrm>
            <a:off x="548640" y="5284219"/>
            <a:ext cx="3291840" cy="868680"/>
          </a:xfrm>
          <a:prstGeom prst="rect">
            <a:avLst/>
          </a:prstGeom>
          <a:noFill/>
          <a:ln/>
        </p:spPr>
        <p:txBody>
          <a:bodyPr wrap="square" rtlCol="0" anchor="ctr"/>
          <a:lstStyle/>
          <a:p>
            <a:pPr marL="0" indent="0">
              <a:buNone/>
            </a:pPr>
            <a:r>
              <a:rPr lang="en-US" sz="3400" b="1" dirty="0">
                <a:solidFill>
                  <a:srgbClr val="028090"/>
                </a:solidFill>
                <a:latin typeface="Cambria" pitchFamily="34" charset="0"/>
                <a:ea typeface="Cambria" pitchFamily="34" charset="-122"/>
                <a:cs typeface="Cambria" pitchFamily="34" charset="-120"/>
              </a:rPr>
              <a:t>4 500 millones</a:t>
            </a:r>
            <a:endParaRPr lang="en-US" sz="3400" dirty="0"/>
          </a:p>
        </p:txBody>
      </p:sp>
      <p:sp>
        <p:nvSpPr>
          <p:cNvPr id="21" name="Text 18"/>
          <p:cNvSpPr/>
          <p:nvPr/>
        </p:nvSpPr>
        <p:spPr>
          <a:xfrm>
            <a:off x="3931920" y="5238499"/>
            <a:ext cx="7680960" cy="1005840"/>
          </a:xfrm>
          <a:prstGeom prst="rect">
            <a:avLst/>
          </a:prstGeom>
          <a:noFill/>
          <a:ln/>
        </p:spPr>
        <p:txBody>
          <a:bodyPr wrap="square" rtlCol="0" anchor="ctr"/>
          <a:lstStyle/>
          <a:p>
            <a:pPr marL="0" indent="0" algn="just">
              <a:lnSpc>
                <a:spcPts val="1600"/>
              </a:lnSpc>
              <a:buNone/>
            </a:pPr>
            <a:r>
              <a:rPr lang="en-US" sz="1250" dirty="0">
                <a:solidFill>
                  <a:srgbClr val="222E2E"/>
                </a:solidFill>
                <a:latin typeface="Calibri" pitchFamily="34" charset="0"/>
                <a:ea typeface="Calibri" pitchFamily="34" charset="-122"/>
                <a:cs typeface="Calibri" pitchFamily="34" charset="-120"/>
              </a:rPr>
              <a:t>de personas en el mundo no estaban cubiertas por servicios esenciales de salud en 2021, según la OMS, la reorientación hacia la persona no es un lujo conceptual, es una urgencia de cobertura.</a:t>
            </a:r>
            <a:endParaRPr lang="en-US" sz="1250" dirty="0"/>
          </a:p>
        </p:txBody>
      </p:sp>
      <p:sp>
        <p:nvSpPr>
          <p:cNvPr id="22" name="Text 19"/>
          <p:cNvSpPr/>
          <p:nvPr/>
        </p:nvSpPr>
        <p:spPr>
          <a:xfrm>
            <a:off x="320040" y="6473952"/>
            <a:ext cx="11521440" cy="292608"/>
          </a:xfrm>
          <a:prstGeom prst="rect">
            <a:avLst/>
          </a:prstGeom>
          <a:noFill/>
          <a:ln/>
        </p:spPr>
        <p:txBody>
          <a:bodyPr wrap="square" rtlCol="0" anchor="ctr"/>
          <a:lstStyle/>
          <a:p>
            <a:pPr marL="0" indent="0">
              <a:buNone/>
            </a:pPr>
            <a:r>
              <a:rPr lang="en-US" sz="950" i="1" dirty="0">
                <a:solidFill>
                  <a:srgbClr val="5A6B6E"/>
                </a:solidFill>
                <a:latin typeface="Calibri" pitchFamily="34" charset="0"/>
                <a:ea typeface="Calibri" pitchFamily="34" charset="-122"/>
                <a:cs typeface="Calibri" pitchFamily="34" charset="-120"/>
              </a:rPr>
              <a:t>OMS, 77.ª Asamblea Mundial de la Salud, Informe A77/32 (2024) · Cacace &amp; Giménez-Lascano (2022).</a:t>
            </a:r>
            <a:endParaRPr lang="en-US" sz="950" dirty="0"/>
          </a:p>
        </p:txBody>
      </p:sp>
      <p:pic>
        <p:nvPicPr>
          <p:cNvPr id="24" name="Imagen 23">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r>
              <a:rPr lang="es-MX" sz="2500" b="1" dirty="0">
                <a:solidFill>
                  <a:srgbClr val="0B3D3F"/>
                </a:solidFill>
                <a:latin typeface="Cambria" pitchFamily="34" charset="0"/>
                <a:ea typeface="Cambria" pitchFamily="34" charset="-122"/>
                <a:cs typeface="Cambria" pitchFamily="34" charset="-120"/>
              </a:rPr>
              <a:t>No es “trato amable” únicamente: es modelo de atención</a:t>
            </a:r>
          </a:p>
        </p:txBody>
      </p:sp>
      <p:sp>
        <p:nvSpPr>
          <p:cNvPr id="25" name="Shape 3"/>
          <p:cNvSpPr/>
          <p:nvPr/>
        </p:nvSpPr>
        <p:spPr>
          <a:xfrm>
            <a:off x="868680" y="1828800"/>
            <a:ext cx="2057400" cy="1874520"/>
          </a:xfrm>
          <a:prstGeom prst="roundRect">
            <a:avLst>
              <a:gd name="adj" fmla="val 3902"/>
            </a:avLst>
          </a:prstGeom>
          <a:solidFill>
            <a:srgbClr val="F5FBFA"/>
          </a:solidFill>
          <a:ln w="12700">
            <a:solidFill>
              <a:srgbClr val="D8E6E4"/>
            </a:solidFill>
            <a:prstDash val="solid"/>
          </a:ln>
        </p:spPr>
      </p:sp>
      <p:sp>
        <p:nvSpPr>
          <p:cNvPr id="26" name="Text 4"/>
          <p:cNvSpPr/>
          <p:nvPr/>
        </p:nvSpPr>
        <p:spPr>
          <a:xfrm>
            <a:off x="1005840" y="2148840"/>
            <a:ext cx="1783080" cy="320040"/>
          </a:xfrm>
          <a:prstGeom prst="rect">
            <a:avLst/>
          </a:prstGeom>
          <a:noFill/>
          <a:ln/>
        </p:spPr>
        <p:txBody>
          <a:bodyPr wrap="square" lIns="0" tIns="0" rIns="0" bIns="0" rtlCol="0" anchor="ctr"/>
          <a:lstStyle/>
          <a:p>
            <a:pPr marL="0" indent="0" algn="ctr">
              <a:buNone/>
            </a:pPr>
            <a:r>
              <a:rPr lang="en-US" sz="2400" b="1" dirty="0">
                <a:solidFill>
                  <a:srgbClr val="008B8B"/>
                </a:solidFill>
              </a:rPr>
              <a:t>Biológico</a:t>
            </a:r>
            <a:endParaRPr lang="en-US" sz="2400" dirty="0"/>
          </a:p>
        </p:txBody>
      </p:sp>
      <p:sp>
        <p:nvSpPr>
          <p:cNvPr id="27" name="Text 5"/>
          <p:cNvSpPr/>
          <p:nvPr/>
        </p:nvSpPr>
        <p:spPr>
          <a:xfrm>
            <a:off x="1051560" y="2788920"/>
            <a:ext cx="1691640" cy="502920"/>
          </a:xfrm>
          <a:prstGeom prst="rect">
            <a:avLst/>
          </a:prstGeom>
          <a:noFill/>
          <a:ln/>
        </p:spPr>
        <p:txBody>
          <a:bodyPr wrap="square" lIns="0" tIns="0" rIns="0" bIns="0" rtlCol="0" anchor="ctr">
            <a:normAutofit fontScale="92500"/>
          </a:bodyPr>
          <a:lstStyle/>
          <a:p>
            <a:pPr marL="0" indent="0" algn="ctr">
              <a:buNone/>
            </a:pPr>
            <a:r>
              <a:rPr lang="en-US" sz="1400" dirty="0">
                <a:solidFill>
                  <a:srgbClr val="193033"/>
                </a:solidFill>
              </a:rPr>
              <a:t>Diagnóstico, tratamiento y seguridad clínica.</a:t>
            </a:r>
            <a:endParaRPr lang="en-US" sz="1400" dirty="0"/>
          </a:p>
        </p:txBody>
      </p:sp>
      <p:sp>
        <p:nvSpPr>
          <p:cNvPr id="28" name="Shape 6"/>
          <p:cNvSpPr/>
          <p:nvPr/>
        </p:nvSpPr>
        <p:spPr>
          <a:xfrm>
            <a:off x="3611880" y="1828800"/>
            <a:ext cx="2057400" cy="1874520"/>
          </a:xfrm>
          <a:prstGeom prst="roundRect">
            <a:avLst>
              <a:gd name="adj" fmla="val 3902"/>
            </a:avLst>
          </a:prstGeom>
          <a:solidFill>
            <a:srgbClr val="FFFFFF"/>
          </a:solidFill>
          <a:ln w="12700">
            <a:solidFill>
              <a:srgbClr val="D8E6E4"/>
            </a:solidFill>
            <a:prstDash val="solid"/>
          </a:ln>
        </p:spPr>
      </p:sp>
      <p:sp>
        <p:nvSpPr>
          <p:cNvPr id="29" name="Text 7"/>
          <p:cNvSpPr/>
          <p:nvPr/>
        </p:nvSpPr>
        <p:spPr>
          <a:xfrm>
            <a:off x="3749040" y="2148840"/>
            <a:ext cx="1783080" cy="320040"/>
          </a:xfrm>
          <a:prstGeom prst="rect">
            <a:avLst/>
          </a:prstGeom>
          <a:noFill/>
          <a:ln/>
        </p:spPr>
        <p:txBody>
          <a:bodyPr wrap="square" lIns="0" tIns="0" rIns="0" bIns="0" rtlCol="0" anchor="ctr"/>
          <a:lstStyle/>
          <a:p>
            <a:pPr marL="0" indent="0" algn="ctr">
              <a:buNone/>
            </a:pPr>
            <a:r>
              <a:rPr lang="en-US" sz="2400" b="1" dirty="0">
                <a:solidFill>
                  <a:srgbClr val="008B8B"/>
                </a:solidFill>
              </a:rPr>
              <a:t>Emocional</a:t>
            </a:r>
            <a:endParaRPr lang="en-US" sz="2400" dirty="0"/>
          </a:p>
        </p:txBody>
      </p:sp>
      <p:sp>
        <p:nvSpPr>
          <p:cNvPr id="30" name="Text 8"/>
          <p:cNvSpPr/>
          <p:nvPr/>
        </p:nvSpPr>
        <p:spPr>
          <a:xfrm>
            <a:off x="3794760" y="2788920"/>
            <a:ext cx="1691640" cy="502920"/>
          </a:xfrm>
          <a:prstGeom prst="rect">
            <a:avLst/>
          </a:prstGeom>
          <a:noFill/>
          <a:ln/>
        </p:spPr>
        <p:txBody>
          <a:bodyPr wrap="square" lIns="0" tIns="0" rIns="0" bIns="0" rtlCol="0" anchor="ctr">
            <a:normAutofit fontScale="85000" lnSpcReduction="10000"/>
          </a:bodyPr>
          <a:lstStyle/>
          <a:p>
            <a:pPr marL="0" indent="0" algn="ctr">
              <a:buNone/>
            </a:pPr>
            <a:r>
              <a:rPr lang="en-US" sz="1600" dirty="0">
                <a:solidFill>
                  <a:srgbClr val="193033"/>
                </a:solidFill>
              </a:rPr>
              <a:t>Miedos, expectativas, dolor e incertidumbre.</a:t>
            </a:r>
            <a:endParaRPr lang="en-US" sz="1600" dirty="0"/>
          </a:p>
        </p:txBody>
      </p:sp>
      <p:sp>
        <p:nvSpPr>
          <p:cNvPr id="31" name="Shape 9"/>
          <p:cNvSpPr/>
          <p:nvPr/>
        </p:nvSpPr>
        <p:spPr>
          <a:xfrm>
            <a:off x="6355080" y="1828800"/>
            <a:ext cx="2057400" cy="1874520"/>
          </a:xfrm>
          <a:prstGeom prst="roundRect">
            <a:avLst>
              <a:gd name="adj" fmla="val 3902"/>
            </a:avLst>
          </a:prstGeom>
          <a:solidFill>
            <a:srgbClr val="F5FBFA"/>
          </a:solidFill>
          <a:ln w="12700">
            <a:solidFill>
              <a:srgbClr val="D8E6E4"/>
            </a:solidFill>
            <a:prstDash val="solid"/>
          </a:ln>
        </p:spPr>
      </p:sp>
      <p:sp>
        <p:nvSpPr>
          <p:cNvPr id="32" name="Text 10"/>
          <p:cNvSpPr/>
          <p:nvPr/>
        </p:nvSpPr>
        <p:spPr>
          <a:xfrm>
            <a:off x="6492240" y="2148840"/>
            <a:ext cx="1783080" cy="320040"/>
          </a:xfrm>
          <a:prstGeom prst="rect">
            <a:avLst/>
          </a:prstGeom>
          <a:noFill/>
          <a:ln/>
        </p:spPr>
        <p:txBody>
          <a:bodyPr wrap="square" lIns="0" tIns="0" rIns="0" bIns="0" rtlCol="0" anchor="ctr"/>
          <a:lstStyle/>
          <a:p>
            <a:pPr marL="0" indent="0" algn="ctr">
              <a:buNone/>
            </a:pPr>
            <a:r>
              <a:rPr lang="en-US" sz="2400" b="1" dirty="0">
                <a:solidFill>
                  <a:srgbClr val="008B8B"/>
                </a:solidFill>
              </a:rPr>
              <a:t>Contextual</a:t>
            </a:r>
            <a:endParaRPr lang="en-US" sz="2400" dirty="0"/>
          </a:p>
        </p:txBody>
      </p:sp>
      <p:sp>
        <p:nvSpPr>
          <p:cNvPr id="33" name="Text 11"/>
          <p:cNvSpPr/>
          <p:nvPr/>
        </p:nvSpPr>
        <p:spPr>
          <a:xfrm>
            <a:off x="6537960" y="2788920"/>
            <a:ext cx="1691640" cy="502920"/>
          </a:xfrm>
          <a:prstGeom prst="rect">
            <a:avLst/>
          </a:prstGeom>
          <a:noFill/>
          <a:ln/>
        </p:spPr>
        <p:txBody>
          <a:bodyPr wrap="square" lIns="0" tIns="0" rIns="0" bIns="0" rtlCol="0" anchor="ctr">
            <a:normAutofit fontScale="92500" lnSpcReduction="20000"/>
          </a:bodyPr>
          <a:lstStyle/>
          <a:p>
            <a:pPr marL="0" indent="0" algn="ctr">
              <a:buNone/>
            </a:pPr>
            <a:r>
              <a:rPr lang="en-US" sz="1400" dirty="0">
                <a:solidFill>
                  <a:srgbClr val="193033"/>
                </a:solidFill>
              </a:rPr>
              <a:t>Familia, barreras, cultura, recursos y continuidad.</a:t>
            </a:r>
            <a:endParaRPr lang="en-US" sz="1400" dirty="0"/>
          </a:p>
        </p:txBody>
      </p:sp>
      <p:sp>
        <p:nvSpPr>
          <p:cNvPr id="34" name="Shape 12"/>
          <p:cNvSpPr/>
          <p:nvPr/>
        </p:nvSpPr>
        <p:spPr>
          <a:xfrm>
            <a:off x="9098280" y="1828800"/>
            <a:ext cx="2057400" cy="1874520"/>
          </a:xfrm>
          <a:prstGeom prst="roundRect">
            <a:avLst>
              <a:gd name="adj" fmla="val 3902"/>
            </a:avLst>
          </a:prstGeom>
          <a:solidFill>
            <a:srgbClr val="FFFFFF"/>
          </a:solidFill>
          <a:ln w="12700">
            <a:solidFill>
              <a:srgbClr val="D8E6E4"/>
            </a:solidFill>
            <a:prstDash val="solid"/>
          </a:ln>
        </p:spPr>
      </p:sp>
      <p:sp>
        <p:nvSpPr>
          <p:cNvPr id="35" name="Text 13"/>
          <p:cNvSpPr/>
          <p:nvPr/>
        </p:nvSpPr>
        <p:spPr>
          <a:xfrm>
            <a:off x="9235440" y="2148840"/>
            <a:ext cx="1783080" cy="320040"/>
          </a:xfrm>
          <a:prstGeom prst="rect">
            <a:avLst/>
          </a:prstGeom>
          <a:noFill/>
          <a:ln/>
        </p:spPr>
        <p:txBody>
          <a:bodyPr wrap="square" lIns="0" tIns="0" rIns="0" bIns="0" rtlCol="0" anchor="ctr"/>
          <a:lstStyle/>
          <a:p>
            <a:pPr marL="0" indent="0" algn="ctr">
              <a:buNone/>
            </a:pPr>
            <a:r>
              <a:rPr lang="en-US" sz="2400" b="1" dirty="0">
                <a:solidFill>
                  <a:srgbClr val="008B8B"/>
                </a:solidFill>
              </a:rPr>
              <a:t>Decisional</a:t>
            </a:r>
            <a:endParaRPr lang="en-US" sz="2400" dirty="0"/>
          </a:p>
        </p:txBody>
      </p:sp>
      <p:sp>
        <p:nvSpPr>
          <p:cNvPr id="36" name="Text 14"/>
          <p:cNvSpPr/>
          <p:nvPr/>
        </p:nvSpPr>
        <p:spPr>
          <a:xfrm>
            <a:off x="9281160" y="2788920"/>
            <a:ext cx="1691640" cy="502920"/>
          </a:xfrm>
          <a:prstGeom prst="rect">
            <a:avLst/>
          </a:prstGeom>
          <a:noFill/>
          <a:ln/>
        </p:spPr>
        <p:txBody>
          <a:bodyPr wrap="square" lIns="0" tIns="0" rIns="0" bIns="0" rtlCol="0" anchor="ctr">
            <a:noAutofit/>
          </a:bodyPr>
          <a:lstStyle/>
          <a:p>
            <a:pPr marL="0" indent="0" algn="ctr">
              <a:buNone/>
            </a:pPr>
            <a:r>
              <a:rPr lang="en-US" sz="1600" dirty="0">
                <a:solidFill>
                  <a:srgbClr val="193033"/>
                </a:solidFill>
              </a:rPr>
              <a:t>Información clara y participación posible.</a:t>
            </a:r>
            <a:endParaRPr lang="en-US" sz="1600" dirty="0"/>
          </a:p>
        </p:txBody>
      </p:sp>
      <p:sp>
        <p:nvSpPr>
          <p:cNvPr id="37" name="Text 15"/>
          <p:cNvSpPr/>
          <p:nvPr/>
        </p:nvSpPr>
        <p:spPr>
          <a:xfrm>
            <a:off x="2194560" y="4434840"/>
            <a:ext cx="7772400" cy="411480"/>
          </a:xfrm>
          <a:prstGeom prst="rect">
            <a:avLst/>
          </a:prstGeom>
          <a:noFill/>
          <a:ln/>
        </p:spPr>
        <p:txBody>
          <a:bodyPr wrap="square" lIns="0" tIns="0" rIns="0" bIns="0" rtlCol="0" anchor="ctr"/>
          <a:lstStyle/>
          <a:p>
            <a:pPr marL="0" indent="0" algn="ctr">
              <a:buNone/>
            </a:pPr>
            <a:r>
              <a:rPr lang="en-US" sz="3200" b="1" dirty="0">
                <a:solidFill>
                  <a:srgbClr val="183D4A"/>
                </a:solidFill>
                <a:latin typeface="Georgia" pitchFamily="34" charset="0"/>
                <a:ea typeface="Georgia" pitchFamily="34" charset="-122"/>
                <a:cs typeface="Georgia" pitchFamily="34" charset="-120"/>
              </a:rPr>
              <a:t>Atención centrada en la persona</a:t>
            </a:r>
            <a:endParaRPr lang="en-US" sz="3200" dirty="0"/>
          </a:p>
        </p:txBody>
      </p:sp>
      <p:sp>
        <p:nvSpPr>
          <p:cNvPr id="38" name="Text 16"/>
          <p:cNvSpPr/>
          <p:nvPr/>
        </p:nvSpPr>
        <p:spPr>
          <a:xfrm>
            <a:off x="2834640" y="4892040"/>
            <a:ext cx="6492240" cy="256032"/>
          </a:xfrm>
          <a:prstGeom prst="rect">
            <a:avLst/>
          </a:prstGeom>
          <a:noFill/>
          <a:ln/>
        </p:spPr>
        <p:txBody>
          <a:bodyPr wrap="square" lIns="0" tIns="0" rIns="0" bIns="0" rtlCol="0" anchor="ctr"/>
          <a:lstStyle/>
          <a:p>
            <a:pPr marL="0" indent="0" algn="ctr">
              <a:buNone/>
            </a:pPr>
            <a:r>
              <a:rPr lang="en-US" dirty="0">
                <a:solidFill>
                  <a:srgbClr val="657174"/>
                </a:solidFill>
              </a:rPr>
              <a:t>mirar el caso clínico sin perder de vista a quien lo vive.</a:t>
            </a:r>
            <a:endParaRPr lang="en-US" dirty="0"/>
          </a:p>
        </p:txBody>
      </p:sp>
    </p:spTree>
    <p:extLst>
      <p:ext uri="{BB962C8B-B14F-4D97-AF65-F5344CB8AC3E}">
        <p14:creationId xmlns:p14="http://schemas.microsoft.com/office/powerpoint/2010/main" val="3442982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r>
              <a:rPr lang="es-MX" sz="2500" b="1" dirty="0">
                <a:solidFill>
                  <a:srgbClr val="0B3D3F"/>
                </a:solidFill>
                <a:latin typeface="Cambria" pitchFamily="34" charset="0"/>
                <a:ea typeface="Cambria" pitchFamily="34" charset="-122"/>
                <a:cs typeface="Cambria" pitchFamily="34" charset="-120"/>
              </a:rPr>
              <a:t>La experiencia ocurre en toda la trayectoria</a:t>
            </a:r>
          </a:p>
        </p:txBody>
      </p:sp>
      <p:sp>
        <p:nvSpPr>
          <p:cNvPr id="25" name="Text 3"/>
          <p:cNvSpPr/>
          <p:nvPr/>
        </p:nvSpPr>
        <p:spPr>
          <a:xfrm>
            <a:off x="914400" y="1417320"/>
            <a:ext cx="10378440" cy="384048"/>
          </a:xfrm>
          <a:prstGeom prst="rect">
            <a:avLst/>
          </a:prstGeom>
          <a:noFill/>
          <a:ln/>
        </p:spPr>
        <p:txBody>
          <a:bodyPr wrap="square" lIns="0" tIns="0" rIns="0" bIns="0" rtlCol="0" anchor="ctr">
            <a:normAutofit fontScale="85000" lnSpcReduction="10000"/>
          </a:bodyPr>
          <a:lstStyle/>
          <a:p>
            <a:pPr marL="0" indent="0" algn="ctr">
              <a:buNone/>
            </a:pPr>
            <a:r>
              <a:rPr lang="en-US" sz="2400" b="1" dirty="0">
                <a:solidFill>
                  <a:srgbClr val="183D4A"/>
                </a:solidFill>
              </a:rPr>
              <a:t>Experiencia = suma de interacciones + cultura organizacional + percepciones de la persona</a:t>
            </a:r>
            <a:endParaRPr lang="en-US" sz="2400" dirty="0"/>
          </a:p>
        </p:txBody>
      </p:sp>
      <p:sp>
        <p:nvSpPr>
          <p:cNvPr id="26" name="Text 4"/>
          <p:cNvSpPr/>
          <p:nvPr/>
        </p:nvSpPr>
        <p:spPr>
          <a:xfrm>
            <a:off x="1143000" y="1883664"/>
            <a:ext cx="9875520" cy="228600"/>
          </a:xfrm>
          <a:prstGeom prst="rect">
            <a:avLst/>
          </a:prstGeom>
          <a:noFill/>
          <a:ln/>
        </p:spPr>
        <p:txBody>
          <a:bodyPr wrap="square" lIns="0" tIns="0" rIns="0" bIns="0" rtlCol="0" anchor="ctr"/>
          <a:lstStyle/>
          <a:p>
            <a:pPr marL="0" indent="0" algn="ctr">
              <a:buNone/>
            </a:pPr>
            <a:r>
              <a:rPr lang="en-US" dirty="0">
                <a:solidFill>
                  <a:srgbClr val="657174"/>
                </a:solidFill>
              </a:rPr>
              <a:t>Desde la llamada o cita, hasta la orientación, espera, consulta, reclamo, farmacia y seguimiento.</a:t>
            </a:r>
            <a:endParaRPr lang="en-US" dirty="0"/>
          </a:p>
        </p:txBody>
      </p:sp>
      <p:pic>
        <p:nvPicPr>
          <p:cNvPr id="27" name="Imagen 26"/>
          <p:cNvPicPr>
            <a:picLocks noChangeAspect="1"/>
          </p:cNvPicPr>
          <p:nvPr/>
        </p:nvPicPr>
        <p:blipFill rotWithShape="1">
          <a:blip r:embed="rId4">
            <a:extLst>
              <a:ext uri="{28A0092B-C50C-407E-A947-70E740481C1C}">
                <a14:useLocalDpi xmlns:a14="http://schemas.microsoft.com/office/drawing/2010/main" val="0"/>
              </a:ext>
            </a:extLst>
          </a:blip>
          <a:srcRect t="12121" b="9091"/>
          <a:stretch/>
        </p:blipFill>
        <p:spPr>
          <a:xfrm>
            <a:off x="1522156" y="2298183"/>
            <a:ext cx="9162928" cy="4063001"/>
          </a:xfrm>
          <a:prstGeom prst="rect">
            <a:avLst/>
          </a:prstGeom>
        </p:spPr>
      </p:pic>
    </p:spTree>
    <p:extLst>
      <p:ext uri="{BB962C8B-B14F-4D97-AF65-F5344CB8AC3E}">
        <p14:creationId xmlns:p14="http://schemas.microsoft.com/office/powerpoint/2010/main" val="1828780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r>
              <a:rPr lang="es-MX" sz="2500" b="1" dirty="0">
                <a:solidFill>
                  <a:srgbClr val="0B3D3F"/>
                </a:solidFill>
                <a:latin typeface="Cambria" pitchFamily="34" charset="0"/>
                <a:ea typeface="Cambria" pitchFamily="34" charset="-122"/>
                <a:cs typeface="Cambria" pitchFamily="34" charset="-120"/>
              </a:rPr>
              <a:t>Los momentos de verdad sostienen o rompen la confianza</a:t>
            </a:r>
          </a:p>
        </p:txBody>
      </p:sp>
      <p:sp>
        <p:nvSpPr>
          <p:cNvPr id="12" name="Shape 3"/>
          <p:cNvSpPr/>
          <p:nvPr/>
        </p:nvSpPr>
        <p:spPr>
          <a:xfrm>
            <a:off x="914400" y="1965960"/>
            <a:ext cx="2834640" cy="2148840"/>
          </a:xfrm>
          <a:prstGeom prst="roundRect">
            <a:avLst>
              <a:gd name="adj" fmla="val 3404"/>
            </a:avLst>
          </a:prstGeom>
          <a:solidFill>
            <a:srgbClr val="FFFFFF"/>
          </a:solidFill>
          <a:ln w="12700">
            <a:solidFill>
              <a:srgbClr val="D8E6E4"/>
            </a:solidFill>
            <a:prstDash val="solid"/>
          </a:ln>
        </p:spPr>
      </p:sp>
      <p:sp>
        <p:nvSpPr>
          <p:cNvPr id="13" name="Text 4"/>
          <p:cNvSpPr/>
          <p:nvPr/>
        </p:nvSpPr>
        <p:spPr>
          <a:xfrm>
            <a:off x="1143000" y="2331720"/>
            <a:ext cx="2377440" cy="320040"/>
          </a:xfrm>
          <a:prstGeom prst="rect">
            <a:avLst/>
          </a:prstGeom>
          <a:noFill/>
          <a:ln/>
        </p:spPr>
        <p:txBody>
          <a:bodyPr wrap="square" lIns="0" tIns="0" rIns="0" bIns="0" rtlCol="0" anchor="ctr"/>
          <a:lstStyle/>
          <a:p>
            <a:pPr marL="0" indent="0" algn="ctr">
              <a:buNone/>
            </a:pPr>
            <a:r>
              <a:rPr lang="en-US" sz="2800" b="1" dirty="0">
                <a:solidFill>
                  <a:srgbClr val="008B8B"/>
                </a:solidFill>
              </a:rPr>
              <a:t>Antes</a:t>
            </a:r>
            <a:endParaRPr lang="en-US" sz="2800" dirty="0"/>
          </a:p>
        </p:txBody>
      </p:sp>
      <p:sp>
        <p:nvSpPr>
          <p:cNvPr id="14" name="Text 5"/>
          <p:cNvSpPr/>
          <p:nvPr/>
        </p:nvSpPr>
        <p:spPr>
          <a:xfrm>
            <a:off x="1143000" y="2971800"/>
            <a:ext cx="2377440" cy="566928"/>
          </a:xfrm>
          <a:prstGeom prst="rect">
            <a:avLst/>
          </a:prstGeom>
          <a:noFill/>
          <a:ln/>
        </p:spPr>
        <p:txBody>
          <a:bodyPr wrap="square" lIns="0" tIns="0" rIns="0" bIns="0" rtlCol="0" anchor="ctr">
            <a:normAutofit fontScale="92500"/>
          </a:bodyPr>
          <a:lstStyle/>
          <a:p>
            <a:pPr marL="0" indent="0" algn="ctr">
              <a:buNone/>
            </a:pPr>
            <a:r>
              <a:rPr lang="en-US" dirty="0">
                <a:solidFill>
                  <a:srgbClr val="193033"/>
                </a:solidFill>
              </a:rPr>
              <a:t>¿Me orientaron bien? ¿Entendí qué debo hacer?</a:t>
            </a:r>
            <a:endParaRPr lang="en-US" dirty="0"/>
          </a:p>
        </p:txBody>
      </p:sp>
      <p:sp>
        <p:nvSpPr>
          <p:cNvPr id="15" name="Shape 6"/>
          <p:cNvSpPr/>
          <p:nvPr/>
        </p:nvSpPr>
        <p:spPr>
          <a:xfrm>
            <a:off x="4434840" y="1965960"/>
            <a:ext cx="2834640" cy="2148840"/>
          </a:xfrm>
          <a:prstGeom prst="roundRect">
            <a:avLst>
              <a:gd name="adj" fmla="val 3404"/>
            </a:avLst>
          </a:prstGeom>
          <a:solidFill>
            <a:srgbClr val="EDF8F7"/>
          </a:solidFill>
          <a:ln w="12700">
            <a:solidFill>
              <a:srgbClr val="D8E6E4"/>
            </a:solidFill>
            <a:prstDash val="solid"/>
          </a:ln>
        </p:spPr>
      </p:sp>
      <p:sp>
        <p:nvSpPr>
          <p:cNvPr id="16" name="Text 7"/>
          <p:cNvSpPr/>
          <p:nvPr/>
        </p:nvSpPr>
        <p:spPr>
          <a:xfrm>
            <a:off x="4663440" y="2331720"/>
            <a:ext cx="2377440" cy="320040"/>
          </a:xfrm>
          <a:prstGeom prst="rect">
            <a:avLst/>
          </a:prstGeom>
          <a:noFill/>
          <a:ln/>
        </p:spPr>
        <p:txBody>
          <a:bodyPr wrap="square" lIns="0" tIns="0" rIns="0" bIns="0" rtlCol="0" anchor="ctr"/>
          <a:lstStyle/>
          <a:p>
            <a:pPr marL="0" indent="0" algn="ctr">
              <a:buNone/>
            </a:pPr>
            <a:r>
              <a:rPr lang="en-US" sz="2800" b="1" dirty="0">
                <a:solidFill>
                  <a:srgbClr val="008B8B"/>
                </a:solidFill>
              </a:rPr>
              <a:t>Durante</a:t>
            </a:r>
            <a:endParaRPr lang="en-US" sz="2800" dirty="0"/>
          </a:p>
        </p:txBody>
      </p:sp>
      <p:sp>
        <p:nvSpPr>
          <p:cNvPr id="17" name="Text 8"/>
          <p:cNvSpPr/>
          <p:nvPr/>
        </p:nvSpPr>
        <p:spPr>
          <a:xfrm>
            <a:off x="4663440" y="2971800"/>
            <a:ext cx="2377440" cy="566928"/>
          </a:xfrm>
          <a:prstGeom prst="rect">
            <a:avLst/>
          </a:prstGeom>
          <a:noFill/>
          <a:ln/>
        </p:spPr>
        <p:txBody>
          <a:bodyPr wrap="square" lIns="0" tIns="0" rIns="0" bIns="0" rtlCol="0" anchor="ctr">
            <a:normAutofit/>
          </a:bodyPr>
          <a:lstStyle/>
          <a:p>
            <a:pPr marL="0" indent="0" algn="ctr">
              <a:buNone/>
            </a:pPr>
            <a:r>
              <a:rPr lang="en-US" dirty="0">
                <a:solidFill>
                  <a:srgbClr val="193033"/>
                </a:solidFill>
              </a:rPr>
              <a:t>¿Me escucharon? ¿Me trataron con respeto?</a:t>
            </a:r>
            <a:endParaRPr lang="en-US" dirty="0"/>
          </a:p>
        </p:txBody>
      </p:sp>
      <p:sp>
        <p:nvSpPr>
          <p:cNvPr id="18" name="Shape 9"/>
          <p:cNvSpPr/>
          <p:nvPr/>
        </p:nvSpPr>
        <p:spPr>
          <a:xfrm>
            <a:off x="7955280" y="1965960"/>
            <a:ext cx="2834640" cy="2148840"/>
          </a:xfrm>
          <a:prstGeom prst="roundRect">
            <a:avLst>
              <a:gd name="adj" fmla="val 3404"/>
            </a:avLst>
          </a:prstGeom>
          <a:solidFill>
            <a:srgbClr val="FFFFFF"/>
          </a:solidFill>
          <a:ln w="12700">
            <a:solidFill>
              <a:srgbClr val="D8E6E4"/>
            </a:solidFill>
            <a:prstDash val="solid"/>
          </a:ln>
        </p:spPr>
      </p:sp>
      <p:sp>
        <p:nvSpPr>
          <p:cNvPr id="19" name="Text 10"/>
          <p:cNvSpPr/>
          <p:nvPr/>
        </p:nvSpPr>
        <p:spPr>
          <a:xfrm>
            <a:off x="8183880" y="2331720"/>
            <a:ext cx="2377440" cy="320040"/>
          </a:xfrm>
          <a:prstGeom prst="rect">
            <a:avLst/>
          </a:prstGeom>
          <a:noFill/>
          <a:ln/>
        </p:spPr>
        <p:txBody>
          <a:bodyPr wrap="square" lIns="0" tIns="0" rIns="0" bIns="0" rtlCol="0" anchor="ctr"/>
          <a:lstStyle/>
          <a:p>
            <a:pPr marL="0" indent="0" algn="ctr">
              <a:buNone/>
            </a:pPr>
            <a:r>
              <a:rPr lang="en-US" sz="2800" b="1" dirty="0">
                <a:solidFill>
                  <a:srgbClr val="008B8B"/>
                </a:solidFill>
              </a:rPr>
              <a:t>Después</a:t>
            </a:r>
            <a:endParaRPr lang="en-US" sz="2800" dirty="0"/>
          </a:p>
        </p:txBody>
      </p:sp>
      <p:sp>
        <p:nvSpPr>
          <p:cNvPr id="20" name="Text 11"/>
          <p:cNvSpPr/>
          <p:nvPr/>
        </p:nvSpPr>
        <p:spPr>
          <a:xfrm>
            <a:off x="8183880" y="2971800"/>
            <a:ext cx="2377440" cy="566928"/>
          </a:xfrm>
          <a:prstGeom prst="rect">
            <a:avLst/>
          </a:prstGeom>
          <a:noFill/>
          <a:ln/>
        </p:spPr>
        <p:txBody>
          <a:bodyPr wrap="square" lIns="0" tIns="0" rIns="0" bIns="0" rtlCol="0" anchor="ctr">
            <a:normAutofit fontScale="92500" lnSpcReduction="20000"/>
          </a:bodyPr>
          <a:lstStyle/>
          <a:p>
            <a:pPr marL="0" indent="0" algn="ctr">
              <a:buNone/>
            </a:pPr>
            <a:r>
              <a:rPr lang="en-US" sz="1600" dirty="0">
                <a:solidFill>
                  <a:srgbClr val="193033"/>
                </a:solidFill>
              </a:rPr>
              <a:t>¿Hubo seguimiento? ¿Respondieron mi duda o reclamo?</a:t>
            </a:r>
            <a:endParaRPr lang="en-US" sz="1600" dirty="0"/>
          </a:p>
        </p:txBody>
      </p:sp>
      <p:sp>
        <p:nvSpPr>
          <p:cNvPr id="21" name="Shape 12"/>
          <p:cNvSpPr/>
          <p:nvPr/>
        </p:nvSpPr>
        <p:spPr>
          <a:xfrm>
            <a:off x="1097280" y="5257800"/>
            <a:ext cx="10012680" cy="658368"/>
          </a:xfrm>
          <a:prstGeom prst="roundRect">
            <a:avLst>
              <a:gd name="adj" fmla="val 9722"/>
            </a:avLst>
          </a:prstGeom>
          <a:solidFill>
            <a:srgbClr val="F5FBFA"/>
          </a:solidFill>
          <a:ln w="12700">
            <a:solidFill>
              <a:srgbClr val="18B7A8"/>
            </a:solidFill>
            <a:prstDash val="solid"/>
          </a:ln>
        </p:spPr>
      </p:sp>
      <p:sp>
        <p:nvSpPr>
          <p:cNvPr id="22" name="Text 13"/>
          <p:cNvSpPr/>
          <p:nvPr/>
        </p:nvSpPr>
        <p:spPr>
          <a:xfrm>
            <a:off x="1261872" y="5404104"/>
            <a:ext cx="9683496" cy="365760"/>
          </a:xfrm>
          <a:prstGeom prst="rect">
            <a:avLst/>
          </a:prstGeom>
          <a:noFill/>
          <a:ln/>
        </p:spPr>
        <p:txBody>
          <a:bodyPr wrap="square" lIns="0" tIns="0" rIns="0" bIns="0" rtlCol="0" anchor="ctr">
            <a:noAutofit/>
          </a:bodyPr>
          <a:lstStyle/>
          <a:p>
            <a:pPr marL="0" indent="0" algn="ctr">
              <a:buNone/>
            </a:pPr>
            <a:r>
              <a:rPr lang="en-US" b="1" dirty="0">
                <a:solidFill>
                  <a:srgbClr val="193033"/>
                </a:solidFill>
              </a:rPr>
              <a:t>Una cultura de servicio busca que los buenos momentos no dependan de la suerte ni de la buena voluntad individual, sino de una forma consistente de trabajar.</a:t>
            </a:r>
            <a:endParaRPr lang="en-US" dirty="0"/>
          </a:p>
        </p:txBody>
      </p:sp>
    </p:spTree>
    <p:extLst>
      <p:ext uri="{BB962C8B-B14F-4D97-AF65-F5344CB8AC3E}">
        <p14:creationId xmlns:p14="http://schemas.microsoft.com/office/powerpoint/2010/main" val="3664881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56193" y="228138"/>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4 · PIRÁMIDE INVERTIDA</a:t>
            </a:r>
            <a:endParaRPr lang="en-US" sz="1250" dirty="0"/>
          </a:p>
        </p:txBody>
      </p:sp>
      <p:sp>
        <p:nvSpPr>
          <p:cNvPr id="4" name="Text 1"/>
          <p:cNvSpPr/>
          <p:nvPr/>
        </p:nvSpPr>
        <p:spPr>
          <a:xfrm>
            <a:off x="2356193" y="502458"/>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Cómo se construye y se sostiene una cultura de servicio</a:t>
            </a:r>
            <a:endParaRPr lang="en-US" sz="2500" dirty="0"/>
          </a:p>
        </p:txBody>
      </p:sp>
      <p:sp>
        <p:nvSpPr>
          <p:cNvPr id="5" name="Text 2"/>
          <p:cNvSpPr/>
          <p:nvPr/>
        </p:nvSpPr>
        <p:spPr>
          <a:xfrm>
            <a:off x="2356193" y="1033272"/>
            <a:ext cx="9966960" cy="320040"/>
          </a:xfrm>
          <a:prstGeom prst="rect">
            <a:avLst/>
          </a:prstGeom>
          <a:noFill/>
          <a:ln/>
        </p:spPr>
        <p:txBody>
          <a:bodyPr wrap="square" rtlCol="0" anchor="ctr"/>
          <a:lstStyle/>
          <a:p>
            <a:pPr marL="0" indent="0">
              <a:buNone/>
            </a:pPr>
            <a:r>
              <a:rPr lang="en-US" sz="1350" i="1" dirty="0">
                <a:solidFill>
                  <a:srgbClr val="5A6B6E"/>
                </a:solidFill>
                <a:latin typeface="Calibri" pitchFamily="34" charset="0"/>
                <a:ea typeface="Calibri" pitchFamily="34" charset="-122"/>
                <a:cs typeface="Calibri" pitchFamily="34" charset="-120"/>
              </a:rPr>
              <a:t>El organigrama al servicio del paciente, no al revés</a:t>
            </a:r>
            <a:endParaRPr lang="en-US" sz="135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Shape 4"/>
          <p:cNvSpPr/>
          <p:nvPr/>
        </p:nvSpPr>
        <p:spPr>
          <a:xfrm>
            <a:off x="594360" y="1691640"/>
            <a:ext cx="6035040" cy="749808"/>
          </a:xfrm>
          <a:prstGeom prst="rect">
            <a:avLst/>
          </a:prstGeom>
          <a:solidFill>
            <a:srgbClr val="028090"/>
          </a:solidFill>
          <a:ln w="19050">
            <a:solidFill>
              <a:srgbClr val="FFFFFF"/>
            </a:solidFill>
            <a:prstDash val="solid"/>
          </a:ln>
        </p:spPr>
      </p:sp>
      <p:sp>
        <p:nvSpPr>
          <p:cNvPr id="8" name="Text 5"/>
          <p:cNvSpPr/>
          <p:nvPr/>
        </p:nvSpPr>
        <p:spPr>
          <a:xfrm>
            <a:off x="685800" y="1691640"/>
            <a:ext cx="5852160" cy="74980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Paciente / usuario</a:t>
            </a:r>
            <a:endParaRPr lang="en-US" sz="1500" dirty="0"/>
          </a:p>
        </p:txBody>
      </p:sp>
      <p:sp>
        <p:nvSpPr>
          <p:cNvPr id="9" name="Shape 6"/>
          <p:cNvSpPr/>
          <p:nvPr/>
        </p:nvSpPr>
        <p:spPr>
          <a:xfrm>
            <a:off x="1234440" y="2532888"/>
            <a:ext cx="4754880" cy="749808"/>
          </a:xfrm>
          <a:prstGeom prst="rect">
            <a:avLst/>
          </a:prstGeom>
          <a:solidFill>
            <a:srgbClr val="00A896"/>
          </a:solidFill>
          <a:ln w="19050">
            <a:solidFill>
              <a:srgbClr val="FFFFFF"/>
            </a:solidFill>
            <a:prstDash val="solid"/>
          </a:ln>
        </p:spPr>
      </p:sp>
      <p:sp>
        <p:nvSpPr>
          <p:cNvPr id="10" name="Text 7"/>
          <p:cNvSpPr/>
          <p:nvPr/>
        </p:nvSpPr>
        <p:spPr>
          <a:xfrm>
            <a:off x="1325880" y="2532888"/>
            <a:ext cx="4572000" cy="74980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Personal de primera línea (atiende directamente)</a:t>
            </a:r>
            <a:endParaRPr lang="en-US" sz="1500" dirty="0"/>
          </a:p>
        </p:txBody>
      </p:sp>
      <p:sp>
        <p:nvSpPr>
          <p:cNvPr id="11" name="Shape 8"/>
          <p:cNvSpPr/>
          <p:nvPr/>
        </p:nvSpPr>
        <p:spPr>
          <a:xfrm>
            <a:off x="1874520" y="3374136"/>
            <a:ext cx="3474720" cy="749808"/>
          </a:xfrm>
          <a:prstGeom prst="rect">
            <a:avLst/>
          </a:prstGeom>
          <a:solidFill>
            <a:srgbClr val="3FB6A8"/>
          </a:solidFill>
          <a:ln w="19050">
            <a:solidFill>
              <a:srgbClr val="FFFFFF"/>
            </a:solidFill>
            <a:prstDash val="solid"/>
          </a:ln>
        </p:spPr>
      </p:sp>
      <p:sp>
        <p:nvSpPr>
          <p:cNvPr id="12" name="Text 9"/>
          <p:cNvSpPr/>
          <p:nvPr/>
        </p:nvSpPr>
        <p:spPr>
          <a:xfrm>
            <a:off x="1965960" y="3374136"/>
            <a:ext cx="3291840" cy="74980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Mandos medios (dan soporte al personal)</a:t>
            </a:r>
            <a:endParaRPr lang="en-US" sz="1500" dirty="0"/>
          </a:p>
        </p:txBody>
      </p:sp>
      <p:sp>
        <p:nvSpPr>
          <p:cNvPr id="13" name="Shape 10"/>
          <p:cNvSpPr/>
          <p:nvPr/>
        </p:nvSpPr>
        <p:spPr>
          <a:xfrm>
            <a:off x="2514600" y="4215384"/>
            <a:ext cx="2194560" cy="749808"/>
          </a:xfrm>
          <a:prstGeom prst="rect">
            <a:avLst/>
          </a:prstGeom>
          <a:solidFill>
            <a:srgbClr val="0B3D3F"/>
          </a:solidFill>
          <a:ln w="19050">
            <a:solidFill>
              <a:srgbClr val="FFFFFF"/>
            </a:solidFill>
            <a:prstDash val="solid"/>
          </a:ln>
        </p:spPr>
      </p:sp>
      <p:sp>
        <p:nvSpPr>
          <p:cNvPr id="14" name="Text 11"/>
          <p:cNvSpPr/>
          <p:nvPr/>
        </p:nvSpPr>
        <p:spPr>
          <a:xfrm>
            <a:off x="2606040" y="4215384"/>
            <a:ext cx="2011680" cy="74980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Alta dirección (sostiene toda la operación)</a:t>
            </a:r>
            <a:endParaRPr lang="en-US" sz="1500" dirty="0"/>
          </a:p>
        </p:txBody>
      </p:sp>
      <p:sp>
        <p:nvSpPr>
          <p:cNvPr id="15" name="Text 12"/>
          <p:cNvSpPr/>
          <p:nvPr/>
        </p:nvSpPr>
        <p:spPr>
          <a:xfrm>
            <a:off x="7406640" y="1737360"/>
            <a:ext cx="4206240" cy="685800"/>
          </a:xfrm>
          <a:prstGeom prst="rect">
            <a:avLst/>
          </a:prstGeom>
          <a:noFill/>
          <a:ln/>
        </p:spPr>
        <p:txBody>
          <a:bodyPr wrap="square" rtlCol="0" anchor="ctr"/>
          <a:lstStyle/>
          <a:p>
            <a:pPr marL="0" indent="0" algn="just">
              <a:buNone/>
            </a:pPr>
            <a:r>
              <a:rPr lang="en-US" sz="1600" dirty="0">
                <a:solidFill>
                  <a:srgbClr val="222E2E"/>
                </a:solidFill>
                <a:latin typeface="Calibri" pitchFamily="34" charset="0"/>
                <a:ea typeface="Calibri" pitchFamily="34" charset="-122"/>
                <a:cs typeface="Calibri" pitchFamily="34" charset="-120"/>
              </a:rPr>
              <a:t>En una organización con cultura de servicio, el organigrama se “invierte” en su lógica de propósito:</a:t>
            </a:r>
            <a:endParaRPr lang="en-US" sz="1600" dirty="0"/>
          </a:p>
        </p:txBody>
      </p:sp>
      <p:sp>
        <p:nvSpPr>
          <p:cNvPr id="16" name="Text 13"/>
          <p:cNvSpPr/>
          <p:nvPr/>
        </p:nvSpPr>
        <p:spPr>
          <a:xfrm>
            <a:off x="7406640" y="2606038"/>
            <a:ext cx="4206240" cy="2377440"/>
          </a:xfrm>
          <a:prstGeom prst="rect">
            <a:avLst/>
          </a:prstGeom>
          <a:noFill/>
          <a:ln/>
        </p:spPr>
        <p:txBody>
          <a:bodyPr wrap="square" rtlCol="0" anchor="ctr"/>
          <a:lstStyle/>
          <a:p>
            <a:pPr marL="342900" indent="-342900" algn="just">
              <a:spcAft>
                <a:spcPts val="700"/>
              </a:spcAft>
              <a:buSzPct val="100000"/>
              <a:buChar char="•"/>
            </a:pPr>
            <a:r>
              <a:rPr lang="en-US" sz="1600" dirty="0">
                <a:solidFill>
                  <a:srgbClr val="222E2E"/>
                </a:solidFill>
                <a:latin typeface="Calibri" pitchFamily="34" charset="0"/>
                <a:ea typeface="Calibri" pitchFamily="34" charset="-122"/>
                <a:cs typeface="Calibri" pitchFamily="34" charset="-120"/>
              </a:rPr>
              <a:t>La alta dirección existe para dar soporte a los mandos medios, no al </a:t>
            </a:r>
            <a:r>
              <a:rPr lang="en-US" sz="1600" dirty="0" err="1">
                <a:solidFill>
                  <a:srgbClr val="222E2E"/>
                </a:solidFill>
                <a:latin typeface="Calibri" pitchFamily="34" charset="0"/>
                <a:ea typeface="Calibri" pitchFamily="34" charset="-122"/>
                <a:cs typeface="Calibri" pitchFamily="34" charset="-120"/>
              </a:rPr>
              <a:t>revés</a:t>
            </a:r>
            <a:r>
              <a:rPr lang="en-US" sz="1600" dirty="0">
                <a:solidFill>
                  <a:srgbClr val="222E2E"/>
                </a:solidFill>
                <a:latin typeface="Calibri" pitchFamily="34" charset="0"/>
                <a:ea typeface="Calibri" pitchFamily="34" charset="-122"/>
                <a:cs typeface="Calibri" pitchFamily="34" charset="-120"/>
              </a:rPr>
              <a:t>.</a:t>
            </a:r>
            <a:endParaRPr lang="en-US" sz="1600" dirty="0"/>
          </a:p>
          <a:p>
            <a:pPr marL="342900" indent="-342900" algn="just">
              <a:spcAft>
                <a:spcPts val="700"/>
              </a:spcAft>
              <a:buSzPct val="100000"/>
              <a:buChar char="•"/>
            </a:pPr>
            <a:r>
              <a:rPr lang="en-US" sz="1600" dirty="0">
                <a:solidFill>
                  <a:srgbClr val="222E2E"/>
                </a:solidFill>
                <a:latin typeface="Calibri" pitchFamily="34" charset="0"/>
                <a:ea typeface="Calibri" pitchFamily="34" charset="-122"/>
                <a:cs typeface="Calibri" pitchFamily="34" charset="-120"/>
              </a:rPr>
              <a:t>Los mandos medios existen para dar soporte al personal de </a:t>
            </a:r>
            <a:r>
              <a:rPr lang="en-US" sz="1600" dirty="0" err="1">
                <a:solidFill>
                  <a:srgbClr val="222E2E"/>
                </a:solidFill>
                <a:latin typeface="Calibri" pitchFamily="34" charset="0"/>
                <a:ea typeface="Calibri" pitchFamily="34" charset="-122"/>
                <a:cs typeface="Calibri" pitchFamily="34" charset="-120"/>
              </a:rPr>
              <a:t>primera</a:t>
            </a:r>
            <a:r>
              <a:rPr lang="en-US" sz="1600" dirty="0">
                <a:solidFill>
                  <a:srgbClr val="222E2E"/>
                </a:solidFill>
                <a:latin typeface="Calibri" pitchFamily="34" charset="0"/>
                <a:ea typeface="Calibri" pitchFamily="34" charset="-122"/>
                <a:cs typeface="Calibri" pitchFamily="34" charset="-120"/>
              </a:rPr>
              <a:t> </a:t>
            </a:r>
            <a:r>
              <a:rPr lang="en-US" sz="1600" dirty="0" err="1">
                <a:solidFill>
                  <a:srgbClr val="222E2E"/>
                </a:solidFill>
                <a:latin typeface="Calibri" pitchFamily="34" charset="0"/>
                <a:ea typeface="Calibri" pitchFamily="34" charset="-122"/>
                <a:cs typeface="Calibri" pitchFamily="34" charset="-120"/>
              </a:rPr>
              <a:t>línea</a:t>
            </a:r>
            <a:r>
              <a:rPr lang="en-US" sz="1600" dirty="0">
                <a:solidFill>
                  <a:srgbClr val="222E2E"/>
                </a:solidFill>
                <a:latin typeface="Calibri" pitchFamily="34" charset="0"/>
                <a:ea typeface="Calibri" pitchFamily="34" charset="-122"/>
                <a:cs typeface="Calibri" pitchFamily="34" charset="-120"/>
              </a:rPr>
              <a:t>.</a:t>
            </a:r>
            <a:endParaRPr lang="en-US" sz="1600" dirty="0"/>
          </a:p>
          <a:p>
            <a:pPr marL="342900" indent="-342900" algn="just">
              <a:spcAft>
                <a:spcPts val="700"/>
              </a:spcAft>
              <a:buSzPct val="100000"/>
              <a:buChar char="•"/>
            </a:pPr>
            <a:r>
              <a:rPr lang="en-US" sz="1600" dirty="0">
                <a:solidFill>
                  <a:srgbClr val="222E2E"/>
                </a:solidFill>
                <a:latin typeface="Calibri" pitchFamily="34" charset="0"/>
                <a:ea typeface="Calibri" pitchFamily="34" charset="-122"/>
                <a:cs typeface="Calibri" pitchFamily="34" charset="-120"/>
              </a:rPr>
              <a:t>El personal de primera línea existe para atender al </a:t>
            </a:r>
            <a:r>
              <a:rPr lang="en-US" sz="1600" dirty="0" err="1">
                <a:solidFill>
                  <a:srgbClr val="222E2E"/>
                </a:solidFill>
                <a:latin typeface="Calibri" pitchFamily="34" charset="0"/>
                <a:ea typeface="Calibri" pitchFamily="34" charset="-122"/>
                <a:cs typeface="Calibri" pitchFamily="34" charset="-120"/>
              </a:rPr>
              <a:t>paciente</a:t>
            </a:r>
            <a:r>
              <a:rPr lang="en-US" sz="1600" dirty="0">
                <a:solidFill>
                  <a:srgbClr val="222E2E"/>
                </a:solidFill>
                <a:latin typeface="Calibri" pitchFamily="34" charset="0"/>
                <a:ea typeface="Calibri" pitchFamily="34" charset="-122"/>
                <a:cs typeface="Calibri" pitchFamily="34" charset="-120"/>
              </a:rPr>
              <a:t>.</a:t>
            </a:r>
            <a:endParaRPr lang="en-US" sz="1600" dirty="0"/>
          </a:p>
          <a:p>
            <a:pPr marL="342900" indent="-342900" algn="just">
              <a:spcAft>
                <a:spcPts val="700"/>
              </a:spcAft>
              <a:buSzPct val="100000"/>
              <a:buChar char="•"/>
            </a:pPr>
            <a:r>
              <a:rPr lang="en-US" sz="1600" dirty="0">
                <a:solidFill>
                  <a:srgbClr val="222E2E"/>
                </a:solidFill>
                <a:latin typeface="Calibri" pitchFamily="34" charset="0"/>
                <a:ea typeface="Calibri" pitchFamily="34" charset="-122"/>
                <a:cs typeface="Calibri" pitchFamily="34" charset="-120"/>
              </a:rPr>
              <a:t>El paciente deja de estar “abajo” del organigrama y pasa a ser la razón de ser de toda la </a:t>
            </a:r>
            <a:r>
              <a:rPr lang="en-US" sz="1600" dirty="0" err="1">
                <a:solidFill>
                  <a:srgbClr val="222E2E"/>
                </a:solidFill>
                <a:latin typeface="Calibri" pitchFamily="34" charset="0"/>
                <a:ea typeface="Calibri" pitchFamily="34" charset="-122"/>
                <a:cs typeface="Calibri" pitchFamily="34" charset="-120"/>
              </a:rPr>
              <a:t>estructura</a:t>
            </a:r>
            <a:r>
              <a:rPr lang="en-US" sz="1600" dirty="0">
                <a:solidFill>
                  <a:srgbClr val="222E2E"/>
                </a:solidFill>
                <a:latin typeface="Calibri" pitchFamily="34" charset="0"/>
                <a:ea typeface="Calibri" pitchFamily="34" charset="-122"/>
                <a:cs typeface="Calibri" pitchFamily="34" charset="-120"/>
              </a:rPr>
              <a:t>.</a:t>
            </a:r>
            <a:endParaRPr lang="en-US" sz="1600" dirty="0"/>
          </a:p>
        </p:txBody>
      </p:sp>
      <p:sp>
        <p:nvSpPr>
          <p:cNvPr id="17" name="Shape 14"/>
          <p:cNvSpPr/>
          <p:nvPr/>
        </p:nvSpPr>
        <p:spPr>
          <a:xfrm>
            <a:off x="320040" y="5162200"/>
            <a:ext cx="11521440" cy="1143000"/>
          </a:xfrm>
          <a:prstGeom prst="roundRect">
            <a:avLst>
              <a:gd name="adj" fmla="val 7200"/>
            </a:avLst>
          </a:prstGeom>
          <a:solidFill>
            <a:srgbClr val="F2F8F8"/>
          </a:solidFill>
          <a:ln w="12700">
            <a:solidFill>
              <a:srgbClr val="D8E6E6"/>
            </a:solidFill>
            <a:prstDash val="solid"/>
          </a:ln>
        </p:spPr>
      </p:sp>
      <p:sp>
        <p:nvSpPr>
          <p:cNvPr id="18" name="Text 15"/>
          <p:cNvSpPr/>
          <p:nvPr/>
        </p:nvSpPr>
        <p:spPr>
          <a:xfrm>
            <a:off x="548640" y="5253640"/>
            <a:ext cx="11064240" cy="960120"/>
          </a:xfrm>
          <a:prstGeom prst="rect">
            <a:avLst/>
          </a:prstGeom>
          <a:noFill/>
          <a:ln/>
        </p:spPr>
        <p:txBody>
          <a:bodyPr wrap="square" rtlCol="0" anchor="ctr"/>
          <a:lstStyle/>
          <a:p>
            <a:pPr marL="0" indent="0" algn="ctr">
              <a:buNone/>
            </a:pPr>
            <a:r>
              <a:rPr lang="en-US" dirty="0" err="1">
                <a:solidFill>
                  <a:srgbClr val="222E2E"/>
                </a:solidFill>
                <a:latin typeface="Calibri" pitchFamily="34" charset="0"/>
                <a:ea typeface="Calibri" pitchFamily="34" charset="-122"/>
                <a:cs typeface="Calibri" pitchFamily="34" charset="-120"/>
              </a:rPr>
              <a:t>Sostener</a:t>
            </a:r>
            <a:r>
              <a:rPr lang="en-US" dirty="0">
                <a:solidFill>
                  <a:srgbClr val="222E2E"/>
                </a:solidFill>
                <a:latin typeface="Calibri" pitchFamily="34" charset="0"/>
                <a:ea typeface="Calibri" pitchFamily="34" charset="-122"/>
                <a:cs typeface="Calibri" pitchFamily="34" charset="-120"/>
              </a:rPr>
              <a:t> la pirámide invertida es lo que permite que esos momentos salgan bien de forma consistente, no solo por buena voluntad individual.</a:t>
            </a:r>
            <a:endParaRPr lang="en-US" dirty="0"/>
          </a:p>
        </p:txBody>
      </p:sp>
      <p:sp>
        <p:nvSpPr>
          <p:cNvPr id="19" name="Text 16"/>
          <p:cNvSpPr/>
          <p:nvPr/>
        </p:nvSpPr>
        <p:spPr>
          <a:xfrm>
            <a:off x="320040" y="6473952"/>
            <a:ext cx="11521440" cy="292608"/>
          </a:xfrm>
          <a:prstGeom prst="rect">
            <a:avLst/>
          </a:prstGeom>
          <a:noFill/>
          <a:ln/>
        </p:spPr>
        <p:txBody>
          <a:bodyPr wrap="square" rtlCol="0" anchor="ctr"/>
          <a:lstStyle/>
          <a:p>
            <a:pPr marL="0" indent="0">
              <a:buNone/>
            </a:pPr>
            <a:r>
              <a:rPr lang="en-US" sz="950" i="1" dirty="0">
                <a:solidFill>
                  <a:srgbClr val="5A6B6E"/>
                </a:solidFill>
                <a:latin typeface="Calibri" pitchFamily="34" charset="0"/>
                <a:ea typeface="Calibri" pitchFamily="34" charset="-122"/>
                <a:cs typeface="Calibri" pitchFamily="34" charset="-120"/>
              </a:rPr>
              <a:t>Concepto clásico de cultura de servicio (Albrecht &amp; Zemke, pirámide invertida) y “momentos de verdad” (Jan Carlzon), aplicados a salud.</a:t>
            </a:r>
            <a:endParaRPr lang="en-US" sz="950" dirty="0"/>
          </a:p>
        </p:txBody>
      </p:sp>
      <p:pic>
        <p:nvPicPr>
          <p:cNvPr id="21" name="Imagen 2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2365429" y="274320"/>
            <a:ext cx="9875520"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TEMA 5 · CASOS REALES</a:t>
            </a:r>
            <a:endParaRPr lang="en-US" sz="1250" dirty="0"/>
          </a:p>
        </p:txBody>
      </p:sp>
      <p:sp>
        <p:nvSpPr>
          <p:cNvPr id="4" name="Text 1"/>
          <p:cNvSpPr/>
          <p:nvPr/>
        </p:nvSpPr>
        <p:spPr>
          <a:xfrm>
            <a:off x="2365429" y="548640"/>
            <a:ext cx="9966960" cy="548640"/>
          </a:xfrm>
          <a:prstGeom prst="rect">
            <a:avLst/>
          </a:prstGeom>
          <a:noFill/>
          <a:ln/>
        </p:spPr>
        <p:txBody>
          <a:bodyPr wrap="square" rtlCol="0" anchor="ctr"/>
          <a:lstStyle/>
          <a:p>
            <a:pPr marL="0" indent="0">
              <a:buNone/>
            </a:pPr>
            <a:r>
              <a:rPr lang="en-US" sz="2500" b="1" dirty="0">
                <a:solidFill>
                  <a:srgbClr val="0B3D3F"/>
                </a:solidFill>
                <a:latin typeface="Cambria" pitchFamily="34" charset="0"/>
                <a:ea typeface="Cambria" pitchFamily="34" charset="-122"/>
                <a:cs typeface="Cambria" pitchFamily="34" charset="-120"/>
              </a:rPr>
              <a:t>Casos de éxito y de fracaso en servicio al paciente</a:t>
            </a:r>
            <a:endParaRPr lang="en-US" sz="2500" dirty="0"/>
          </a:p>
        </p:txBody>
      </p:sp>
      <p:sp>
        <p:nvSpPr>
          <p:cNvPr id="6" name="Shape 3"/>
          <p:cNvSpPr/>
          <p:nvPr/>
        </p:nvSpPr>
        <p:spPr>
          <a:xfrm>
            <a:off x="320040" y="1389888"/>
            <a:ext cx="11567160" cy="0"/>
          </a:xfrm>
          <a:prstGeom prst="line">
            <a:avLst/>
          </a:prstGeom>
          <a:noFill/>
          <a:ln w="15875">
            <a:solidFill>
              <a:srgbClr val="D8E6E6"/>
            </a:solidFill>
            <a:prstDash val="solid"/>
          </a:ln>
        </p:spPr>
      </p:sp>
      <p:sp>
        <p:nvSpPr>
          <p:cNvPr id="7" name="Shape 4"/>
          <p:cNvSpPr/>
          <p:nvPr/>
        </p:nvSpPr>
        <p:spPr>
          <a:xfrm>
            <a:off x="320040" y="1600200"/>
            <a:ext cx="5486400" cy="4617720"/>
          </a:xfrm>
          <a:prstGeom prst="roundRect">
            <a:avLst>
              <a:gd name="adj" fmla="val 1782"/>
            </a:avLst>
          </a:prstGeom>
          <a:solidFill>
            <a:srgbClr val="E4F5F3"/>
          </a:solidFill>
          <a:ln w="15875">
            <a:solidFill>
              <a:srgbClr val="00A896"/>
            </a:solidFill>
            <a:prstDash val="solid"/>
          </a:ln>
        </p:spPr>
      </p:sp>
      <p:sp>
        <p:nvSpPr>
          <p:cNvPr id="8" name="Shape 5"/>
          <p:cNvSpPr/>
          <p:nvPr/>
        </p:nvSpPr>
        <p:spPr>
          <a:xfrm>
            <a:off x="320040" y="1600200"/>
            <a:ext cx="5486400" cy="548640"/>
          </a:xfrm>
          <a:prstGeom prst="rect">
            <a:avLst/>
          </a:prstGeom>
          <a:solidFill>
            <a:srgbClr val="028090"/>
          </a:solidFill>
          <a:ln/>
        </p:spPr>
      </p:sp>
      <p:sp>
        <p:nvSpPr>
          <p:cNvPr id="9" name="Text 6"/>
          <p:cNvSpPr/>
          <p:nvPr/>
        </p:nvSpPr>
        <p:spPr>
          <a:xfrm>
            <a:off x="502920" y="1600200"/>
            <a:ext cx="5120640" cy="548640"/>
          </a:xfrm>
          <a:prstGeom prst="rect">
            <a:avLst/>
          </a:prstGeom>
          <a:noFill/>
          <a:ln/>
        </p:spPr>
        <p:txBody>
          <a:bodyPr wrap="square" rtlCol="0" anchor="ctr"/>
          <a:lstStyle/>
          <a:p>
            <a:pPr marL="0" indent="0" algn="just">
              <a:buNone/>
            </a:pPr>
            <a:r>
              <a:rPr lang="en-US" sz="1600" b="1" dirty="0">
                <a:solidFill>
                  <a:srgbClr val="FFFFFF"/>
                </a:solidFill>
                <a:latin typeface="Calibri" pitchFamily="34" charset="0"/>
                <a:ea typeface="Calibri" pitchFamily="34" charset="-122"/>
                <a:cs typeface="Calibri" pitchFamily="34" charset="-120"/>
              </a:rPr>
              <a:t>✓  ÉXITO  ·  Cleveland Clinic (EE.UU.)</a:t>
            </a:r>
            <a:endParaRPr lang="en-US" sz="1600" dirty="0"/>
          </a:p>
        </p:txBody>
      </p:sp>
      <p:sp>
        <p:nvSpPr>
          <p:cNvPr id="10" name="Text 7"/>
          <p:cNvSpPr/>
          <p:nvPr/>
        </p:nvSpPr>
        <p:spPr>
          <a:xfrm>
            <a:off x="530352" y="2313432"/>
            <a:ext cx="5029200" cy="3703320"/>
          </a:xfrm>
          <a:prstGeom prst="rect">
            <a:avLst/>
          </a:prstGeom>
          <a:noFill/>
          <a:ln/>
        </p:spPr>
        <p:txBody>
          <a:bodyPr wrap="square" rtlCol="0" anchor="ctr"/>
          <a:lstStyle/>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A comienzos de los 2000, la clínica estaba entre los últimos lugares en las encuestas nacionales de satisfacción de pacientes de EE.UU., a pesar de su excelente </a:t>
            </a:r>
            <a:r>
              <a:rPr lang="en-US" sz="1200" dirty="0" err="1">
                <a:solidFill>
                  <a:srgbClr val="222E2E"/>
                </a:solidFill>
                <a:latin typeface="Calibri" pitchFamily="34" charset="0"/>
                <a:ea typeface="Calibri" pitchFamily="34" charset="-122"/>
                <a:cs typeface="Calibri" pitchFamily="34" charset="-120"/>
              </a:rPr>
              <a:t>reputación</a:t>
            </a:r>
            <a:r>
              <a:rPr lang="en-US" sz="1200" dirty="0">
                <a:solidFill>
                  <a:srgbClr val="222E2E"/>
                </a:solidFill>
                <a:latin typeface="Calibri" pitchFamily="34" charset="0"/>
                <a:ea typeface="Calibri" pitchFamily="34" charset="-122"/>
                <a:cs typeface="Calibri" pitchFamily="34" charset="-120"/>
              </a:rPr>
              <a:t> </a:t>
            </a:r>
            <a:r>
              <a:rPr lang="en-US" sz="1200" dirty="0" err="1">
                <a:solidFill>
                  <a:srgbClr val="222E2E"/>
                </a:solidFill>
                <a:latin typeface="Calibri" pitchFamily="34" charset="0"/>
                <a:ea typeface="Calibri" pitchFamily="34" charset="-122"/>
                <a:cs typeface="Calibri" pitchFamily="34" charset="-120"/>
              </a:rPr>
              <a:t>clínica</a:t>
            </a:r>
            <a:r>
              <a:rPr lang="en-US" sz="1200" dirty="0">
                <a:solidFill>
                  <a:srgbClr val="222E2E"/>
                </a:solidFill>
                <a:latin typeface="Calibri" pitchFamily="34" charset="0"/>
                <a:ea typeface="Calibri" pitchFamily="34" charset="-122"/>
                <a:cs typeface="Calibri" pitchFamily="34" charset="-120"/>
              </a:rPr>
              <a:t>.</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La dirección creó el cargo de Chief Experience Officer (CXO), con presupuesto y autoridad real para intervenir en procesos, no solo </a:t>
            </a:r>
            <a:r>
              <a:rPr lang="en-US" sz="1200" dirty="0" err="1">
                <a:solidFill>
                  <a:srgbClr val="222E2E"/>
                </a:solidFill>
                <a:latin typeface="Calibri" pitchFamily="34" charset="0"/>
                <a:ea typeface="Calibri" pitchFamily="34" charset="-122"/>
                <a:cs typeface="Calibri" pitchFamily="34" charset="-120"/>
              </a:rPr>
              <a:t>en</a:t>
            </a:r>
            <a:r>
              <a:rPr lang="en-US" sz="1200" dirty="0">
                <a:solidFill>
                  <a:srgbClr val="222E2E"/>
                </a:solidFill>
                <a:latin typeface="Calibri" pitchFamily="34" charset="0"/>
                <a:ea typeface="Calibri" pitchFamily="34" charset="-122"/>
                <a:cs typeface="Calibri" pitchFamily="34" charset="-120"/>
              </a:rPr>
              <a:t> </a:t>
            </a:r>
            <a:r>
              <a:rPr lang="en-US" sz="1200" dirty="0" err="1">
                <a:solidFill>
                  <a:srgbClr val="222E2E"/>
                </a:solidFill>
                <a:latin typeface="Calibri" pitchFamily="34" charset="0"/>
                <a:ea typeface="Calibri" pitchFamily="34" charset="-122"/>
                <a:cs typeface="Calibri" pitchFamily="34" charset="-120"/>
              </a:rPr>
              <a:t>encuestas</a:t>
            </a:r>
            <a:r>
              <a:rPr lang="en-US" sz="1200" dirty="0">
                <a:solidFill>
                  <a:srgbClr val="222E2E"/>
                </a:solidFill>
                <a:latin typeface="Calibri" pitchFamily="34" charset="0"/>
                <a:ea typeface="Calibri" pitchFamily="34" charset="-122"/>
                <a:cs typeface="Calibri" pitchFamily="34" charset="-120"/>
              </a:rPr>
              <a:t>.</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Se integró la experiencia del paciente en el rediseño de procesos clínicos: desde la señalización del hospital hasta cómo se comunican </a:t>
            </a:r>
            <a:r>
              <a:rPr lang="en-US" sz="1200" dirty="0" err="1">
                <a:solidFill>
                  <a:srgbClr val="222E2E"/>
                </a:solidFill>
                <a:latin typeface="Calibri" pitchFamily="34" charset="0"/>
                <a:ea typeface="Calibri" pitchFamily="34" charset="-122"/>
                <a:cs typeface="Calibri" pitchFamily="34" charset="-120"/>
              </a:rPr>
              <a:t>los</a:t>
            </a:r>
            <a:r>
              <a:rPr lang="en-US" sz="1200" dirty="0">
                <a:solidFill>
                  <a:srgbClr val="222E2E"/>
                </a:solidFill>
                <a:latin typeface="Calibri" pitchFamily="34" charset="0"/>
                <a:ea typeface="Calibri" pitchFamily="34" charset="-122"/>
                <a:cs typeface="Calibri" pitchFamily="34" charset="-120"/>
              </a:rPr>
              <a:t> </a:t>
            </a:r>
            <a:r>
              <a:rPr lang="en-US" sz="1200" dirty="0" err="1">
                <a:solidFill>
                  <a:srgbClr val="222E2E"/>
                </a:solidFill>
                <a:latin typeface="Calibri" pitchFamily="34" charset="0"/>
                <a:ea typeface="Calibri" pitchFamily="34" charset="-122"/>
                <a:cs typeface="Calibri" pitchFamily="34" charset="-120"/>
              </a:rPr>
              <a:t>diagnósticos</a:t>
            </a:r>
            <a:r>
              <a:rPr lang="en-US" sz="1200" dirty="0">
                <a:solidFill>
                  <a:srgbClr val="222E2E"/>
                </a:solidFill>
                <a:latin typeface="Calibri" pitchFamily="34" charset="0"/>
                <a:ea typeface="Calibri" pitchFamily="34" charset="-122"/>
                <a:cs typeface="Calibri" pitchFamily="34" charset="-120"/>
              </a:rPr>
              <a:t>.</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Se involucró activamente a </a:t>
            </a:r>
            <a:r>
              <a:rPr lang="en-US" sz="1200" dirty="0" err="1">
                <a:solidFill>
                  <a:srgbClr val="222E2E"/>
                </a:solidFill>
                <a:latin typeface="Calibri" pitchFamily="34" charset="0"/>
                <a:ea typeface="Calibri" pitchFamily="34" charset="-122"/>
                <a:cs typeface="Calibri" pitchFamily="34" charset="-120"/>
              </a:rPr>
              <a:t>los</a:t>
            </a:r>
            <a:r>
              <a:rPr lang="en-US" sz="1200" dirty="0">
                <a:solidFill>
                  <a:srgbClr val="222E2E"/>
                </a:solidFill>
                <a:latin typeface="Calibri" pitchFamily="34" charset="0"/>
                <a:ea typeface="Calibri" pitchFamily="34" charset="-122"/>
                <a:cs typeface="Calibri" pitchFamily="34" charset="-120"/>
              </a:rPr>
              <a:t> medicos, no solo al personal administrative, en el cambio cultural, entendiendo que ellos son el punto de contacto de mayor peso </a:t>
            </a:r>
            <a:r>
              <a:rPr lang="en-US" sz="1200" dirty="0" err="1">
                <a:solidFill>
                  <a:srgbClr val="222E2E"/>
                </a:solidFill>
                <a:latin typeface="Calibri" pitchFamily="34" charset="0"/>
                <a:ea typeface="Calibri" pitchFamily="34" charset="-122"/>
                <a:cs typeface="Calibri" pitchFamily="34" charset="-120"/>
              </a:rPr>
              <a:t>emocional</a:t>
            </a:r>
            <a:r>
              <a:rPr lang="en-US" sz="1200" dirty="0">
                <a:solidFill>
                  <a:srgbClr val="222E2E"/>
                </a:solidFill>
                <a:latin typeface="Calibri" pitchFamily="34" charset="0"/>
                <a:ea typeface="Calibri" pitchFamily="34" charset="-122"/>
                <a:cs typeface="Calibri" pitchFamily="34" charset="-120"/>
              </a:rPr>
              <a:t>.</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En pocos años, pasó a ser referente mundial citado en publicaciones de </a:t>
            </a:r>
            <a:r>
              <a:rPr lang="en-US" sz="1200" dirty="0" err="1">
                <a:solidFill>
                  <a:srgbClr val="222E2E"/>
                </a:solidFill>
                <a:latin typeface="Calibri" pitchFamily="34" charset="0"/>
                <a:ea typeface="Calibri" pitchFamily="34" charset="-122"/>
                <a:cs typeface="Calibri" pitchFamily="34" charset="-120"/>
              </a:rPr>
              <a:t>gestión</a:t>
            </a:r>
            <a:r>
              <a:rPr lang="en-US" sz="1200" dirty="0">
                <a:solidFill>
                  <a:srgbClr val="222E2E"/>
                </a:solidFill>
                <a:latin typeface="Calibri" pitchFamily="34" charset="0"/>
                <a:ea typeface="Calibri" pitchFamily="34" charset="-122"/>
                <a:cs typeface="Calibri" pitchFamily="34" charset="-120"/>
              </a:rPr>
              <a:t> sanitaria.</a:t>
            </a:r>
            <a:endParaRPr lang="en-US" sz="1200" dirty="0"/>
          </a:p>
        </p:txBody>
      </p:sp>
      <p:sp>
        <p:nvSpPr>
          <p:cNvPr id="11" name="Shape 8"/>
          <p:cNvSpPr/>
          <p:nvPr/>
        </p:nvSpPr>
        <p:spPr>
          <a:xfrm>
            <a:off x="6080760" y="1600200"/>
            <a:ext cx="5486400" cy="4617720"/>
          </a:xfrm>
          <a:prstGeom prst="roundRect">
            <a:avLst>
              <a:gd name="adj" fmla="val 1782"/>
            </a:avLst>
          </a:prstGeom>
          <a:solidFill>
            <a:srgbClr val="FBE9E7"/>
          </a:solidFill>
          <a:ln w="15875">
            <a:solidFill>
              <a:srgbClr val="D9765A"/>
            </a:solidFill>
            <a:prstDash val="solid"/>
          </a:ln>
        </p:spPr>
      </p:sp>
      <p:sp>
        <p:nvSpPr>
          <p:cNvPr id="12" name="Shape 9"/>
          <p:cNvSpPr/>
          <p:nvPr/>
        </p:nvSpPr>
        <p:spPr>
          <a:xfrm>
            <a:off x="6080760" y="1600200"/>
            <a:ext cx="5486400" cy="548640"/>
          </a:xfrm>
          <a:prstGeom prst="rect">
            <a:avLst/>
          </a:prstGeom>
          <a:solidFill>
            <a:srgbClr val="B04A34"/>
          </a:solidFill>
          <a:ln/>
        </p:spPr>
      </p:sp>
      <p:sp>
        <p:nvSpPr>
          <p:cNvPr id="13" name="Text 10"/>
          <p:cNvSpPr/>
          <p:nvPr/>
        </p:nvSpPr>
        <p:spPr>
          <a:xfrm>
            <a:off x="6263640" y="1600200"/>
            <a:ext cx="5120640" cy="548640"/>
          </a:xfrm>
          <a:prstGeom prst="rect">
            <a:avLst/>
          </a:prstGeom>
          <a:noFill/>
          <a:ln/>
        </p:spPr>
        <p:txBody>
          <a:bodyPr wrap="square" rtlCol="0" anchor="ctr"/>
          <a:lstStyle/>
          <a:p>
            <a:pPr marL="0" indent="0" algn="just">
              <a:buNone/>
            </a:pPr>
            <a:r>
              <a:rPr lang="en-US" sz="1400" b="1" dirty="0">
                <a:solidFill>
                  <a:srgbClr val="FFFFFF"/>
                </a:solidFill>
                <a:latin typeface="Calibri" pitchFamily="34" charset="0"/>
                <a:ea typeface="Calibri" pitchFamily="34" charset="-122"/>
                <a:cs typeface="Calibri" pitchFamily="34" charset="-120"/>
              </a:rPr>
              <a:t>✕  FRACASO  ·  Hospital Almenara, EsSalud (Perú, 2016)</a:t>
            </a:r>
            <a:endParaRPr lang="en-US" sz="1400" dirty="0"/>
          </a:p>
        </p:txBody>
      </p:sp>
      <p:sp>
        <p:nvSpPr>
          <p:cNvPr id="14" name="Text 11"/>
          <p:cNvSpPr/>
          <p:nvPr/>
        </p:nvSpPr>
        <p:spPr>
          <a:xfrm>
            <a:off x="6291072" y="2313432"/>
            <a:ext cx="5029200" cy="3703320"/>
          </a:xfrm>
          <a:prstGeom prst="rect">
            <a:avLst/>
          </a:prstGeom>
          <a:noFill/>
          <a:ln/>
        </p:spPr>
        <p:txBody>
          <a:bodyPr wrap="square" rtlCol="0" anchor="ctr"/>
          <a:lstStyle/>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Una paciente de 25 años ingresó por una intervención de </a:t>
            </a:r>
            <a:r>
              <a:rPr lang="en-US" sz="1200" dirty="0" err="1">
                <a:solidFill>
                  <a:srgbClr val="222E2E"/>
                </a:solidFill>
                <a:latin typeface="Calibri" pitchFamily="34" charset="0"/>
                <a:ea typeface="Calibri" pitchFamily="34" charset="-122"/>
                <a:cs typeface="Calibri" pitchFamily="34" charset="-120"/>
              </a:rPr>
              <a:t>cálculos</a:t>
            </a:r>
            <a:r>
              <a:rPr lang="en-US" sz="1200" dirty="0">
                <a:solidFill>
                  <a:srgbClr val="222E2E"/>
                </a:solidFill>
                <a:latin typeface="Calibri" pitchFamily="34" charset="0"/>
                <a:ea typeface="Calibri" pitchFamily="34" charset="-122"/>
                <a:cs typeface="Calibri" pitchFamily="34" charset="-120"/>
              </a:rPr>
              <a:t> </a:t>
            </a:r>
            <a:r>
              <a:rPr lang="en-US" sz="1200" dirty="0" err="1">
                <a:solidFill>
                  <a:srgbClr val="222E2E"/>
                </a:solidFill>
                <a:latin typeface="Calibri" pitchFamily="34" charset="0"/>
                <a:ea typeface="Calibri" pitchFamily="34" charset="-122"/>
                <a:cs typeface="Calibri" pitchFamily="34" charset="-120"/>
              </a:rPr>
              <a:t>renales</a:t>
            </a:r>
            <a:r>
              <a:rPr lang="en-US" sz="1200" dirty="0">
                <a:solidFill>
                  <a:srgbClr val="222E2E"/>
                </a:solidFill>
                <a:latin typeface="Calibri" pitchFamily="34" charset="0"/>
                <a:ea typeface="Calibri" pitchFamily="34" charset="-122"/>
                <a:cs typeface="Calibri" pitchFamily="34" charset="-120"/>
              </a:rPr>
              <a:t>.</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Una complicación post-operatoria derivó en un cuadro grave que requirió inducirla al coma; meses después le fueron amputadas ambas manos y pies.</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El punto de quiebre no fue solo clínico: la familia recibió información tardía, fragmentada y poco clara sobre lo que realmente </a:t>
            </a:r>
            <a:r>
              <a:rPr lang="en-US" sz="1200" dirty="0" err="1">
                <a:solidFill>
                  <a:srgbClr val="222E2E"/>
                </a:solidFill>
                <a:latin typeface="Calibri" pitchFamily="34" charset="0"/>
                <a:ea typeface="Calibri" pitchFamily="34" charset="-122"/>
                <a:cs typeface="Calibri" pitchFamily="34" charset="-120"/>
              </a:rPr>
              <a:t>había</a:t>
            </a:r>
            <a:r>
              <a:rPr lang="en-US" sz="1200" dirty="0">
                <a:solidFill>
                  <a:srgbClr val="222E2E"/>
                </a:solidFill>
                <a:latin typeface="Calibri" pitchFamily="34" charset="0"/>
                <a:ea typeface="Calibri" pitchFamily="34" charset="-122"/>
                <a:cs typeface="Calibri" pitchFamily="34" charset="-120"/>
              </a:rPr>
              <a:t> </a:t>
            </a:r>
            <a:r>
              <a:rPr lang="en-US" sz="1200" dirty="0" err="1">
                <a:solidFill>
                  <a:srgbClr val="222E2E"/>
                </a:solidFill>
                <a:latin typeface="Calibri" pitchFamily="34" charset="0"/>
                <a:ea typeface="Calibri" pitchFamily="34" charset="-122"/>
                <a:cs typeface="Calibri" pitchFamily="34" charset="-120"/>
              </a:rPr>
              <a:t>ocurrido</a:t>
            </a:r>
            <a:r>
              <a:rPr lang="en-US" sz="1200" dirty="0">
                <a:solidFill>
                  <a:srgbClr val="222E2E"/>
                </a:solidFill>
                <a:latin typeface="Calibri" pitchFamily="34" charset="0"/>
                <a:ea typeface="Calibri" pitchFamily="34" charset="-122"/>
                <a:cs typeface="Calibri" pitchFamily="34" charset="-120"/>
              </a:rPr>
              <a:t>.</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El caso se conoció al país por un reportaje televisivo (Cuarto Poder) y no por comunicación proactiva de la </a:t>
            </a:r>
            <a:r>
              <a:rPr lang="en-US" sz="1200" dirty="0" err="1">
                <a:solidFill>
                  <a:srgbClr val="222E2E"/>
                </a:solidFill>
                <a:latin typeface="Calibri" pitchFamily="34" charset="0"/>
                <a:ea typeface="Calibri" pitchFamily="34" charset="-122"/>
                <a:cs typeface="Calibri" pitchFamily="34" charset="-120"/>
              </a:rPr>
              <a:t>propia</a:t>
            </a:r>
            <a:r>
              <a:rPr lang="en-US" sz="1200" dirty="0">
                <a:solidFill>
                  <a:srgbClr val="222E2E"/>
                </a:solidFill>
                <a:latin typeface="Calibri" pitchFamily="34" charset="0"/>
                <a:ea typeface="Calibri" pitchFamily="34" charset="-122"/>
                <a:cs typeface="Calibri" pitchFamily="34" charset="-120"/>
              </a:rPr>
              <a:t> </a:t>
            </a:r>
            <a:r>
              <a:rPr lang="en-US" sz="1200" dirty="0" err="1">
                <a:solidFill>
                  <a:srgbClr val="222E2E"/>
                </a:solidFill>
                <a:latin typeface="Calibri" pitchFamily="34" charset="0"/>
                <a:ea typeface="Calibri" pitchFamily="34" charset="-122"/>
                <a:cs typeface="Calibri" pitchFamily="34" charset="-120"/>
              </a:rPr>
              <a:t>institución</a:t>
            </a:r>
            <a:r>
              <a:rPr lang="en-US" sz="1200" dirty="0">
                <a:solidFill>
                  <a:srgbClr val="222E2E"/>
                </a:solidFill>
                <a:latin typeface="Calibri" pitchFamily="34" charset="0"/>
                <a:ea typeface="Calibri" pitchFamily="34" charset="-122"/>
                <a:cs typeface="Calibri" pitchFamily="34" charset="-120"/>
              </a:rPr>
              <a:t>.</a:t>
            </a:r>
            <a:endParaRPr lang="en-US" sz="1200" dirty="0"/>
          </a:p>
          <a:p>
            <a:pPr marL="342900" indent="-342900" algn="just">
              <a:lnSpc>
                <a:spcPts val="1400"/>
              </a:lnSpc>
              <a:spcAft>
                <a:spcPts val="800"/>
              </a:spcAft>
              <a:buSzPct val="100000"/>
              <a:buChar char="•"/>
            </a:pPr>
            <a:r>
              <a:rPr lang="en-US" sz="1200" dirty="0">
                <a:solidFill>
                  <a:srgbClr val="222E2E"/>
                </a:solidFill>
                <a:latin typeface="Calibri" pitchFamily="34" charset="0"/>
                <a:ea typeface="Calibri" pitchFamily="34" charset="-122"/>
                <a:cs typeface="Calibri" pitchFamily="34" charset="-120"/>
              </a:rPr>
              <a:t>Escaló hasta convertirse en una crisis reputacional nacional para el sistema público de salud, con intervención del propio presidente de la </a:t>
            </a:r>
            <a:r>
              <a:rPr lang="en-US" sz="1200" dirty="0" err="1">
                <a:solidFill>
                  <a:srgbClr val="222E2E"/>
                </a:solidFill>
                <a:latin typeface="Calibri" pitchFamily="34" charset="0"/>
                <a:ea typeface="Calibri" pitchFamily="34" charset="-122"/>
                <a:cs typeface="Calibri" pitchFamily="34" charset="-120"/>
              </a:rPr>
              <a:t>República</a:t>
            </a:r>
            <a:r>
              <a:rPr lang="en-US" sz="1200" dirty="0">
                <a:solidFill>
                  <a:srgbClr val="222E2E"/>
                </a:solidFill>
                <a:latin typeface="Calibri" pitchFamily="34" charset="0"/>
                <a:ea typeface="Calibri" pitchFamily="34" charset="-122"/>
                <a:cs typeface="Calibri" pitchFamily="34" charset="-120"/>
              </a:rPr>
              <a:t>.</a:t>
            </a:r>
            <a:endParaRPr lang="en-US" sz="1200" dirty="0"/>
          </a:p>
        </p:txBody>
      </p:sp>
      <p:sp>
        <p:nvSpPr>
          <p:cNvPr id="15" name="Text 12"/>
          <p:cNvSpPr/>
          <p:nvPr/>
        </p:nvSpPr>
        <p:spPr>
          <a:xfrm>
            <a:off x="320040" y="6473952"/>
            <a:ext cx="11521440" cy="292608"/>
          </a:xfrm>
          <a:prstGeom prst="rect">
            <a:avLst/>
          </a:prstGeom>
          <a:noFill/>
          <a:ln/>
        </p:spPr>
        <p:txBody>
          <a:bodyPr wrap="square" rtlCol="0" anchor="ctr"/>
          <a:lstStyle/>
          <a:p>
            <a:pPr marL="0" indent="0">
              <a:buNone/>
            </a:pPr>
            <a:r>
              <a:rPr lang="en-US" sz="950" i="1" dirty="0">
                <a:solidFill>
                  <a:srgbClr val="5A6B6E"/>
                </a:solidFill>
                <a:latin typeface="Calibri" pitchFamily="34" charset="0"/>
                <a:ea typeface="Calibri" pitchFamily="34" charset="-122"/>
                <a:cs typeface="Calibri" pitchFamily="34" charset="-120"/>
              </a:rPr>
              <a:t>Merlino, J. (2013). Health Care's Service Fanatics. Harvard Business Review · Cobertura periodística nacional del caso, Lima, 2016.</a:t>
            </a:r>
            <a:endParaRPr lang="en-US" sz="950" dirty="0"/>
          </a:p>
        </p:txBody>
      </p:sp>
      <p:pic>
        <p:nvPicPr>
          <p:cNvPr id="17" name="Imagen 16">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sp>
        <p:nvSpPr>
          <p:cNvPr id="5" name="Shape 2"/>
          <p:cNvSpPr/>
          <p:nvPr/>
        </p:nvSpPr>
        <p:spPr>
          <a:xfrm>
            <a:off x="320040" y="1389888"/>
            <a:ext cx="11567160" cy="0"/>
          </a:xfrm>
          <a:prstGeom prst="line">
            <a:avLst/>
          </a:prstGeom>
          <a:noFill/>
          <a:ln w="15875">
            <a:solidFill>
              <a:srgbClr val="D8E6E6"/>
            </a:solidFill>
            <a:prstDash val="solid"/>
          </a:ln>
        </p:spPr>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r>
              <a:rPr lang="es-MX" sz="2500" b="1" dirty="0">
                <a:solidFill>
                  <a:srgbClr val="0B3D3F"/>
                </a:solidFill>
                <a:latin typeface="Cambria" pitchFamily="34" charset="0"/>
                <a:ea typeface="Cambria" pitchFamily="34" charset="-122"/>
                <a:cs typeface="Cambria" pitchFamily="34" charset="-120"/>
              </a:rPr>
              <a:t>Repasemos</a:t>
            </a:r>
          </a:p>
        </p:txBody>
      </p:sp>
      <p:sp>
        <p:nvSpPr>
          <p:cNvPr id="23" name="Shape 4"/>
          <p:cNvSpPr/>
          <p:nvPr/>
        </p:nvSpPr>
        <p:spPr>
          <a:xfrm>
            <a:off x="498764" y="1874519"/>
            <a:ext cx="11388436" cy="980089"/>
          </a:xfrm>
          <a:prstGeom prst="roundRect">
            <a:avLst>
              <a:gd name="adj" fmla="val 9091"/>
            </a:avLst>
          </a:prstGeom>
          <a:solidFill>
            <a:srgbClr val="F5FBFA"/>
          </a:solidFill>
          <a:ln w="12700">
            <a:solidFill>
              <a:srgbClr val="D8E6E4"/>
            </a:solidFill>
            <a:prstDash val="solid"/>
          </a:ln>
        </p:spPr>
      </p:sp>
      <p:sp>
        <p:nvSpPr>
          <p:cNvPr id="24" name="Text 5"/>
          <p:cNvSpPr/>
          <p:nvPr/>
        </p:nvSpPr>
        <p:spPr>
          <a:xfrm>
            <a:off x="868682" y="2205448"/>
            <a:ext cx="1874520" cy="228600"/>
          </a:xfrm>
          <a:prstGeom prst="rect">
            <a:avLst/>
          </a:prstGeom>
          <a:noFill/>
          <a:ln/>
        </p:spPr>
        <p:txBody>
          <a:bodyPr wrap="square" lIns="0" tIns="0" rIns="0" bIns="0" rtlCol="0" anchor="ctr"/>
          <a:lstStyle/>
          <a:p>
            <a:pPr marL="0" indent="0" algn="ctr">
              <a:buNone/>
            </a:pPr>
            <a:r>
              <a:rPr lang="en-US" sz="2400" b="1" dirty="0">
                <a:solidFill>
                  <a:srgbClr val="183D4A"/>
                </a:solidFill>
              </a:rPr>
              <a:t>Servicio</a:t>
            </a:r>
            <a:endParaRPr lang="en-US" sz="2400" dirty="0"/>
          </a:p>
        </p:txBody>
      </p:sp>
      <p:sp>
        <p:nvSpPr>
          <p:cNvPr id="25" name="Text 6"/>
          <p:cNvSpPr/>
          <p:nvPr/>
        </p:nvSpPr>
        <p:spPr>
          <a:xfrm>
            <a:off x="2817637" y="1967622"/>
            <a:ext cx="8627603" cy="846441"/>
          </a:xfrm>
          <a:prstGeom prst="rect">
            <a:avLst/>
          </a:prstGeom>
          <a:noFill/>
          <a:ln/>
        </p:spPr>
        <p:txBody>
          <a:bodyPr wrap="square" lIns="0" tIns="0" rIns="0" bIns="0" rtlCol="0" anchor="ctr">
            <a:noAutofit/>
          </a:bodyPr>
          <a:lstStyle/>
          <a:p>
            <a:pPr marL="0" indent="0" algn="just">
              <a:buNone/>
            </a:pPr>
            <a:r>
              <a:rPr lang="en-US" dirty="0">
                <a:solidFill>
                  <a:srgbClr val="193033"/>
                </a:solidFill>
              </a:rPr>
              <a:t>Es una prestación o interacción que se vive mientras ocurre. En salud, no basta con que el procedimiento exista: importa cómo la persona accede, espera, comprende, participa y recibe seguimiento.</a:t>
            </a:r>
            <a:endParaRPr lang="en-US" dirty="0"/>
          </a:p>
        </p:txBody>
      </p:sp>
      <p:sp>
        <p:nvSpPr>
          <p:cNvPr id="26" name="Shape 7"/>
          <p:cNvSpPr/>
          <p:nvPr/>
        </p:nvSpPr>
        <p:spPr>
          <a:xfrm>
            <a:off x="498764" y="3148851"/>
            <a:ext cx="11388436" cy="980089"/>
          </a:xfrm>
          <a:prstGeom prst="roundRect">
            <a:avLst>
              <a:gd name="adj" fmla="val 9091"/>
            </a:avLst>
          </a:prstGeom>
          <a:solidFill>
            <a:srgbClr val="F5FBFA"/>
          </a:solidFill>
          <a:ln w="12700">
            <a:solidFill>
              <a:srgbClr val="D8E6E4"/>
            </a:solidFill>
            <a:prstDash val="solid"/>
          </a:ln>
        </p:spPr>
      </p:sp>
      <p:sp>
        <p:nvSpPr>
          <p:cNvPr id="27" name="Text 8"/>
          <p:cNvSpPr/>
          <p:nvPr/>
        </p:nvSpPr>
        <p:spPr>
          <a:xfrm>
            <a:off x="868682" y="3528555"/>
            <a:ext cx="1874520" cy="228600"/>
          </a:xfrm>
          <a:prstGeom prst="rect">
            <a:avLst/>
          </a:prstGeom>
          <a:noFill/>
          <a:ln/>
        </p:spPr>
        <p:txBody>
          <a:bodyPr wrap="square" lIns="0" tIns="0" rIns="0" bIns="0" rtlCol="0" anchor="ctr"/>
          <a:lstStyle/>
          <a:p>
            <a:pPr marL="0" indent="0" algn="ctr">
              <a:buNone/>
            </a:pPr>
            <a:r>
              <a:rPr lang="en-US" sz="2400" b="1" dirty="0">
                <a:solidFill>
                  <a:srgbClr val="183D4A"/>
                </a:solidFill>
              </a:rPr>
              <a:t>Experiencia</a:t>
            </a:r>
            <a:endParaRPr lang="en-US" sz="2400" dirty="0"/>
          </a:p>
        </p:txBody>
      </p:sp>
      <p:sp>
        <p:nvSpPr>
          <p:cNvPr id="28" name="Text 9"/>
          <p:cNvSpPr/>
          <p:nvPr/>
        </p:nvSpPr>
        <p:spPr>
          <a:xfrm>
            <a:off x="2817637" y="3258579"/>
            <a:ext cx="8627603" cy="801891"/>
          </a:xfrm>
          <a:prstGeom prst="rect">
            <a:avLst/>
          </a:prstGeom>
          <a:noFill/>
          <a:ln/>
        </p:spPr>
        <p:txBody>
          <a:bodyPr wrap="square" lIns="0" tIns="0" rIns="0" bIns="0" rtlCol="0" anchor="ctr">
            <a:noAutofit/>
          </a:bodyPr>
          <a:lstStyle/>
          <a:p>
            <a:pPr marL="0" indent="0" algn="just">
              <a:buNone/>
            </a:pPr>
            <a:r>
              <a:rPr lang="en-US" dirty="0">
                <a:solidFill>
                  <a:srgbClr val="193033"/>
                </a:solidFill>
              </a:rPr>
              <a:t>Es la percepción acumulada de la persona durante todo el recorrido de atención. Incluye trato, información, tiempos, continuidad, ambiente y respuesta ante problemas.</a:t>
            </a:r>
            <a:endParaRPr lang="en-US" dirty="0"/>
          </a:p>
        </p:txBody>
      </p:sp>
      <p:sp>
        <p:nvSpPr>
          <p:cNvPr id="29" name="Shape 10"/>
          <p:cNvSpPr/>
          <p:nvPr/>
        </p:nvSpPr>
        <p:spPr>
          <a:xfrm>
            <a:off x="498764" y="4423183"/>
            <a:ext cx="11388436" cy="980089"/>
          </a:xfrm>
          <a:prstGeom prst="roundRect">
            <a:avLst>
              <a:gd name="adj" fmla="val 9091"/>
            </a:avLst>
          </a:prstGeom>
          <a:solidFill>
            <a:srgbClr val="F5FBFA"/>
          </a:solidFill>
          <a:ln w="12700">
            <a:solidFill>
              <a:srgbClr val="D8E6E4"/>
            </a:solidFill>
            <a:prstDash val="solid"/>
          </a:ln>
        </p:spPr>
      </p:sp>
      <p:sp>
        <p:nvSpPr>
          <p:cNvPr id="30" name="Text 11"/>
          <p:cNvSpPr/>
          <p:nvPr/>
        </p:nvSpPr>
        <p:spPr>
          <a:xfrm>
            <a:off x="868682" y="4762349"/>
            <a:ext cx="1874520" cy="228600"/>
          </a:xfrm>
          <a:prstGeom prst="rect">
            <a:avLst/>
          </a:prstGeom>
          <a:noFill/>
          <a:ln/>
        </p:spPr>
        <p:txBody>
          <a:bodyPr wrap="square" lIns="0" tIns="0" rIns="0" bIns="0" rtlCol="0" anchor="ctr"/>
          <a:lstStyle/>
          <a:p>
            <a:pPr marL="0" indent="0" algn="ctr">
              <a:buNone/>
            </a:pPr>
            <a:r>
              <a:rPr lang="en-US" sz="2400" b="1" dirty="0">
                <a:solidFill>
                  <a:srgbClr val="183D4A"/>
                </a:solidFill>
              </a:rPr>
              <a:t>Valor diferenciador</a:t>
            </a:r>
            <a:endParaRPr lang="en-US" sz="2400" dirty="0"/>
          </a:p>
        </p:txBody>
      </p:sp>
      <p:sp>
        <p:nvSpPr>
          <p:cNvPr id="31" name="Text 12"/>
          <p:cNvSpPr/>
          <p:nvPr/>
        </p:nvSpPr>
        <p:spPr>
          <a:xfrm>
            <a:off x="2817636" y="4575551"/>
            <a:ext cx="8627603" cy="675352"/>
          </a:xfrm>
          <a:prstGeom prst="rect">
            <a:avLst/>
          </a:prstGeom>
          <a:noFill/>
          <a:ln/>
        </p:spPr>
        <p:txBody>
          <a:bodyPr wrap="square" lIns="0" tIns="0" rIns="0" bIns="0" rtlCol="0" anchor="ctr">
            <a:noAutofit/>
          </a:bodyPr>
          <a:lstStyle/>
          <a:p>
            <a:pPr marL="0" indent="0" algn="just">
              <a:buNone/>
            </a:pPr>
            <a:r>
              <a:rPr lang="en-US" dirty="0">
                <a:solidFill>
                  <a:srgbClr val="193033"/>
                </a:solidFill>
              </a:rPr>
              <a:t>Cuando varias instituciones ofrecen prestaciones similares, el servicio diferencia porque genera confianza, reduce incertidumbre y fortalece la reputación institucional.</a:t>
            </a:r>
            <a:endParaRPr lang="en-US" dirty="0"/>
          </a:p>
        </p:txBody>
      </p:sp>
    </p:spTree>
    <p:extLst>
      <p:ext uri="{BB962C8B-B14F-4D97-AF65-F5344CB8AC3E}">
        <p14:creationId xmlns:p14="http://schemas.microsoft.com/office/powerpoint/2010/main" val="1099987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r>
              <a:rPr lang="es-MX" sz="2500" b="1" dirty="0">
                <a:solidFill>
                  <a:srgbClr val="0B3D3F"/>
                </a:solidFill>
                <a:latin typeface="Cambria" pitchFamily="34" charset="0"/>
                <a:ea typeface="Cambria" pitchFamily="34" charset="-122"/>
                <a:cs typeface="Cambria" pitchFamily="34" charset="-120"/>
              </a:rPr>
              <a:t>Componentes del servicio en salud</a:t>
            </a:r>
          </a:p>
        </p:txBody>
      </p:sp>
      <p:sp>
        <p:nvSpPr>
          <p:cNvPr id="16" name="Shape 3"/>
          <p:cNvSpPr/>
          <p:nvPr/>
        </p:nvSpPr>
        <p:spPr>
          <a:xfrm>
            <a:off x="731520" y="1868685"/>
            <a:ext cx="5166360" cy="1417320"/>
          </a:xfrm>
          <a:prstGeom prst="roundRect">
            <a:avLst>
              <a:gd name="adj" fmla="val 5161"/>
            </a:avLst>
          </a:prstGeom>
          <a:solidFill>
            <a:srgbClr val="F5FBFA"/>
          </a:solidFill>
          <a:ln w="12700">
            <a:solidFill>
              <a:srgbClr val="D8E6E4"/>
            </a:solidFill>
            <a:prstDash val="solid"/>
          </a:ln>
        </p:spPr>
      </p:sp>
      <p:sp>
        <p:nvSpPr>
          <p:cNvPr id="17" name="Text 4"/>
          <p:cNvSpPr/>
          <p:nvPr/>
        </p:nvSpPr>
        <p:spPr>
          <a:xfrm>
            <a:off x="960120" y="2051565"/>
            <a:ext cx="4709160" cy="228600"/>
          </a:xfrm>
          <a:prstGeom prst="rect">
            <a:avLst/>
          </a:prstGeom>
          <a:noFill/>
          <a:ln/>
        </p:spPr>
        <p:txBody>
          <a:bodyPr wrap="square" lIns="0" tIns="0" rIns="0" bIns="0" rtlCol="0" anchor="ctr"/>
          <a:lstStyle/>
          <a:p>
            <a:pPr marL="0" indent="0">
              <a:buNone/>
            </a:pPr>
            <a:r>
              <a:rPr lang="en-US" sz="2400" b="1" dirty="0">
                <a:solidFill>
                  <a:srgbClr val="008B8B"/>
                </a:solidFill>
              </a:rPr>
              <a:t>Servicio central</a:t>
            </a:r>
            <a:endParaRPr lang="en-US" sz="2400" dirty="0"/>
          </a:p>
        </p:txBody>
      </p:sp>
      <p:sp>
        <p:nvSpPr>
          <p:cNvPr id="18" name="Text 5"/>
          <p:cNvSpPr/>
          <p:nvPr/>
        </p:nvSpPr>
        <p:spPr>
          <a:xfrm>
            <a:off x="960120" y="2417325"/>
            <a:ext cx="4709160" cy="822960"/>
          </a:xfrm>
          <a:prstGeom prst="rect">
            <a:avLst/>
          </a:prstGeom>
          <a:noFill/>
          <a:ln/>
        </p:spPr>
        <p:txBody>
          <a:bodyPr wrap="square" lIns="0" tIns="0" rIns="0" bIns="0" rtlCol="0" anchor="ctr">
            <a:normAutofit/>
          </a:bodyPr>
          <a:lstStyle/>
          <a:p>
            <a:pPr marL="0" indent="0" algn="just">
              <a:buNone/>
            </a:pPr>
            <a:r>
              <a:rPr lang="en-US" sz="1600" dirty="0">
                <a:solidFill>
                  <a:srgbClr val="193033"/>
                </a:solidFill>
              </a:rPr>
              <a:t>La prestación asistencial o administrativa que resuelve la necesidad principal: consulta, procedimiento, orientación, trámite o respuesta.</a:t>
            </a:r>
            <a:endParaRPr lang="en-US" sz="1600" dirty="0"/>
          </a:p>
        </p:txBody>
      </p:sp>
      <p:sp>
        <p:nvSpPr>
          <p:cNvPr id="19" name="Shape 6"/>
          <p:cNvSpPr/>
          <p:nvPr/>
        </p:nvSpPr>
        <p:spPr>
          <a:xfrm>
            <a:off x="6263640" y="1868685"/>
            <a:ext cx="5166360" cy="1417320"/>
          </a:xfrm>
          <a:prstGeom prst="roundRect">
            <a:avLst>
              <a:gd name="adj" fmla="val 5161"/>
            </a:avLst>
          </a:prstGeom>
          <a:solidFill>
            <a:srgbClr val="FFFFFF"/>
          </a:solidFill>
          <a:ln w="12700">
            <a:solidFill>
              <a:srgbClr val="D8E6E4"/>
            </a:solidFill>
            <a:prstDash val="solid"/>
          </a:ln>
        </p:spPr>
      </p:sp>
      <p:sp>
        <p:nvSpPr>
          <p:cNvPr id="20" name="Text 7"/>
          <p:cNvSpPr/>
          <p:nvPr/>
        </p:nvSpPr>
        <p:spPr>
          <a:xfrm>
            <a:off x="6492240" y="2051565"/>
            <a:ext cx="4709160" cy="228600"/>
          </a:xfrm>
          <a:prstGeom prst="rect">
            <a:avLst/>
          </a:prstGeom>
          <a:noFill/>
          <a:ln/>
        </p:spPr>
        <p:txBody>
          <a:bodyPr wrap="square" lIns="0" tIns="0" rIns="0" bIns="0" rtlCol="0" anchor="ctr"/>
          <a:lstStyle/>
          <a:p>
            <a:pPr marL="0" indent="0">
              <a:buNone/>
            </a:pPr>
            <a:r>
              <a:rPr lang="en-US" sz="2400" b="1" dirty="0">
                <a:solidFill>
                  <a:srgbClr val="008B8B"/>
                </a:solidFill>
              </a:rPr>
              <a:t>Servicio facilitador</a:t>
            </a:r>
            <a:endParaRPr lang="en-US" sz="2400" dirty="0"/>
          </a:p>
        </p:txBody>
      </p:sp>
      <p:sp>
        <p:nvSpPr>
          <p:cNvPr id="21" name="Text 8"/>
          <p:cNvSpPr/>
          <p:nvPr/>
        </p:nvSpPr>
        <p:spPr>
          <a:xfrm>
            <a:off x="6492240" y="2417325"/>
            <a:ext cx="4709160" cy="822960"/>
          </a:xfrm>
          <a:prstGeom prst="rect">
            <a:avLst/>
          </a:prstGeom>
          <a:noFill/>
          <a:ln/>
        </p:spPr>
        <p:txBody>
          <a:bodyPr wrap="square" lIns="0" tIns="0" rIns="0" bIns="0" rtlCol="0" anchor="ctr">
            <a:normAutofit/>
          </a:bodyPr>
          <a:lstStyle/>
          <a:p>
            <a:pPr marL="0" indent="0" algn="just">
              <a:buNone/>
            </a:pPr>
            <a:r>
              <a:rPr lang="en-US" sz="1600" dirty="0">
                <a:solidFill>
                  <a:srgbClr val="193033"/>
                </a:solidFill>
              </a:rPr>
              <a:t>Todo lo que permite acceder al servicio: cita, admisión, información, señalización, caja, canales digitales y derivación.</a:t>
            </a:r>
            <a:endParaRPr lang="en-US" sz="1600" dirty="0"/>
          </a:p>
        </p:txBody>
      </p:sp>
      <p:sp>
        <p:nvSpPr>
          <p:cNvPr id="22" name="Shape 9"/>
          <p:cNvSpPr/>
          <p:nvPr/>
        </p:nvSpPr>
        <p:spPr>
          <a:xfrm>
            <a:off x="731520" y="3703320"/>
            <a:ext cx="5166360" cy="1417320"/>
          </a:xfrm>
          <a:prstGeom prst="roundRect">
            <a:avLst>
              <a:gd name="adj" fmla="val 5161"/>
            </a:avLst>
          </a:prstGeom>
          <a:solidFill>
            <a:srgbClr val="F5FBFA"/>
          </a:solidFill>
          <a:ln w="12700">
            <a:solidFill>
              <a:srgbClr val="D8E6E4"/>
            </a:solidFill>
            <a:prstDash val="solid"/>
          </a:ln>
        </p:spPr>
      </p:sp>
      <p:sp>
        <p:nvSpPr>
          <p:cNvPr id="32" name="Text 10"/>
          <p:cNvSpPr/>
          <p:nvPr/>
        </p:nvSpPr>
        <p:spPr>
          <a:xfrm>
            <a:off x="960120" y="3886200"/>
            <a:ext cx="4709160" cy="228600"/>
          </a:xfrm>
          <a:prstGeom prst="rect">
            <a:avLst/>
          </a:prstGeom>
          <a:noFill/>
          <a:ln/>
        </p:spPr>
        <p:txBody>
          <a:bodyPr wrap="square" lIns="0" tIns="0" rIns="0" bIns="0" rtlCol="0" anchor="ctr"/>
          <a:lstStyle/>
          <a:p>
            <a:pPr marL="0" indent="0">
              <a:buNone/>
            </a:pPr>
            <a:r>
              <a:rPr lang="en-US" sz="2400" b="1" dirty="0">
                <a:solidFill>
                  <a:srgbClr val="008B8B"/>
                </a:solidFill>
              </a:rPr>
              <a:t>Servicio de soporte</a:t>
            </a:r>
            <a:endParaRPr lang="en-US" sz="2400" dirty="0"/>
          </a:p>
        </p:txBody>
      </p:sp>
      <p:sp>
        <p:nvSpPr>
          <p:cNvPr id="33" name="Text 11"/>
          <p:cNvSpPr/>
          <p:nvPr/>
        </p:nvSpPr>
        <p:spPr>
          <a:xfrm>
            <a:off x="960120" y="4251960"/>
            <a:ext cx="4709160" cy="822960"/>
          </a:xfrm>
          <a:prstGeom prst="rect">
            <a:avLst/>
          </a:prstGeom>
          <a:noFill/>
          <a:ln/>
        </p:spPr>
        <p:txBody>
          <a:bodyPr wrap="square" lIns="0" tIns="0" rIns="0" bIns="0" rtlCol="0" anchor="ctr">
            <a:normAutofit/>
          </a:bodyPr>
          <a:lstStyle/>
          <a:p>
            <a:pPr marL="0" indent="0" algn="just">
              <a:buNone/>
            </a:pPr>
            <a:r>
              <a:rPr lang="en-US" sz="1600" dirty="0">
                <a:solidFill>
                  <a:srgbClr val="193033"/>
                </a:solidFill>
              </a:rPr>
              <a:t>Elementos que acompañan la atención: trato, privacidad, limpieza, comodidad, comunicación, seguridad y continuidad.</a:t>
            </a:r>
            <a:endParaRPr lang="en-US" sz="1600" dirty="0"/>
          </a:p>
        </p:txBody>
      </p:sp>
      <p:sp>
        <p:nvSpPr>
          <p:cNvPr id="34" name="Shape 12"/>
          <p:cNvSpPr/>
          <p:nvPr/>
        </p:nvSpPr>
        <p:spPr>
          <a:xfrm>
            <a:off x="6263640" y="3703320"/>
            <a:ext cx="5166360" cy="1417320"/>
          </a:xfrm>
          <a:prstGeom prst="roundRect">
            <a:avLst>
              <a:gd name="adj" fmla="val 5161"/>
            </a:avLst>
          </a:prstGeom>
          <a:solidFill>
            <a:srgbClr val="FFFFFF"/>
          </a:solidFill>
          <a:ln w="12700">
            <a:solidFill>
              <a:srgbClr val="D8E6E4"/>
            </a:solidFill>
            <a:prstDash val="solid"/>
          </a:ln>
        </p:spPr>
      </p:sp>
      <p:sp>
        <p:nvSpPr>
          <p:cNvPr id="35" name="Text 13"/>
          <p:cNvSpPr/>
          <p:nvPr/>
        </p:nvSpPr>
        <p:spPr>
          <a:xfrm>
            <a:off x="6492240" y="3886200"/>
            <a:ext cx="4709160" cy="228600"/>
          </a:xfrm>
          <a:prstGeom prst="rect">
            <a:avLst/>
          </a:prstGeom>
          <a:noFill/>
          <a:ln/>
        </p:spPr>
        <p:txBody>
          <a:bodyPr wrap="square" lIns="0" tIns="0" rIns="0" bIns="0" rtlCol="0" anchor="ctr"/>
          <a:lstStyle/>
          <a:p>
            <a:pPr marL="0" indent="0">
              <a:buNone/>
            </a:pPr>
            <a:r>
              <a:rPr lang="en-US" sz="2400" b="1" dirty="0">
                <a:solidFill>
                  <a:srgbClr val="008B8B"/>
                </a:solidFill>
              </a:rPr>
              <a:t>Evidencia física</a:t>
            </a:r>
            <a:endParaRPr lang="en-US" sz="2400" dirty="0"/>
          </a:p>
        </p:txBody>
      </p:sp>
      <p:sp>
        <p:nvSpPr>
          <p:cNvPr id="36" name="Text 14"/>
          <p:cNvSpPr/>
          <p:nvPr/>
        </p:nvSpPr>
        <p:spPr>
          <a:xfrm>
            <a:off x="6492240" y="4251960"/>
            <a:ext cx="4709160" cy="822960"/>
          </a:xfrm>
          <a:prstGeom prst="rect">
            <a:avLst/>
          </a:prstGeom>
          <a:noFill/>
          <a:ln/>
        </p:spPr>
        <p:txBody>
          <a:bodyPr wrap="square" lIns="0" tIns="0" rIns="0" bIns="0" rtlCol="0" anchor="ctr">
            <a:noAutofit/>
          </a:bodyPr>
          <a:lstStyle/>
          <a:p>
            <a:pPr marL="0" indent="0" algn="just">
              <a:buNone/>
            </a:pPr>
            <a:r>
              <a:rPr lang="en-US" sz="1600" dirty="0">
                <a:solidFill>
                  <a:srgbClr val="193033"/>
                </a:solidFill>
              </a:rPr>
              <a:t>Aspectos visibles que la persona usa para inferir calidad: ambiente, orden, identificación del personal, documentos y tiempos.</a:t>
            </a:r>
            <a:endParaRPr lang="en-US" sz="1600" dirty="0"/>
          </a:p>
        </p:txBody>
      </p:sp>
      <p:sp>
        <p:nvSpPr>
          <p:cNvPr id="37" name="Shape 15"/>
          <p:cNvSpPr/>
          <p:nvPr/>
        </p:nvSpPr>
        <p:spPr>
          <a:xfrm>
            <a:off x="868680" y="5715000"/>
            <a:ext cx="10287000" cy="617706"/>
          </a:xfrm>
          <a:prstGeom prst="roundRect">
            <a:avLst>
              <a:gd name="adj" fmla="val 12727"/>
            </a:avLst>
          </a:prstGeom>
          <a:solidFill>
            <a:srgbClr val="EDF8F7"/>
          </a:solidFill>
          <a:ln w="12700">
            <a:solidFill>
              <a:srgbClr val="18B7A8"/>
            </a:solidFill>
            <a:prstDash val="solid"/>
          </a:ln>
        </p:spPr>
      </p:sp>
      <p:sp>
        <p:nvSpPr>
          <p:cNvPr id="38" name="Text 16"/>
          <p:cNvSpPr/>
          <p:nvPr/>
        </p:nvSpPr>
        <p:spPr>
          <a:xfrm>
            <a:off x="1033272" y="5861303"/>
            <a:ext cx="9957816" cy="384047"/>
          </a:xfrm>
          <a:prstGeom prst="rect">
            <a:avLst/>
          </a:prstGeom>
          <a:noFill/>
          <a:ln/>
        </p:spPr>
        <p:txBody>
          <a:bodyPr wrap="square" lIns="0" tIns="0" rIns="0" bIns="0" rtlCol="0" anchor="ctr">
            <a:noAutofit/>
          </a:bodyPr>
          <a:lstStyle/>
          <a:p>
            <a:pPr marL="0" indent="0" algn="ctr">
              <a:buNone/>
            </a:pPr>
            <a:r>
              <a:rPr lang="en-US" sz="1600" b="1" dirty="0">
                <a:solidFill>
                  <a:srgbClr val="183D4A"/>
                </a:solidFill>
              </a:rPr>
              <a:t>Una falla en un </a:t>
            </a:r>
            <a:r>
              <a:rPr lang="en-US" sz="1600" b="1" dirty="0" err="1">
                <a:solidFill>
                  <a:srgbClr val="183D4A"/>
                </a:solidFill>
              </a:rPr>
              <a:t>componente</a:t>
            </a:r>
            <a:r>
              <a:rPr lang="en-US" sz="1600" b="1" dirty="0">
                <a:solidFill>
                  <a:srgbClr val="183D4A"/>
                </a:solidFill>
              </a:rPr>
              <a:t> </a:t>
            </a:r>
            <a:r>
              <a:rPr lang="en-US" sz="1600" b="1" dirty="0" err="1">
                <a:solidFill>
                  <a:srgbClr val="183D4A"/>
                </a:solidFill>
              </a:rPr>
              <a:t>facilitador</a:t>
            </a:r>
            <a:r>
              <a:rPr lang="en-US" sz="1600" b="1" dirty="0">
                <a:solidFill>
                  <a:srgbClr val="183D4A"/>
                </a:solidFill>
              </a:rPr>
              <a:t>, </a:t>
            </a:r>
            <a:r>
              <a:rPr lang="en-US" sz="1600" b="1" dirty="0" err="1">
                <a:solidFill>
                  <a:srgbClr val="183D4A"/>
                </a:solidFill>
              </a:rPr>
              <a:t>por</a:t>
            </a:r>
            <a:r>
              <a:rPr lang="en-US" sz="1600" b="1" dirty="0">
                <a:solidFill>
                  <a:srgbClr val="183D4A"/>
                </a:solidFill>
              </a:rPr>
              <a:t> ejemplo, </a:t>
            </a:r>
            <a:r>
              <a:rPr lang="en-US" sz="1600" b="1" dirty="0" err="1">
                <a:solidFill>
                  <a:srgbClr val="183D4A"/>
                </a:solidFill>
              </a:rPr>
              <a:t>información</a:t>
            </a:r>
            <a:r>
              <a:rPr lang="en-US" sz="1600" b="1" dirty="0">
                <a:solidFill>
                  <a:srgbClr val="183D4A"/>
                </a:solidFill>
              </a:rPr>
              <a:t> </a:t>
            </a:r>
            <a:r>
              <a:rPr lang="en-US" sz="1600" b="1" dirty="0" err="1">
                <a:solidFill>
                  <a:srgbClr val="183D4A"/>
                </a:solidFill>
              </a:rPr>
              <a:t>confusa</a:t>
            </a:r>
            <a:r>
              <a:rPr lang="en-US" sz="1600" b="1" dirty="0">
                <a:solidFill>
                  <a:srgbClr val="183D4A"/>
                </a:solidFill>
              </a:rPr>
              <a:t>, puede deteriorar la experiencia aunque la atención clínica sea adecuada.</a:t>
            </a:r>
            <a:endParaRPr lang="en-US" sz="1600" dirty="0"/>
          </a:p>
        </p:txBody>
      </p:sp>
      <p:sp>
        <p:nvSpPr>
          <p:cNvPr id="39" name="Shape 2"/>
          <p:cNvSpPr/>
          <p:nvPr/>
        </p:nvSpPr>
        <p:spPr>
          <a:xfrm>
            <a:off x="320040" y="1389888"/>
            <a:ext cx="11567160" cy="0"/>
          </a:xfrm>
          <a:prstGeom prst="line">
            <a:avLst/>
          </a:prstGeom>
          <a:noFill/>
          <a:ln w="15875">
            <a:solidFill>
              <a:srgbClr val="D8E6E6"/>
            </a:solidFill>
            <a:prstDash val="solid"/>
          </a:ln>
        </p:spPr>
      </p:sp>
    </p:spTree>
    <p:extLst>
      <p:ext uri="{BB962C8B-B14F-4D97-AF65-F5344CB8AC3E}">
        <p14:creationId xmlns:p14="http://schemas.microsoft.com/office/powerpoint/2010/main" val="2063584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r>
              <a:rPr lang="es-MX" sz="2500" b="1" dirty="0">
                <a:solidFill>
                  <a:srgbClr val="0B3D3F"/>
                </a:solidFill>
                <a:latin typeface="Cambria" pitchFamily="34" charset="0"/>
                <a:ea typeface="Cambria" pitchFamily="34" charset="-122"/>
                <a:cs typeface="Cambria" pitchFamily="34" charset="-120"/>
              </a:rPr>
              <a:t>Del usuario a la persona: qué cambia en la práctica</a:t>
            </a:r>
          </a:p>
        </p:txBody>
      </p:sp>
      <p:sp>
        <p:nvSpPr>
          <p:cNvPr id="39" name="Shape 2"/>
          <p:cNvSpPr/>
          <p:nvPr/>
        </p:nvSpPr>
        <p:spPr>
          <a:xfrm>
            <a:off x="320040" y="1389888"/>
            <a:ext cx="11567160" cy="0"/>
          </a:xfrm>
          <a:prstGeom prst="line">
            <a:avLst/>
          </a:prstGeom>
          <a:noFill/>
          <a:ln w="15875">
            <a:solidFill>
              <a:srgbClr val="D8E6E6"/>
            </a:solidFill>
            <a:prstDash val="solid"/>
          </a:ln>
        </p:spPr>
      </p:sp>
      <p:sp>
        <p:nvSpPr>
          <p:cNvPr id="23" name="Shape 3"/>
          <p:cNvSpPr/>
          <p:nvPr/>
        </p:nvSpPr>
        <p:spPr>
          <a:xfrm>
            <a:off x="640080" y="1645920"/>
            <a:ext cx="3154680" cy="2971800"/>
          </a:xfrm>
          <a:prstGeom prst="roundRect">
            <a:avLst>
              <a:gd name="adj" fmla="val 2462"/>
            </a:avLst>
          </a:prstGeom>
          <a:solidFill>
            <a:srgbClr val="F5FBFA"/>
          </a:solidFill>
          <a:ln w="15240">
            <a:solidFill>
              <a:srgbClr val="D8E6E4"/>
            </a:solidFill>
            <a:prstDash val="solid"/>
          </a:ln>
        </p:spPr>
      </p:sp>
      <p:sp>
        <p:nvSpPr>
          <p:cNvPr id="24" name="Text 4"/>
          <p:cNvSpPr/>
          <p:nvPr/>
        </p:nvSpPr>
        <p:spPr>
          <a:xfrm>
            <a:off x="822960" y="1965960"/>
            <a:ext cx="2788920" cy="292608"/>
          </a:xfrm>
          <a:prstGeom prst="rect">
            <a:avLst/>
          </a:prstGeom>
          <a:noFill/>
          <a:ln/>
        </p:spPr>
        <p:txBody>
          <a:bodyPr wrap="square" lIns="0" tIns="0" rIns="0" bIns="0" rtlCol="0" anchor="ctr"/>
          <a:lstStyle/>
          <a:p>
            <a:pPr marL="0" indent="0" algn="ctr">
              <a:buNone/>
            </a:pPr>
            <a:r>
              <a:rPr lang="en-US" sz="2400" b="1" dirty="0">
                <a:solidFill>
                  <a:srgbClr val="183D4A"/>
                </a:solidFill>
              </a:rPr>
              <a:t>Usuario</a:t>
            </a:r>
            <a:endParaRPr lang="en-US" sz="2400" dirty="0"/>
          </a:p>
        </p:txBody>
      </p:sp>
      <p:sp>
        <p:nvSpPr>
          <p:cNvPr id="25" name="Text 5"/>
          <p:cNvSpPr/>
          <p:nvPr/>
        </p:nvSpPr>
        <p:spPr>
          <a:xfrm>
            <a:off x="868680" y="2514600"/>
            <a:ext cx="2697480" cy="1882302"/>
          </a:xfrm>
          <a:prstGeom prst="rect">
            <a:avLst/>
          </a:prstGeom>
          <a:noFill/>
          <a:ln/>
        </p:spPr>
        <p:txBody>
          <a:bodyPr wrap="square" lIns="0" tIns="0" rIns="0" bIns="0" rtlCol="0" anchor="ctr">
            <a:normAutofit/>
          </a:bodyPr>
          <a:lstStyle/>
          <a:p>
            <a:pPr marL="0" indent="0" algn="ctr">
              <a:buNone/>
            </a:pPr>
            <a:r>
              <a:rPr lang="en-US" sz="1600" dirty="0">
                <a:solidFill>
                  <a:srgbClr val="193033"/>
                </a:solidFill>
              </a:rPr>
              <a:t>Se le mira principalmente como destinatario del trámite o prestación. La institución espera que siga el proceso establecido.</a:t>
            </a:r>
            <a:endParaRPr lang="en-US" sz="1600" dirty="0"/>
          </a:p>
        </p:txBody>
      </p:sp>
      <p:sp>
        <p:nvSpPr>
          <p:cNvPr id="26" name="Shape 6"/>
          <p:cNvSpPr/>
          <p:nvPr/>
        </p:nvSpPr>
        <p:spPr>
          <a:xfrm>
            <a:off x="4251960" y="1645920"/>
            <a:ext cx="3154680" cy="2971800"/>
          </a:xfrm>
          <a:prstGeom prst="roundRect">
            <a:avLst>
              <a:gd name="adj" fmla="val 2462"/>
            </a:avLst>
          </a:prstGeom>
          <a:solidFill>
            <a:srgbClr val="F5FBFA"/>
          </a:solidFill>
          <a:ln w="15240">
            <a:solidFill>
              <a:srgbClr val="D8E6E4"/>
            </a:solidFill>
            <a:prstDash val="solid"/>
          </a:ln>
        </p:spPr>
      </p:sp>
      <p:sp>
        <p:nvSpPr>
          <p:cNvPr id="27" name="Text 7"/>
          <p:cNvSpPr/>
          <p:nvPr/>
        </p:nvSpPr>
        <p:spPr>
          <a:xfrm>
            <a:off x="4434840" y="1965960"/>
            <a:ext cx="2788920" cy="292608"/>
          </a:xfrm>
          <a:prstGeom prst="rect">
            <a:avLst/>
          </a:prstGeom>
          <a:noFill/>
          <a:ln/>
        </p:spPr>
        <p:txBody>
          <a:bodyPr wrap="square" lIns="0" tIns="0" rIns="0" bIns="0" rtlCol="0" anchor="ctr"/>
          <a:lstStyle/>
          <a:p>
            <a:pPr marL="0" indent="0" algn="ctr">
              <a:buNone/>
            </a:pPr>
            <a:r>
              <a:rPr lang="en-US" sz="2400" b="1" dirty="0">
                <a:solidFill>
                  <a:srgbClr val="183D4A"/>
                </a:solidFill>
              </a:rPr>
              <a:t>Paciente</a:t>
            </a:r>
            <a:endParaRPr lang="en-US" sz="2400" dirty="0"/>
          </a:p>
        </p:txBody>
      </p:sp>
      <p:sp>
        <p:nvSpPr>
          <p:cNvPr id="28" name="Text 8"/>
          <p:cNvSpPr/>
          <p:nvPr/>
        </p:nvSpPr>
        <p:spPr>
          <a:xfrm>
            <a:off x="4480560" y="2514600"/>
            <a:ext cx="2697480" cy="1882302"/>
          </a:xfrm>
          <a:prstGeom prst="rect">
            <a:avLst/>
          </a:prstGeom>
          <a:noFill/>
          <a:ln/>
        </p:spPr>
        <p:txBody>
          <a:bodyPr wrap="square" lIns="0" tIns="0" rIns="0" bIns="0" rtlCol="0" anchor="ctr">
            <a:normAutofit/>
          </a:bodyPr>
          <a:lstStyle/>
          <a:p>
            <a:pPr marL="0" indent="0" algn="ctr">
              <a:buNone/>
            </a:pPr>
            <a:r>
              <a:rPr lang="en-US" sz="1600" dirty="0">
                <a:solidFill>
                  <a:srgbClr val="193033"/>
                </a:solidFill>
              </a:rPr>
              <a:t>Se reconoce su condición de salud, pero el foco puede mantenerse en la enfermedad, diagnóstico o procedimiento.</a:t>
            </a:r>
            <a:endParaRPr lang="en-US" sz="1600" dirty="0"/>
          </a:p>
        </p:txBody>
      </p:sp>
      <p:sp>
        <p:nvSpPr>
          <p:cNvPr id="29" name="Shape 9"/>
          <p:cNvSpPr/>
          <p:nvPr/>
        </p:nvSpPr>
        <p:spPr>
          <a:xfrm>
            <a:off x="7863840" y="1645920"/>
            <a:ext cx="3154680" cy="2971800"/>
          </a:xfrm>
          <a:prstGeom prst="roundRect">
            <a:avLst>
              <a:gd name="adj" fmla="val 2462"/>
            </a:avLst>
          </a:prstGeom>
          <a:solidFill>
            <a:srgbClr val="EDF8F7"/>
          </a:solidFill>
          <a:ln w="15240">
            <a:solidFill>
              <a:srgbClr val="18B7A8"/>
            </a:solidFill>
            <a:prstDash val="solid"/>
          </a:ln>
        </p:spPr>
      </p:sp>
      <p:sp>
        <p:nvSpPr>
          <p:cNvPr id="30" name="Text 10"/>
          <p:cNvSpPr/>
          <p:nvPr/>
        </p:nvSpPr>
        <p:spPr>
          <a:xfrm>
            <a:off x="8046720" y="1965960"/>
            <a:ext cx="2788920" cy="292608"/>
          </a:xfrm>
          <a:prstGeom prst="rect">
            <a:avLst/>
          </a:prstGeom>
          <a:noFill/>
          <a:ln/>
        </p:spPr>
        <p:txBody>
          <a:bodyPr wrap="square" lIns="0" tIns="0" rIns="0" bIns="0" rtlCol="0" anchor="ctr"/>
          <a:lstStyle/>
          <a:p>
            <a:pPr marL="0" indent="0" algn="ctr">
              <a:buNone/>
            </a:pPr>
            <a:r>
              <a:rPr lang="en-US" sz="2400" b="1" dirty="0">
                <a:solidFill>
                  <a:srgbClr val="008B8B"/>
                </a:solidFill>
              </a:rPr>
              <a:t>Persona</a:t>
            </a:r>
            <a:endParaRPr lang="en-US" sz="2400" dirty="0"/>
          </a:p>
        </p:txBody>
      </p:sp>
      <p:sp>
        <p:nvSpPr>
          <p:cNvPr id="31" name="Text 11"/>
          <p:cNvSpPr/>
          <p:nvPr/>
        </p:nvSpPr>
        <p:spPr>
          <a:xfrm>
            <a:off x="8092440" y="2514600"/>
            <a:ext cx="2697480" cy="1882302"/>
          </a:xfrm>
          <a:prstGeom prst="rect">
            <a:avLst/>
          </a:prstGeom>
          <a:noFill/>
          <a:ln/>
        </p:spPr>
        <p:txBody>
          <a:bodyPr wrap="square" lIns="0" tIns="0" rIns="0" bIns="0" rtlCol="0" anchor="ctr">
            <a:normAutofit/>
          </a:bodyPr>
          <a:lstStyle/>
          <a:p>
            <a:pPr marL="0" indent="0" algn="ctr">
              <a:buNone/>
            </a:pPr>
            <a:r>
              <a:rPr lang="en-US" sz="1600" dirty="0">
                <a:solidFill>
                  <a:srgbClr val="193033"/>
                </a:solidFill>
              </a:rPr>
              <a:t>Se consideran necesidades, emociones, contexto familiar, barreras de acceso, comprensión de la información y posibilidad real de decidir.</a:t>
            </a:r>
            <a:endParaRPr lang="en-US" sz="1600" dirty="0"/>
          </a:p>
        </p:txBody>
      </p:sp>
      <p:sp>
        <p:nvSpPr>
          <p:cNvPr id="40" name="Shape 12"/>
          <p:cNvSpPr/>
          <p:nvPr/>
        </p:nvSpPr>
        <p:spPr>
          <a:xfrm>
            <a:off x="3767522" y="3063240"/>
            <a:ext cx="502920" cy="0"/>
          </a:xfrm>
          <a:prstGeom prst="line">
            <a:avLst/>
          </a:prstGeom>
          <a:noFill/>
          <a:ln w="25400">
            <a:solidFill>
              <a:srgbClr val="18B7A8"/>
            </a:solidFill>
            <a:prstDash val="solid"/>
            <a:tailEnd type="triangle"/>
          </a:ln>
        </p:spPr>
      </p:sp>
      <p:sp>
        <p:nvSpPr>
          <p:cNvPr id="41" name="Shape 13"/>
          <p:cNvSpPr/>
          <p:nvPr/>
        </p:nvSpPr>
        <p:spPr>
          <a:xfrm>
            <a:off x="7379405" y="3063240"/>
            <a:ext cx="502920" cy="0"/>
          </a:xfrm>
          <a:prstGeom prst="line">
            <a:avLst/>
          </a:prstGeom>
          <a:noFill/>
          <a:ln w="25400">
            <a:solidFill>
              <a:srgbClr val="18B7A8"/>
            </a:solidFill>
            <a:prstDash val="solid"/>
            <a:tailEnd type="triangle"/>
          </a:ln>
        </p:spPr>
      </p:sp>
      <p:sp>
        <p:nvSpPr>
          <p:cNvPr id="42" name="Shape 14"/>
          <p:cNvSpPr/>
          <p:nvPr/>
        </p:nvSpPr>
        <p:spPr>
          <a:xfrm>
            <a:off x="822960" y="5440680"/>
            <a:ext cx="10561320" cy="640080"/>
          </a:xfrm>
          <a:prstGeom prst="roundRect">
            <a:avLst>
              <a:gd name="adj" fmla="val 10000"/>
            </a:avLst>
          </a:prstGeom>
          <a:solidFill>
            <a:srgbClr val="F5FBFA"/>
          </a:solidFill>
          <a:ln w="12700">
            <a:solidFill>
              <a:srgbClr val="18B7A8"/>
            </a:solidFill>
            <a:prstDash val="solid"/>
          </a:ln>
        </p:spPr>
      </p:sp>
      <p:sp>
        <p:nvSpPr>
          <p:cNvPr id="43" name="Text 15"/>
          <p:cNvSpPr/>
          <p:nvPr/>
        </p:nvSpPr>
        <p:spPr>
          <a:xfrm>
            <a:off x="987552" y="5586984"/>
            <a:ext cx="10232136" cy="347472"/>
          </a:xfrm>
          <a:prstGeom prst="rect">
            <a:avLst/>
          </a:prstGeom>
          <a:noFill/>
          <a:ln/>
        </p:spPr>
        <p:txBody>
          <a:bodyPr wrap="square" lIns="0" tIns="0" rIns="0" bIns="0" rtlCol="0" anchor="ctr">
            <a:noAutofit/>
          </a:bodyPr>
          <a:lstStyle/>
          <a:p>
            <a:pPr marL="0" indent="0" algn="just">
              <a:buNone/>
            </a:pPr>
            <a:r>
              <a:rPr lang="en-US" sz="1600" b="1" dirty="0">
                <a:solidFill>
                  <a:srgbClr val="183D4A"/>
                </a:solidFill>
              </a:rPr>
              <a:t>No se trata de dejar de hablar de usuario o paciente cuando la norma lo usa; se trata de no reducir a la persona a un expediente, turno o reclamo.</a:t>
            </a:r>
            <a:endParaRPr lang="en-US" sz="1600" dirty="0"/>
          </a:p>
        </p:txBody>
      </p:sp>
    </p:spTree>
    <p:extLst>
      <p:ext uri="{BB962C8B-B14F-4D97-AF65-F5344CB8AC3E}">
        <p14:creationId xmlns:p14="http://schemas.microsoft.com/office/powerpoint/2010/main" val="3114149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59529" y="505228"/>
            <a:ext cx="7105181" cy="292608"/>
          </a:xfrm>
          <a:prstGeom prst="rect">
            <a:avLst/>
          </a:prstGeom>
          <a:noFill/>
          <a:ln/>
        </p:spPr>
        <p:txBody>
          <a:bodyPr wrap="square" rtlCol="0" anchor="ctr"/>
          <a:lstStyle/>
          <a:p>
            <a:pPr marL="0" indent="0">
              <a:buNone/>
            </a:pPr>
            <a:r>
              <a:rPr lang="en-US" sz="1250" b="1" kern="0" spc="200" dirty="0">
                <a:solidFill>
                  <a:srgbClr val="028090"/>
                </a:solidFill>
                <a:latin typeface="Calibri" pitchFamily="34" charset="0"/>
                <a:ea typeface="Calibri" pitchFamily="34" charset="-122"/>
                <a:cs typeface="Calibri" pitchFamily="34" charset="-120"/>
              </a:rPr>
              <a:t>UNIDAD I  ·  Sesión 1</a:t>
            </a:r>
            <a:endParaRPr lang="en-US" sz="1250" dirty="0"/>
          </a:p>
        </p:txBody>
      </p:sp>
      <p:pic>
        <p:nvPicPr>
          <p:cNvPr id="11" name="Imagen 10">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56695"/>
            <a:ext cx="2036728" cy="825458"/>
          </a:xfrm>
          <a:prstGeom prst="rect">
            <a:avLst/>
          </a:prstGeom>
        </p:spPr>
      </p:pic>
      <p:sp>
        <p:nvSpPr>
          <p:cNvPr id="8" name="Text 1"/>
          <p:cNvSpPr/>
          <p:nvPr/>
        </p:nvSpPr>
        <p:spPr>
          <a:xfrm>
            <a:off x="2427320" y="716806"/>
            <a:ext cx="9509760" cy="411480"/>
          </a:xfrm>
          <a:prstGeom prst="rect">
            <a:avLst/>
          </a:prstGeom>
          <a:noFill/>
          <a:ln/>
        </p:spPr>
        <p:txBody>
          <a:bodyPr wrap="square" lIns="0" tIns="0" rIns="0" bIns="0" rtlCol="0" anchor="ctr">
            <a:normAutofit/>
          </a:bodyPr>
          <a:lstStyle/>
          <a:p>
            <a:r>
              <a:rPr lang="es-MX" sz="2500" b="1" dirty="0">
                <a:solidFill>
                  <a:srgbClr val="0B3D3F"/>
                </a:solidFill>
                <a:latin typeface="Cambria" pitchFamily="34" charset="0"/>
                <a:ea typeface="Cambria" pitchFamily="34" charset="-122"/>
                <a:cs typeface="Cambria" pitchFamily="34" charset="-120"/>
              </a:rPr>
              <a:t>Ideas claves</a:t>
            </a:r>
          </a:p>
        </p:txBody>
      </p:sp>
      <p:sp>
        <p:nvSpPr>
          <p:cNvPr id="39" name="Shape 2"/>
          <p:cNvSpPr/>
          <p:nvPr/>
        </p:nvSpPr>
        <p:spPr>
          <a:xfrm>
            <a:off x="320040" y="1389888"/>
            <a:ext cx="11567160" cy="0"/>
          </a:xfrm>
          <a:prstGeom prst="line">
            <a:avLst/>
          </a:prstGeom>
          <a:noFill/>
          <a:ln w="15875">
            <a:solidFill>
              <a:srgbClr val="D8E6E6"/>
            </a:solidFill>
            <a:prstDash val="solid"/>
          </a:ln>
        </p:spPr>
      </p:sp>
      <p:sp>
        <p:nvSpPr>
          <p:cNvPr id="19" name="Shape 3"/>
          <p:cNvSpPr/>
          <p:nvPr/>
        </p:nvSpPr>
        <p:spPr>
          <a:xfrm>
            <a:off x="914400" y="1932887"/>
            <a:ext cx="10287000" cy="566928"/>
          </a:xfrm>
          <a:prstGeom prst="roundRect">
            <a:avLst>
              <a:gd name="adj" fmla="val 12903"/>
            </a:avLst>
          </a:prstGeom>
          <a:solidFill>
            <a:srgbClr val="F5FBFA"/>
          </a:solidFill>
          <a:ln w="12700">
            <a:solidFill>
              <a:srgbClr val="D8E6E4"/>
            </a:solidFill>
            <a:prstDash val="solid"/>
          </a:ln>
        </p:spPr>
      </p:sp>
      <p:sp>
        <p:nvSpPr>
          <p:cNvPr id="20" name="Text 4"/>
          <p:cNvSpPr/>
          <p:nvPr/>
        </p:nvSpPr>
        <p:spPr>
          <a:xfrm>
            <a:off x="1097280" y="2096118"/>
            <a:ext cx="274320" cy="182880"/>
          </a:xfrm>
          <a:prstGeom prst="rect">
            <a:avLst/>
          </a:prstGeom>
          <a:noFill/>
          <a:ln/>
        </p:spPr>
        <p:txBody>
          <a:bodyPr wrap="square" lIns="0" tIns="0" rIns="0" bIns="0" rtlCol="0" anchor="ctr"/>
          <a:lstStyle/>
          <a:p>
            <a:pPr marL="0" indent="0" algn="ctr">
              <a:buNone/>
            </a:pPr>
            <a:r>
              <a:rPr lang="en-US" sz="1600" b="1" dirty="0">
                <a:solidFill>
                  <a:srgbClr val="008B8B"/>
                </a:solidFill>
              </a:rPr>
              <a:t>1</a:t>
            </a:r>
            <a:endParaRPr lang="en-US" sz="1600" dirty="0"/>
          </a:p>
        </p:txBody>
      </p:sp>
      <p:sp>
        <p:nvSpPr>
          <p:cNvPr id="21" name="Text 5"/>
          <p:cNvSpPr/>
          <p:nvPr/>
        </p:nvSpPr>
        <p:spPr>
          <a:xfrm>
            <a:off x="1600200" y="2010511"/>
            <a:ext cx="9144000" cy="411480"/>
          </a:xfrm>
          <a:prstGeom prst="rect">
            <a:avLst/>
          </a:prstGeom>
          <a:noFill/>
          <a:ln/>
        </p:spPr>
        <p:txBody>
          <a:bodyPr wrap="square" lIns="0" tIns="0" rIns="0" bIns="0" rtlCol="0" anchor="ctr">
            <a:normAutofit/>
          </a:bodyPr>
          <a:lstStyle/>
          <a:p>
            <a:pPr marL="0" indent="0">
              <a:buNone/>
            </a:pPr>
            <a:r>
              <a:rPr lang="en-US" sz="1600" b="1" dirty="0">
                <a:solidFill>
                  <a:srgbClr val="183D4A"/>
                </a:solidFill>
              </a:rPr>
              <a:t>El servicio en salud se vive en interacciones, no solo en protocolos.</a:t>
            </a:r>
            <a:endParaRPr lang="en-US" sz="1600" dirty="0"/>
          </a:p>
        </p:txBody>
      </p:sp>
      <p:sp>
        <p:nvSpPr>
          <p:cNvPr id="22" name="Shape 6"/>
          <p:cNvSpPr/>
          <p:nvPr/>
        </p:nvSpPr>
        <p:spPr>
          <a:xfrm>
            <a:off x="914400" y="2682695"/>
            <a:ext cx="10287000" cy="566928"/>
          </a:xfrm>
          <a:prstGeom prst="roundRect">
            <a:avLst>
              <a:gd name="adj" fmla="val 12903"/>
            </a:avLst>
          </a:prstGeom>
          <a:solidFill>
            <a:srgbClr val="FFFFFF"/>
          </a:solidFill>
          <a:ln w="12700">
            <a:solidFill>
              <a:srgbClr val="D8E6E4"/>
            </a:solidFill>
            <a:prstDash val="solid"/>
          </a:ln>
        </p:spPr>
      </p:sp>
      <p:sp>
        <p:nvSpPr>
          <p:cNvPr id="32" name="Text 7"/>
          <p:cNvSpPr/>
          <p:nvPr/>
        </p:nvSpPr>
        <p:spPr>
          <a:xfrm>
            <a:off x="1097280" y="2845926"/>
            <a:ext cx="274320" cy="182880"/>
          </a:xfrm>
          <a:prstGeom prst="rect">
            <a:avLst/>
          </a:prstGeom>
          <a:noFill/>
          <a:ln/>
        </p:spPr>
        <p:txBody>
          <a:bodyPr wrap="square" lIns="0" tIns="0" rIns="0" bIns="0" rtlCol="0" anchor="ctr"/>
          <a:lstStyle/>
          <a:p>
            <a:pPr marL="0" indent="0" algn="ctr">
              <a:buNone/>
            </a:pPr>
            <a:r>
              <a:rPr lang="en-US" sz="1600" b="1" dirty="0">
                <a:solidFill>
                  <a:srgbClr val="008B8B"/>
                </a:solidFill>
              </a:rPr>
              <a:t>2</a:t>
            </a:r>
            <a:endParaRPr lang="en-US" sz="1600" dirty="0"/>
          </a:p>
        </p:txBody>
      </p:sp>
      <p:sp>
        <p:nvSpPr>
          <p:cNvPr id="33" name="Text 8"/>
          <p:cNvSpPr/>
          <p:nvPr/>
        </p:nvSpPr>
        <p:spPr>
          <a:xfrm>
            <a:off x="1600200" y="2760319"/>
            <a:ext cx="9144000" cy="411480"/>
          </a:xfrm>
          <a:prstGeom prst="rect">
            <a:avLst/>
          </a:prstGeom>
          <a:noFill/>
          <a:ln/>
        </p:spPr>
        <p:txBody>
          <a:bodyPr wrap="square" lIns="0" tIns="0" rIns="0" bIns="0" rtlCol="0" anchor="ctr">
            <a:normAutofit/>
          </a:bodyPr>
          <a:lstStyle/>
          <a:p>
            <a:pPr marL="0" indent="0">
              <a:buNone/>
            </a:pPr>
            <a:r>
              <a:rPr lang="en-US" sz="1600" b="1" dirty="0">
                <a:solidFill>
                  <a:srgbClr val="183D4A"/>
                </a:solidFill>
              </a:rPr>
              <a:t>La vulnerabilidad del paciente exige comunicación clara y trato digno.</a:t>
            </a:r>
            <a:endParaRPr lang="en-US" sz="1600" dirty="0"/>
          </a:p>
        </p:txBody>
      </p:sp>
      <p:sp>
        <p:nvSpPr>
          <p:cNvPr id="34" name="Shape 9"/>
          <p:cNvSpPr/>
          <p:nvPr/>
        </p:nvSpPr>
        <p:spPr>
          <a:xfrm>
            <a:off x="914400" y="3432503"/>
            <a:ext cx="10287000" cy="566928"/>
          </a:xfrm>
          <a:prstGeom prst="roundRect">
            <a:avLst>
              <a:gd name="adj" fmla="val 12903"/>
            </a:avLst>
          </a:prstGeom>
          <a:solidFill>
            <a:srgbClr val="F5FBFA"/>
          </a:solidFill>
          <a:ln w="12700">
            <a:solidFill>
              <a:srgbClr val="D8E6E4"/>
            </a:solidFill>
            <a:prstDash val="solid"/>
          </a:ln>
        </p:spPr>
      </p:sp>
      <p:sp>
        <p:nvSpPr>
          <p:cNvPr id="35" name="Text 10"/>
          <p:cNvSpPr/>
          <p:nvPr/>
        </p:nvSpPr>
        <p:spPr>
          <a:xfrm>
            <a:off x="1097280" y="3595734"/>
            <a:ext cx="274320" cy="182880"/>
          </a:xfrm>
          <a:prstGeom prst="rect">
            <a:avLst/>
          </a:prstGeom>
          <a:noFill/>
          <a:ln/>
        </p:spPr>
        <p:txBody>
          <a:bodyPr wrap="square" lIns="0" tIns="0" rIns="0" bIns="0" rtlCol="0" anchor="ctr"/>
          <a:lstStyle/>
          <a:p>
            <a:pPr marL="0" indent="0" algn="ctr">
              <a:buNone/>
            </a:pPr>
            <a:r>
              <a:rPr lang="en-US" sz="1600" b="1" dirty="0">
                <a:solidFill>
                  <a:srgbClr val="008B8B"/>
                </a:solidFill>
              </a:rPr>
              <a:t>3</a:t>
            </a:r>
            <a:endParaRPr lang="en-US" sz="1600" dirty="0"/>
          </a:p>
        </p:txBody>
      </p:sp>
      <p:sp>
        <p:nvSpPr>
          <p:cNvPr id="36" name="Text 11"/>
          <p:cNvSpPr/>
          <p:nvPr/>
        </p:nvSpPr>
        <p:spPr>
          <a:xfrm>
            <a:off x="1600200" y="3510127"/>
            <a:ext cx="9144000" cy="411480"/>
          </a:xfrm>
          <a:prstGeom prst="rect">
            <a:avLst/>
          </a:prstGeom>
          <a:noFill/>
          <a:ln/>
        </p:spPr>
        <p:txBody>
          <a:bodyPr wrap="square" lIns="0" tIns="0" rIns="0" bIns="0" rtlCol="0" anchor="ctr">
            <a:normAutofit/>
          </a:bodyPr>
          <a:lstStyle/>
          <a:p>
            <a:pPr marL="0" indent="0">
              <a:buNone/>
            </a:pPr>
            <a:r>
              <a:rPr lang="en-US" sz="1600" b="1" dirty="0">
                <a:solidFill>
                  <a:srgbClr val="183D4A"/>
                </a:solidFill>
              </a:rPr>
              <a:t>La atención centrada en la persona amplía la mirada clínica, no la reemplaza.</a:t>
            </a:r>
            <a:endParaRPr lang="en-US" sz="1600" dirty="0"/>
          </a:p>
        </p:txBody>
      </p:sp>
      <p:sp>
        <p:nvSpPr>
          <p:cNvPr id="37" name="Shape 12"/>
          <p:cNvSpPr/>
          <p:nvPr/>
        </p:nvSpPr>
        <p:spPr>
          <a:xfrm>
            <a:off x="914400" y="4182311"/>
            <a:ext cx="10287000" cy="566928"/>
          </a:xfrm>
          <a:prstGeom prst="roundRect">
            <a:avLst>
              <a:gd name="adj" fmla="val 12903"/>
            </a:avLst>
          </a:prstGeom>
          <a:solidFill>
            <a:srgbClr val="FFFFFF"/>
          </a:solidFill>
          <a:ln w="12700">
            <a:solidFill>
              <a:srgbClr val="D8E6E4"/>
            </a:solidFill>
            <a:prstDash val="solid"/>
          </a:ln>
        </p:spPr>
      </p:sp>
      <p:sp>
        <p:nvSpPr>
          <p:cNvPr id="38" name="Text 13"/>
          <p:cNvSpPr/>
          <p:nvPr/>
        </p:nvSpPr>
        <p:spPr>
          <a:xfrm>
            <a:off x="1097280" y="4345542"/>
            <a:ext cx="274320" cy="182880"/>
          </a:xfrm>
          <a:prstGeom prst="rect">
            <a:avLst/>
          </a:prstGeom>
          <a:noFill/>
          <a:ln/>
        </p:spPr>
        <p:txBody>
          <a:bodyPr wrap="square" lIns="0" tIns="0" rIns="0" bIns="0" rtlCol="0" anchor="ctr"/>
          <a:lstStyle/>
          <a:p>
            <a:pPr marL="0" indent="0" algn="ctr">
              <a:buNone/>
            </a:pPr>
            <a:r>
              <a:rPr lang="en-US" sz="1600" b="1" dirty="0">
                <a:solidFill>
                  <a:srgbClr val="008B8B"/>
                </a:solidFill>
              </a:rPr>
              <a:t>4</a:t>
            </a:r>
            <a:endParaRPr lang="en-US" sz="1600" dirty="0"/>
          </a:p>
        </p:txBody>
      </p:sp>
      <p:sp>
        <p:nvSpPr>
          <p:cNvPr id="44" name="Text 14"/>
          <p:cNvSpPr/>
          <p:nvPr/>
        </p:nvSpPr>
        <p:spPr>
          <a:xfrm>
            <a:off x="1600200" y="4259935"/>
            <a:ext cx="9144000" cy="411480"/>
          </a:xfrm>
          <a:prstGeom prst="rect">
            <a:avLst/>
          </a:prstGeom>
          <a:noFill/>
          <a:ln/>
        </p:spPr>
        <p:txBody>
          <a:bodyPr wrap="square" lIns="0" tIns="0" rIns="0" bIns="0" rtlCol="0" anchor="ctr">
            <a:normAutofit/>
          </a:bodyPr>
          <a:lstStyle/>
          <a:p>
            <a:pPr marL="0" indent="0">
              <a:buNone/>
            </a:pPr>
            <a:r>
              <a:rPr lang="en-US" sz="1600" b="1" dirty="0">
                <a:solidFill>
                  <a:srgbClr val="183D4A"/>
                </a:solidFill>
              </a:rPr>
              <a:t>La cultura de servicio se sostiene con liderazgo, soporte y coordinación interna.</a:t>
            </a:r>
            <a:endParaRPr lang="en-US" sz="1600" dirty="0"/>
          </a:p>
        </p:txBody>
      </p:sp>
      <p:sp>
        <p:nvSpPr>
          <p:cNvPr id="45" name="Shape 15"/>
          <p:cNvSpPr/>
          <p:nvPr/>
        </p:nvSpPr>
        <p:spPr>
          <a:xfrm>
            <a:off x="914400" y="4932119"/>
            <a:ext cx="10287000" cy="566928"/>
          </a:xfrm>
          <a:prstGeom prst="roundRect">
            <a:avLst>
              <a:gd name="adj" fmla="val 12903"/>
            </a:avLst>
          </a:prstGeom>
          <a:solidFill>
            <a:srgbClr val="F5FBFA"/>
          </a:solidFill>
          <a:ln w="12700">
            <a:solidFill>
              <a:srgbClr val="D8E6E4"/>
            </a:solidFill>
            <a:prstDash val="solid"/>
          </a:ln>
        </p:spPr>
      </p:sp>
      <p:sp>
        <p:nvSpPr>
          <p:cNvPr id="46" name="Text 16"/>
          <p:cNvSpPr/>
          <p:nvPr/>
        </p:nvSpPr>
        <p:spPr>
          <a:xfrm>
            <a:off x="1097280" y="5095350"/>
            <a:ext cx="274320" cy="182880"/>
          </a:xfrm>
          <a:prstGeom prst="rect">
            <a:avLst/>
          </a:prstGeom>
          <a:noFill/>
          <a:ln/>
        </p:spPr>
        <p:txBody>
          <a:bodyPr wrap="square" lIns="0" tIns="0" rIns="0" bIns="0" rtlCol="0" anchor="ctr"/>
          <a:lstStyle/>
          <a:p>
            <a:pPr marL="0" indent="0" algn="ctr">
              <a:buNone/>
            </a:pPr>
            <a:r>
              <a:rPr lang="en-US" sz="1600" b="1" dirty="0">
                <a:solidFill>
                  <a:srgbClr val="008B8B"/>
                </a:solidFill>
              </a:rPr>
              <a:t>5</a:t>
            </a:r>
            <a:endParaRPr lang="en-US" sz="1600" dirty="0"/>
          </a:p>
        </p:txBody>
      </p:sp>
      <p:sp>
        <p:nvSpPr>
          <p:cNvPr id="47" name="Text 17"/>
          <p:cNvSpPr/>
          <p:nvPr/>
        </p:nvSpPr>
        <p:spPr>
          <a:xfrm>
            <a:off x="1600200" y="5009743"/>
            <a:ext cx="9144000" cy="411480"/>
          </a:xfrm>
          <a:prstGeom prst="rect">
            <a:avLst/>
          </a:prstGeom>
          <a:noFill/>
          <a:ln/>
        </p:spPr>
        <p:txBody>
          <a:bodyPr wrap="square" lIns="0" tIns="0" rIns="0" bIns="0" rtlCol="0" anchor="ctr">
            <a:normAutofit/>
          </a:bodyPr>
          <a:lstStyle/>
          <a:p>
            <a:pPr marL="0" indent="0">
              <a:buNone/>
            </a:pPr>
            <a:r>
              <a:rPr lang="en-US" sz="1600" b="1" dirty="0">
                <a:solidFill>
                  <a:srgbClr val="183D4A"/>
                </a:solidFill>
              </a:rPr>
              <a:t>Cada momento de verdad puede confirmar o romper la confianza institucional.</a:t>
            </a:r>
            <a:endParaRPr lang="en-US" sz="1600" dirty="0"/>
          </a:p>
        </p:txBody>
      </p:sp>
    </p:spTree>
    <p:extLst>
      <p:ext uri="{BB962C8B-B14F-4D97-AF65-F5344CB8AC3E}">
        <p14:creationId xmlns:p14="http://schemas.microsoft.com/office/powerpoint/2010/main" val="2656918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F2F8F8"/>
        </a:solidFill>
        <a:effectLst/>
      </p:bgPr>
    </p:bg>
    <p:spTree>
      <p:nvGrpSpPr>
        <p:cNvPr id="1" name=""/>
        <p:cNvGrpSpPr/>
        <p:nvPr/>
      </p:nvGrpSpPr>
      <p:grpSpPr>
        <a:xfrm>
          <a:off x="0" y="0"/>
          <a:ext cx="0" cy="0"/>
          <a:chOff x="0" y="0"/>
          <a:chExt cx="0" cy="0"/>
        </a:xfrm>
      </p:grpSpPr>
      <p:sp>
        <p:nvSpPr>
          <p:cNvPr id="3" name="Shape 0"/>
          <p:cNvSpPr/>
          <p:nvPr/>
        </p:nvSpPr>
        <p:spPr>
          <a:xfrm>
            <a:off x="9418320" y="4480560"/>
            <a:ext cx="4206240" cy="4206240"/>
          </a:xfrm>
          <a:prstGeom prst="ellipse">
            <a:avLst/>
          </a:prstGeom>
          <a:solidFill>
            <a:srgbClr val="E4F5F3"/>
          </a:solidFill>
          <a:ln/>
        </p:spPr>
      </p:sp>
      <p:sp>
        <p:nvSpPr>
          <p:cNvPr id="4" name="Text 1"/>
          <p:cNvSpPr/>
          <p:nvPr/>
        </p:nvSpPr>
        <p:spPr>
          <a:xfrm>
            <a:off x="822960" y="1188720"/>
            <a:ext cx="7315200" cy="457200"/>
          </a:xfrm>
          <a:prstGeom prst="rect">
            <a:avLst/>
          </a:prstGeom>
          <a:noFill/>
          <a:ln/>
        </p:spPr>
        <p:txBody>
          <a:bodyPr wrap="square" rtlCol="0" anchor="ctr"/>
          <a:lstStyle/>
          <a:p>
            <a:pPr marL="0" indent="0">
              <a:buNone/>
            </a:pPr>
            <a:r>
              <a:rPr lang="en-US" sz="1500" b="1" kern="0" spc="200" dirty="0">
                <a:solidFill>
                  <a:srgbClr val="028090"/>
                </a:solidFill>
                <a:latin typeface="Calibri" pitchFamily="34" charset="0"/>
                <a:ea typeface="Calibri" pitchFamily="34" charset="-122"/>
                <a:cs typeface="Calibri" pitchFamily="34" charset="-120"/>
              </a:rPr>
              <a:t>SÍNTESIS · UNIDAD I</a:t>
            </a:r>
            <a:endParaRPr lang="en-US" sz="1500" dirty="0"/>
          </a:p>
        </p:txBody>
      </p:sp>
      <p:sp>
        <p:nvSpPr>
          <p:cNvPr id="5" name="Text 2"/>
          <p:cNvSpPr/>
          <p:nvPr/>
        </p:nvSpPr>
        <p:spPr>
          <a:xfrm>
            <a:off x="822960" y="1874520"/>
            <a:ext cx="9966960" cy="2560320"/>
          </a:xfrm>
          <a:prstGeom prst="rect">
            <a:avLst/>
          </a:prstGeom>
          <a:noFill/>
          <a:ln/>
        </p:spPr>
        <p:txBody>
          <a:bodyPr wrap="square" rtlCol="0" anchor="ctr"/>
          <a:lstStyle/>
          <a:p>
            <a:pPr marL="0" indent="0" algn="just">
              <a:lnSpc>
                <a:spcPts val="3200"/>
              </a:lnSpc>
              <a:buNone/>
            </a:pPr>
            <a:r>
              <a:rPr lang="en-US" sz="2500" b="1" dirty="0">
                <a:solidFill>
                  <a:srgbClr val="0B3D3F"/>
                </a:solidFill>
                <a:latin typeface="Cambria" pitchFamily="34" charset="0"/>
                <a:ea typeface="Cambria" pitchFamily="34" charset="-122"/>
                <a:cs typeface="Cambria" pitchFamily="34" charset="-120"/>
              </a:rPr>
              <a:t>El servicio no es un “extra” en salud: sus características (intangible, simultáneo, de alto riesgo emocional) lo hacen tan estratégico como el resultado </a:t>
            </a:r>
            <a:r>
              <a:rPr lang="en-US" sz="2500" b="1" dirty="0" err="1">
                <a:solidFill>
                  <a:srgbClr val="0B3D3F"/>
                </a:solidFill>
                <a:latin typeface="Cambria" pitchFamily="34" charset="0"/>
                <a:ea typeface="Cambria" pitchFamily="34" charset="-122"/>
                <a:cs typeface="Cambria" pitchFamily="34" charset="-120"/>
              </a:rPr>
              <a:t>clínico</a:t>
            </a:r>
            <a:r>
              <a:rPr lang="en-US" sz="2500" b="1" dirty="0">
                <a:solidFill>
                  <a:srgbClr val="0B3D3F"/>
                </a:solidFill>
                <a:latin typeface="Cambria" pitchFamily="34" charset="0"/>
                <a:ea typeface="Cambria" pitchFamily="34" charset="-122"/>
                <a:cs typeface="Cambria" pitchFamily="34" charset="-120"/>
              </a:rPr>
              <a:t>  y de la cultura de servicio depende que la institución responda bien en cada momento de verdad.</a:t>
            </a:r>
            <a:endParaRPr lang="en-US" sz="2500" dirty="0"/>
          </a:p>
        </p:txBody>
      </p:sp>
      <p:pic>
        <p:nvPicPr>
          <p:cNvPr id="8" name="Imagen 7">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9492211" y="4480560"/>
            <a:ext cx="4206240" cy="4206240"/>
          </a:xfrm>
          <a:prstGeom prst="ellipse">
            <a:avLst/>
          </a:prstGeom>
          <a:solidFill>
            <a:srgbClr val="E4F5F3"/>
          </a:solidFill>
          <a:ln/>
        </p:spPr>
      </p:sp>
      <p:pic>
        <p:nvPicPr>
          <p:cNvPr id="8" name="Imagen 7">
            <a:extLst>
              <a:ext uri="{FF2B5EF4-FFF2-40B4-BE49-F238E27FC236}">
                <a16:creationId xmlns:a16="http://schemas.microsoft.com/office/drawing/2014/main" id="{476EC513-FBF5-D693-68E1-7DF515DA02D9}"/>
              </a:ext>
            </a:extLst>
          </p:cNvPr>
          <p:cNvPicPr>
            <a:picLocks noChangeAspect="1"/>
          </p:cNvPicPr>
          <p:nvPr/>
        </p:nvPicPr>
        <p:blipFill>
          <a:blip r:embed="rId3"/>
          <a:stretch>
            <a:fillRect/>
          </a:stretch>
        </p:blipFill>
        <p:spPr>
          <a:xfrm>
            <a:off x="294776" y="210513"/>
            <a:ext cx="2036728" cy="825458"/>
          </a:xfrm>
          <a:prstGeom prst="rect">
            <a:avLst/>
          </a:prstGeom>
        </p:spPr>
      </p:pic>
      <p:sp>
        <p:nvSpPr>
          <p:cNvPr id="9" name="Text 0"/>
          <p:cNvSpPr/>
          <p:nvPr/>
        </p:nvSpPr>
        <p:spPr>
          <a:xfrm>
            <a:off x="731520" y="2057400"/>
            <a:ext cx="4937760" cy="502920"/>
          </a:xfrm>
          <a:prstGeom prst="rect">
            <a:avLst/>
          </a:prstGeom>
          <a:noFill/>
          <a:ln/>
        </p:spPr>
        <p:txBody>
          <a:bodyPr wrap="square" lIns="0" tIns="0" rIns="0" bIns="0" rtlCol="0" anchor="ctr"/>
          <a:lstStyle/>
          <a:p>
            <a:pPr marL="0" indent="0">
              <a:buNone/>
            </a:pPr>
            <a:r>
              <a:rPr lang="en-US" sz="3900" b="1" dirty="0">
                <a:solidFill>
                  <a:srgbClr val="183D4A"/>
                </a:solidFill>
                <a:latin typeface="Georgia" pitchFamily="34" charset="0"/>
                <a:ea typeface="Georgia" pitchFamily="34" charset="-122"/>
                <a:cs typeface="Georgia" pitchFamily="34" charset="-120"/>
              </a:rPr>
              <a:t>Gracias</a:t>
            </a:r>
            <a:endParaRPr lang="en-US" sz="3900" dirty="0"/>
          </a:p>
        </p:txBody>
      </p:sp>
      <p:sp>
        <p:nvSpPr>
          <p:cNvPr id="10" name="Text 2"/>
          <p:cNvSpPr/>
          <p:nvPr/>
        </p:nvSpPr>
        <p:spPr>
          <a:xfrm>
            <a:off x="768096" y="3749040"/>
            <a:ext cx="5029200" cy="228600"/>
          </a:xfrm>
          <a:prstGeom prst="rect">
            <a:avLst/>
          </a:prstGeom>
          <a:noFill/>
          <a:ln/>
        </p:spPr>
        <p:txBody>
          <a:bodyPr wrap="square" lIns="0" tIns="0" rIns="0" bIns="0" rtlCol="0" anchor="ctr"/>
          <a:lstStyle/>
          <a:p>
            <a:pPr marL="0" indent="0">
              <a:buNone/>
            </a:pPr>
            <a:r>
              <a:rPr lang="en-US" sz="1300" dirty="0">
                <a:solidFill>
                  <a:srgbClr val="657174"/>
                </a:solidFill>
              </a:rPr>
              <a:t>Prof. Felix Manzanares · fmanzanares@esan.edu.pe</a:t>
            </a:r>
            <a:endParaRPr lang="en-US" sz="1300" dirty="0"/>
          </a:p>
        </p:txBody>
      </p:sp>
    </p:spTree>
    <p:extLst>
      <p:ext uri="{BB962C8B-B14F-4D97-AF65-F5344CB8AC3E}">
        <p14:creationId xmlns:p14="http://schemas.microsoft.com/office/powerpoint/2010/main" val="1203593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TotalTime>
  <Words>2780</Words>
  <Application>Microsoft Office PowerPoint</Application>
  <PresentationFormat>Panorámica</PresentationFormat>
  <Paragraphs>257</Paragraphs>
  <Slides>25</Slides>
  <Notes>25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Calibri</vt:lpstr>
      <vt:lpstr>Cambria</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MARCELA BENAVIDES</cp:lastModifiedBy>
  <cp:revision>26</cp:revision>
  <dcterms:created xsi:type="dcterms:W3CDTF">2026-09-08T05:06:38Z</dcterms:created>
  <dcterms:modified xsi:type="dcterms:W3CDTF">2026-09-17T02:06:25Z</dcterms:modified>
</cp:coreProperties>
</file>