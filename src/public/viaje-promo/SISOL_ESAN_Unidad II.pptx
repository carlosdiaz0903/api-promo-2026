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5" r:id="rId3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85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461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mailto:fmanzanares@esan.edu.p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2_extract/ppt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47472"/>
            <a:ext cx="10515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6680" y="2075688"/>
            <a:ext cx="873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22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SISOL </a:t>
            </a:r>
            <a:endParaRPr lang="en-US" sz="2800" b="1" dirty="0">
              <a:solidFill>
                <a:srgbClr val="222E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2800" b="1" dirty="0" err="1" smtClean="0">
                <a:solidFill>
                  <a:srgbClr val="22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r>
              <a:rPr lang="en-US" sz="2800" b="1" dirty="0" smtClean="0">
                <a:solidFill>
                  <a:srgbClr val="22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22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2800" b="1" dirty="0">
                <a:solidFill>
                  <a:srgbClr val="22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Usuario en los Servicios de Salud</a:t>
            </a:r>
          </a:p>
        </p:txBody>
      </p:sp>
      <p:sp>
        <p:nvSpPr>
          <p:cNvPr id="4" name="Text 1"/>
          <p:cNvSpPr/>
          <p:nvPr/>
        </p:nvSpPr>
        <p:spPr>
          <a:xfrm>
            <a:off x="1508760" y="339279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II</a:t>
            </a:r>
          </a:p>
        </p:txBody>
      </p:sp>
      <p:sp>
        <p:nvSpPr>
          <p:cNvPr id="5" name="Text 2"/>
          <p:cNvSpPr/>
          <p:nvPr/>
        </p:nvSpPr>
        <p:spPr>
          <a:xfrm>
            <a:off x="1143000" y="383171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de calidad y su aplicabilidad</a:t>
            </a:r>
          </a:p>
        </p:txBody>
      </p:sp>
      <p:sp>
        <p:nvSpPr>
          <p:cNvPr id="6" name="Shape 3"/>
          <p:cNvSpPr/>
          <p:nvPr/>
        </p:nvSpPr>
        <p:spPr>
          <a:xfrm>
            <a:off x="4251960" y="4544942"/>
            <a:ext cx="640080" cy="0"/>
          </a:xfrm>
          <a:prstGeom prst="line">
            <a:avLst/>
          </a:prstGeom>
          <a:noFill/>
          <a:ln w="38100">
            <a:solidFill>
              <a:srgbClr val="06BF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1</a:t>
            </a:r>
            <a:endParaRPr lang="en-US" sz="600" dirty="0"/>
          </a:p>
        </p:txBody>
      </p:sp>
      <p:sp>
        <p:nvSpPr>
          <p:cNvPr id="11" name="Text 6"/>
          <p:cNvSpPr/>
          <p:nvPr/>
        </p:nvSpPr>
        <p:spPr>
          <a:xfrm>
            <a:off x="4572000" y="5861305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Prof. Felix Manzanares</a:t>
            </a:r>
            <a:endParaRPr lang="en-US" sz="1400" dirty="0"/>
          </a:p>
          <a:p>
            <a:pPr algn="r"/>
            <a:r>
              <a:rPr lang="es-ES_tradnl" sz="1400" dirty="0" smtClean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fmanzanares@esan.edu.pe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776" y="275548"/>
            <a:ext cx="2036728" cy="825458"/>
          </a:xfrm>
          <a:prstGeom prst="rect">
            <a:avLst/>
          </a:prstGeom>
        </p:spPr>
      </p:pic>
      <p:sp>
        <p:nvSpPr>
          <p:cNvPr id="13" name="Shape 0"/>
          <p:cNvSpPr/>
          <p:nvPr/>
        </p:nvSpPr>
        <p:spPr>
          <a:xfrm>
            <a:off x="7680960" y="-1261872"/>
            <a:ext cx="2926080" cy="2926080"/>
          </a:xfrm>
          <a:prstGeom prst="ellipse">
            <a:avLst/>
          </a:prstGeom>
          <a:solidFill>
            <a:srgbClr val="E4F5F3"/>
          </a:solidFill>
          <a:ln/>
        </p:spPr>
      </p:sp>
      <p:sp>
        <p:nvSpPr>
          <p:cNvPr id="14" name="Shape 1"/>
          <p:cNvSpPr/>
          <p:nvPr/>
        </p:nvSpPr>
        <p:spPr>
          <a:xfrm>
            <a:off x="-1005840" y="5760720"/>
            <a:ext cx="2377440" cy="2377440"/>
          </a:xfrm>
          <a:prstGeom prst="ellipse">
            <a:avLst/>
          </a:prstGeom>
          <a:solidFill>
            <a:srgbClr val="E4F5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07920" y="438912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ESTA UNIDAD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407920" y="6858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Temas que vamos a desarrollar</a:t>
            </a:r>
            <a:endParaRPr lang="es-MX" sz="2000" b="1" dirty="0">
              <a:solidFill>
                <a:srgbClr val="0B4A49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08760"/>
            <a:ext cx="411480" cy="411480"/>
          </a:xfrm>
          <a:prstGeom prst="rect">
            <a:avLst/>
          </a:prstGeom>
          <a:solidFill>
            <a:srgbClr val="078B95"/>
          </a:solidFill>
          <a:ln>
            <a:solidFill>
              <a:srgbClr val="078B9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51560" y="1472184"/>
            <a:ext cx="7406640" cy="53035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Calidad asistencial vs. calidad de </a:t>
            </a:r>
            <a:r>
              <a:rPr lang="en-US" sz="1250" b="1" dirty="0" err="1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2276856"/>
            <a:ext cx="411480" cy="411480"/>
          </a:xfrm>
          <a:prstGeom prst="rect">
            <a:avLst/>
          </a:prstGeom>
          <a:solidFill>
            <a:srgbClr val="078B95"/>
          </a:solidFill>
          <a:ln>
            <a:solidFill>
              <a:srgbClr val="078B9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51560" y="2240280"/>
            <a:ext cx="7406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Donabedian: estructura, proceso y </a:t>
            </a:r>
            <a:r>
              <a:rPr lang="en-US" sz="1250" b="1" dirty="0" err="1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2920" y="3044952"/>
            <a:ext cx="411480" cy="411480"/>
          </a:xfrm>
          <a:prstGeom prst="rect">
            <a:avLst/>
          </a:prstGeom>
          <a:solidFill>
            <a:srgbClr val="078B95"/>
          </a:solidFill>
          <a:ln>
            <a:solidFill>
              <a:srgbClr val="078B9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51560" y="3008376"/>
            <a:ext cx="7406640" cy="53035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brechas / </a:t>
            </a:r>
            <a:r>
              <a:rPr lang="en-US" sz="1250" b="1" dirty="0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" y="3813048"/>
            <a:ext cx="411480" cy="411480"/>
          </a:xfrm>
          <a:prstGeom prst="rect">
            <a:avLst/>
          </a:prstGeom>
          <a:solidFill>
            <a:srgbClr val="078B95"/>
          </a:solidFill>
          <a:ln>
            <a:solidFill>
              <a:srgbClr val="078B9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51560" y="3776472"/>
            <a:ext cx="7406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SERVQUAL y </a:t>
            </a:r>
            <a:r>
              <a:rPr lang="en-US" sz="1250" b="1" dirty="0" err="1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</a:t>
            </a:r>
            <a:r>
              <a:rPr lang="en-US" sz="1250" b="1" dirty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50" b="1" dirty="0" err="1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02920" y="4581144"/>
            <a:ext cx="411480" cy="411480"/>
          </a:xfrm>
          <a:prstGeom prst="rect">
            <a:avLst/>
          </a:prstGeom>
          <a:solidFill>
            <a:srgbClr val="078B95"/>
          </a:solidFill>
          <a:ln>
            <a:solidFill>
              <a:srgbClr val="078B9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51560" y="4544568"/>
            <a:ext cx="7406640" cy="53035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Referencias</a:t>
            </a:r>
            <a:r>
              <a:rPr lang="en-US" sz="1250" b="1" dirty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50" b="1" dirty="0" err="1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internacionales</a:t>
            </a:r>
            <a:r>
              <a:rPr lang="en-US" sz="1250" b="1" dirty="0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50" b="1" dirty="0" err="1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calidad</a:t>
            </a:r>
            <a:r>
              <a:rPr lang="en-US" sz="1250" b="1" dirty="0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50" b="1" dirty="0" err="1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50" b="1" dirty="0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50" b="1" dirty="0" err="1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salud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2920" y="5349240"/>
            <a:ext cx="411480" cy="411480"/>
          </a:xfrm>
          <a:prstGeom prst="rect">
            <a:avLst/>
          </a:prstGeom>
          <a:solidFill>
            <a:srgbClr val="078B95"/>
          </a:solidFill>
          <a:ln>
            <a:solidFill>
              <a:srgbClr val="078B9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51560" y="5312664"/>
            <a:ext cx="74066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Marco </a:t>
            </a:r>
            <a:r>
              <a:rPr lang="en-US" sz="1250" b="1" dirty="0" err="1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nacional</a:t>
            </a:r>
            <a:r>
              <a:rPr lang="en-US" sz="1250" b="1" dirty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50" b="1" dirty="0" err="1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peruano</a:t>
            </a:r>
            <a:r>
              <a:rPr lang="en-US" sz="1250" b="1" dirty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50" b="1" dirty="0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n-US" sz="1250" b="1" dirty="0" err="1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calidad</a:t>
            </a:r>
            <a:r>
              <a:rPr lang="en-US" sz="1250" b="1" dirty="0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50" b="1" dirty="0" err="1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50" b="1" dirty="0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50" b="1" dirty="0" err="1" smtClean="0">
                <a:solidFill>
                  <a:srgbClr val="0B4A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salud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2</a:t>
            </a:r>
            <a:endParaRPr lang="en-US" sz="6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90171" y="406503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II · SESIÓN 2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90171" y="653391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de aprendizaje de la unidad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389490" y="1944545"/>
            <a:ext cx="8384122" cy="1909823"/>
          </a:xfrm>
          <a:prstGeom prst="roundRect">
            <a:avLst>
              <a:gd name="adj" fmla="val 3448"/>
            </a:avLst>
          </a:prstGeom>
          <a:solidFill>
            <a:srgbClr val="F2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4"/>
          <p:cNvSpPr/>
          <p:nvPr/>
        </p:nvSpPr>
        <p:spPr>
          <a:xfrm>
            <a:off x="755250" y="225301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5"/>
          <p:cNvSpPr/>
          <p:nvPr/>
        </p:nvSpPr>
        <p:spPr>
          <a:xfrm>
            <a:off x="755250" y="226458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8" name="Text 6"/>
          <p:cNvSpPr/>
          <p:nvPr/>
        </p:nvSpPr>
        <p:spPr>
          <a:xfrm>
            <a:off x="1623930" y="2173145"/>
            <a:ext cx="7149682" cy="1333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s-MX" sz="2400" dirty="0">
                <a:solidFill>
                  <a:srgbClr val="22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los principales conceptos y modelos de calidad al contexto de la atención en salud, diferenciando calidad asistencial de calidad de servicio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01249" y="2937531"/>
            <a:ext cx="82455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hablar de calidad en salud?</a:t>
            </a: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5</a:t>
            </a:r>
            <a:endParaRPr lang="en-US" sz="600" dirty="0"/>
          </a:p>
        </p:txBody>
      </p:sp>
      <p:sp>
        <p:nvSpPr>
          <p:cNvPr id="14" name="Text 0"/>
          <p:cNvSpPr/>
          <p:nvPr/>
        </p:nvSpPr>
        <p:spPr>
          <a:xfrm>
            <a:off x="2359529" y="505228"/>
            <a:ext cx="710518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</a:t>
            </a:r>
            <a:r>
              <a:rPr lang="en-US" sz="1250" b="1" kern="0" spc="200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b="1" kern="0" spc="200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kern="0" spc="200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523991" y="50292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sin calidad no alcanza</a:t>
            </a: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00200"/>
            <a:ext cx="7955280" cy="114300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A49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Idea </a:t>
            </a:r>
            <a:r>
              <a:rPr lang="en-US" sz="1400" b="1" dirty="0" smtClean="0">
                <a:solidFill>
                  <a:srgbClr val="0B4A49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central</a:t>
            </a:r>
          </a:p>
          <a:p>
            <a:pPr marL="0" indent="0" algn="just">
              <a:buNone/>
            </a:pPr>
            <a:r>
              <a:rPr lang="en-US" sz="1400" dirty="0" smtClean="0">
                <a:solidFill>
                  <a:srgbClr val="23313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Un </a:t>
            </a:r>
            <a:r>
              <a:rPr lang="en-US" sz="1400" dirty="0">
                <a:solidFill>
                  <a:srgbClr val="23313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sistema puede ampliar la atención, abrir más turnos o aumentar producción; pero si los servicios son inseguros, tardíos, fragmentados o mal comunicados, el resultado para la persona sigue siendo deficiente.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" y="3344448"/>
            <a:ext cx="2423160" cy="1371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0B4A49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Acceso</a:t>
            </a:r>
            <a:endParaRPr lang="en-US" sz="1600" b="1" dirty="0" smtClean="0">
              <a:solidFill>
                <a:srgbClr val="0B4A49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600" b="1" dirty="0" smtClean="0">
              <a:solidFill>
                <a:srgbClr val="0B4A49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600" dirty="0" smtClean="0">
                <a:solidFill>
                  <a:srgbClr val="23313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Que </a:t>
            </a:r>
            <a:r>
              <a:rPr lang="en-US" sz="1600" dirty="0">
                <a:solidFill>
                  <a:srgbClr val="23313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la persona pueda llegar al servicio, conseguir una cita, ingresar al circuito y recibir atención.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37560" y="3344448"/>
            <a:ext cx="2423160" cy="1371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0B4A49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Calidad</a:t>
            </a:r>
            <a:endParaRPr lang="en-US" sz="1600" b="1" dirty="0" smtClean="0">
              <a:solidFill>
                <a:srgbClr val="0B4A49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600" b="1" dirty="0">
              <a:solidFill>
                <a:srgbClr val="0B4A49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600" dirty="0" smtClean="0">
                <a:solidFill>
                  <a:srgbClr val="23313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Que </a:t>
            </a:r>
            <a:r>
              <a:rPr lang="en-US" sz="1600" dirty="0">
                <a:solidFill>
                  <a:srgbClr val="23313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la atención recibida sea segura, efectiva, informada, oportuna y respetuosa.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80760" y="3344448"/>
            <a:ext cx="2423160" cy="1371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0B4A49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Experiencia</a:t>
            </a:r>
            <a:endParaRPr lang="en-US" sz="1600" b="1" dirty="0">
              <a:solidFill>
                <a:srgbClr val="0B4A49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1600" b="1" dirty="0">
              <a:solidFill>
                <a:srgbClr val="0B4A49"/>
              </a:solidFill>
              <a:latin typeface="Arial" panose="020B0604020202020204" pitchFamily="34" charset="0"/>
              <a:ea typeface="Aptos" pitchFamily="34" charset="-122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600" dirty="0" smtClean="0">
                <a:solidFill>
                  <a:srgbClr val="23313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Que </a:t>
            </a:r>
            <a:r>
              <a:rPr lang="en-US" sz="1600" dirty="0">
                <a:solidFill>
                  <a:srgbClr val="23313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la persona comprenda lo que ocurre, se sienta tratada con dignidad y pueda confiar.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73681" y="368766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TEMA 1</a:t>
            </a:r>
            <a:endParaRPr lang="en-US" sz="7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373681" y="61565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asistencial vs. calidad de servicio</a:t>
            </a: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00199"/>
            <a:ext cx="3794760" cy="2224997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Calidad asistencial o </a:t>
            </a:r>
            <a:r>
              <a:rPr lang="en-US" sz="14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técnica</a:t>
            </a:r>
            <a:endParaRPr lang="en-US" sz="14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Se refiere a si la atención cumple estándares profesionales y logra resultados clínicos adecuados, con el menor riesgo posible.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Ejemplo: diagnóstico correcto, tratamiento indicado, seguimiento de protocolo, prevención de eventos adversos.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54880" y="1600199"/>
            <a:ext cx="3794760" cy="2224997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Calidad de servicio o </a:t>
            </a:r>
            <a:r>
              <a:rPr lang="en-US" sz="14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percibida</a:t>
            </a:r>
            <a:endParaRPr lang="en-US" sz="14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Se refiere a cómo vive la persona el proceso: trato, información, tiempos, orientación, comodidad, continuidad y respuesta frente a problemas.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Ejemplo: explicación clara, respeto, espera razonable, solución del reclamo.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4360" y="4480559"/>
            <a:ext cx="7955280" cy="1344043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Recuerda</a:t>
            </a:r>
            <a:r>
              <a:rPr lang="en-US" sz="1600" b="1" dirty="0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que: </a:t>
            </a: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Una atención puede ser clínicamente correcta, pero mal percibida si hubo desinformación, demoras o trato frío. También puede haber buen trato, pero mala calidad técnica. En salud, ambas dimensiones importan.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7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91216" y="393192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1 ·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91216" y="64008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ve en una situación real</a:t>
            </a: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00200"/>
            <a:ext cx="1713297" cy="713232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Situación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216217" y="1600200"/>
            <a:ext cx="3212432" cy="713232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Calidad asistencial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28648" y="1600200"/>
            <a:ext cx="3212432" cy="713232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Calidad de servicio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2313432"/>
            <a:ext cx="1713297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Consulta médica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216217" y="2313432"/>
            <a:ext cx="3212432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El diagnóstico y tratamiento son adecuados.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28648" y="2313432"/>
            <a:ext cx="3212432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El paciente entiende qué tiene, qué debe hacer y cuándo volver.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" y="3026664"/>
            <a:ext cx="1713297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Emergencia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216217" y="3026664"/>
            <a:ext cx="32124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Se prioriza por gravedad y se aplica protocolo.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428648" y="3026664"/>
            <a:ext cx="32124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La familia recibe orientación y explicación sobre la espera.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" y="3739896"/>
            <a:ext cx="1713297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Reclamo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216217" y="3739896"/>
            <a:ext cx="3212432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Se revisa el caso y se emite respuesta sustentada.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428648" y="3739896"/>
            <a:ext cx="3212432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El usuario siente que fue escuchado, informado y tratado con respeto.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2920" y="4453128"/>
            <a:ext cx="1713297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Entrega de resultados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216217" y="4453128"/>
            <a:ext cx="32124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El resultado corresponde al paciente y está validado.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428648" y="4453128"/>
            <a:ext cx="32124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Se comunica de forma clara, oportuna y por el canal correcto.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920" y="5577840"/>
            <a:ext cx="8138160" cy="635070"/>
          </a:xfrm>
          <a:prstGeom prst="rect">
            <a:avLst/>
          </a:prstGeom>
          <a:solidFill>
            <a:srgbClr val="0B4A49"/>
          </a:solidFill>
          <a:ln>
            <a:solidFill>
              <a:srgbClr val="0B4A49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Para evaluar bien, no basta preguntar “¿se atendió?”; también hay que preguntar “¿cómo se atendió?”.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8</a:t>
            </a:r>
            <a:endParaRPr lang="en-US" sz="6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86411" y="365761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1 </a:t>
            </a:r>
            <a:r>
              <a:rPr lang="en-US" sz="750" b="1" dirty="0" smtClean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486411" y="612649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dimensiones visibles en la atención</a:t>
            </a: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386728"/>
            <a:ext cx="2423160" cy="2087992"/>
          </a:xfrm>
          <a:prstGeom prst="rect">
            <a:avLst/>
          </a:prstGeom>
          <a:solidFill>
            <a:srgbClr val="F4FBFA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228600" indent="-228600" algn="ctr">
              <a:buAutoNum type="arabicPeriod"/>
            </a:pPr>
            <a:r>
              <a:rPr lang="en-US" sz="16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Técnica</a:t>
            </a:r>
            <a:endParaRPr lang="en-US" sz="16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algn="just"/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Capacidad de resolver el problema de salud con conocimiento, protocolo, seguridad y eficacia.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337560" y="1386728"/>
            <a:ext cx="2423160" cy="2087992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2. </a:t>
            </a:r>
            <a:r>
              <a:rPr lang="en-US" sz="1600" b="1" dirty="0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Interpersonal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Forma en que el personal se comunica, escucha, explica y trata a la persona y su familia.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80760" y="1386728"/>
            <a:ext cx="2423160" cy="2087992"/>
          </a:xfrm>
          <a:prstGeom prst="rect">
            <a:avLst/>
          </a:prstGeom>
          <a:solidFill>
            <a:srgbClr val="F4FBFA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3. </a:t>
            </a:r>
            <a:r>
              <a:rPr lang="en-US" sz="16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Ambiental</a:t>
            </a:r>
            <a:endParaRPr lang="en-US" sz="16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Condiciones que rodean la atención: infraestructura, señalización, limpieza, privacidad y comodidad.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7240" y="3840479"/>
            <a:ext cx="7589520" cy="2209591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Aplicación en salud
</a:t>
            </a:r>
            <a:endParaRPr lang="en-US" sz="1600" dirty="0">
              <a:solidFill>
                <a:srgbClr val="233133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La 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experiencia del paciente se forma por la combinación de estas dimensiones.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Una</a:t>
            </a:r>
            <a:r>
              <a:rPr lang="en-US" sz="16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falla ambiental o interpersonal puede afectar la confianza aunque el acto clínico sea correcto.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La 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calidad se vuelve visible en procesos concretos: admisión, espera, consulta, información, reclamo y seguimiento.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9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14016" y="333757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2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414016" y="580645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Donabedian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00200"/>
            <a:ext cx="2514600" cy="1920240"/>
          </a:xfrm>
          <a:prstGeom prst="rect">
            <a:avLst/>
          </a:prstGeom>
          <a:solidFill>
            <a:srgbClr val="F4FBFA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228600" indent="-228600" algn="ctr">
              <a:buAutoNum type="arabicPeriod"/>
            </a:pPr>
            <a:r>
              <a:rPr lang="en-US" sz="16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Estructura</a:t>
            </a:r>
            <a:endParaRPr lang="en-US" sz="16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algn="just"/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Lo que la institución tiene disponible para atender.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Infraestructura, equipos, personal, insumos, sistemas, normas y capacitación.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310128" y="1600200"/>
            <a:ext cx="2514600" cy="1920240"/>
          </a:xfrm>
          <a:prstGeom prst="rect">
            <a:avLst/>
          </a:prstGeom>
          <a:solidFill>
            <a:srgbClr val="078B95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2. </a:t>
            </a:r>
            <a:r>
              <a:rPr lang="en-US" sz="1600" b="1" dirty="0" err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Proceso</a:t>
            </a:r>
            <a:endParaRPr lang="en-US" sz="1600" b="1" dirty="0" smtClean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Lo que realmente se hace durante la atención.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Aplicación de protocolos, comunicación, coordinación, registro y trato al usuario.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117336" y="1600200"/>
            <a:ext cx="2514600" cy="1920240"/>
          </a:xfrm>
          <a:prstGeom prst="rect">
            <a:avLst/>
          </a:prstGeom>
          <a:solidFill>
            <a:srgbClr val="F4FBFA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3. </a:t>
            </a:r>
            <a:r>
              <a:rPr lang="en-US" sz="16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Resultado</a:t>
            </a:r>
            <a:endParaRPr lang="en-US" sz="16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Lo que se logra al final.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Mejora clínica, satisfacción, reclamo resuelto, menor riesgo, confianza y continuidad.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4797468"/>
            <a:ext cx="8138160" cy="880955"/>
          </a:xfrm>
          <a:prstGeom prst="rect">
            <a:avLst/>
          </a:prstGeom>
          <a:solidFill>
            <a:srgbClr val="0B4A49"/>
          </a:solidFill>
          <a:ln>
            <a:solidFill>
              <a:srgbClr val="0B4A4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Donabedian ayuda a no quedarnos solo en el resultado: también obliga a mirar recursos y procesos.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10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81608" y="376722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2 ·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81608" y="62361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reclamo por demora en atención</a:t>
            </a: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91640"/>
            <a:ext cx="1455234" cy="777240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Nivel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049594" y="1691640"/>
            <a:ext cx="2619421" cy="777240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Pregunta guía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669016" y="1691640"/>
            <a:ext cx="3880624" cy="777240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Ejemplo aplicado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2468880"/>
            <a:ext cx="1455234" cy="77724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Estructura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049594" y="2468880"/>
            <a:ext cx="2619421" cy="77724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¿Había condiciones para atender bien?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69016" y="2468880"/>
            <a:ext cx="3880624" cy="77724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Dotación suficiente, ventanilla operativa, sistema disponible, información visible.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4360" y="3246120"/>
            <a:ext cx="145523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Proceso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049594" y="3246120"/>
            <a:ext cx="2619421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¿Qué se hizo durante la atención?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669016" y="3246120"/>
            <a:ext cx="388062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 orientó al usuario, se explicó la demora, se registró el reclamo, se derivó correctamente.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4360" y="4023360"/>
            <a:ext cx="1455234" cy="77724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Resultado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049594" y="4023360"/>
            <a:ext cx="2619421" cy="77724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¿Qué se logró o qué se afectó?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669016" y="4023360"/>
            <a:ext cx="3880624" cy="77724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Reclamo resuelto, usuario informado, confianza recuperada o incremento de insatisfacción.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1520" y="5166359"/>
            <a:ext cx="7680960" cy="996445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just">
              <a:buNone/>
            </a:pPr>
            <a:r>
              <a:rPr lang="en-US" sz="16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Este 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modelo permite diferenciar una falla individual de una falla del sistema. No todo problema se resuelve “llamando la atención” al trabajador; a veces falta diseño, recursos o coordinación.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11</a:t>
            </a:r>
            <a:endParaRPr lang="en-US" sz="6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48836" y="411480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2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448836" y="65836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preguntas para llevar Donabedian a la práctica</a:t>
            </a: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74939"/>
            <a:ext cx="7955280" cy="879953"/>
          </a:xfrm>
          <a:prstGeom prst="rect">
            <a:avLst/>
          </a:prstGeom>
          <a:solidFill>
            <a:srgbClr val="F4FBFA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Pregunta 1: ¿qué condiciones tenía el establecimiento?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Recursos humanos, ambiente, tecnología, flujo, capacitación, información al usuario y mecanismos de registro.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" y="2514599"/>
            <a:ext cx="7955280" cy="879953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Pregunta 2: ¿qué ocurrió durante el proceso?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Secuencia real de atención, puntos de espera, comunicación, trato, oportunidad, coordinación entre áreas y evidencias.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4360" y="3554259"/>
            <a:ext cx="7955280" cy="879953"/>
          </a:xfrm>
          <a:prstGeom prst="rect">
            <a:avLst/>
          </a:prstGeom>
          <a:solidFill>
            <a:srgbClr val="F4FBFA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Pregunta 3: ¿qué resultado se obtuvo?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Respuesta clínica, satisfacción o insatisfacción, reclamo, evento adverso, aprendizaje y acciones correctivas.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05840" y="4663440"/>
            <a:ext cx="7132320" cy="960120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600" dirty="0" err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Cuando</a:t>
            </a:r>
            <a:r>
              <a:rPr lang="en-US" sz="1600" dirty="0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revisemos un caso, pueden ordenar la información con estas tres preguntas.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600" dirty="0" err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Sirve</a:t>
            </a:r>
            <a:r>
              <a:rPr lang="en-US" sz="1600" dirty="0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para sustentar mejor conclusiones y recomendaciones, no solo opiniones.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12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78690" y="393946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3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78690" y="64083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brechas o GAPS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pic>
        <p:nvPicPr>
          <p:cNvPr id="7" name="Image 1" descr="/mnt/data/wide_clean_modern_illustrative_infographic_styl.png"/>
          <p:cNvPicPr>
            <a:picLocks noChangeAspect="1"/>
          </p:cNvPicPr>
          <p:nvPr/>
        </p:nvPicPr>
        <p:blipFill>
          <a:blip r:embed="rId3"/>
          <a:srcRect l="12783" r="12783"/>
          <a:stretch/>
        </p:blipFill>
        <p:spPr>
          <a:xfrm>
            <a:off x="4892040" y="1508760"/>
            <a:ext cx="3749040" cy="2834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1691639"/>
            <a:ext cx="3749040" cy="2291637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just"/>
            <a:r>
              <a:rPr lang="es-MX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MX" sz="1600" dirty="0">
                <a:latin typeface="Cambria" panose="02040503050406030204" pitchFamily="18" charset="0"/>
                <a:ea typeface="Cambria" panose="02040503050406030204" pitchFamily="18" charset="0"/>
              </a:rPr>
              <a:t>análisis de brechas es el proceso de medir la diferencia entre las operaciones actuales de una empresa (estado actual) y su desempeño ideal (estado deseado</a:t>
            </a:r>
            <a:r>
              <a:rPr lang="es-MX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pPr algn="just"/>
            <a:r>
              <a:rPr lang="en-US" sz="1600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El usuario llega con expectativas. La institución tiene procesos. La calidad percibida aparece cuando lo que se entrega se acerca a lo que la persona esperaba.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06886" y="4541308"/>
            <a:ext cx="374904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¿Para qué sirve?
</a:t>
            </a:r>
            <a:r>
              <a:rPr lang="en-US" sz="1600" dirty="0" err="1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Ubicar</a:t>
            </a:r>
            <a:r>
              <a:rPr lang="en-US" sz="16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dónde se generó la falla.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 err="1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Evitar</a:t>
            </a:r>
            <a:r>
              <a:rPr lang="en-US" sz="16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explicar todo como “mala actitud”.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 err="1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Convertir</a:t>
            </a:r>
            <a:r>
              <a:rPr lang="en-US" sz="16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reclamos en mejoras del sistema.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892040" y="4663440"/>
            <a:ext cx="3749040" cy="985798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Ojo</a:t>
            </a: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El modelo no reemplaza la normativa; ayuda a comprender por qué un usuario percibe mala calidad.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13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78693" y="384674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</a:t>
            </a:r>
            <a:r>
              <a:rPr lang="en-US" sz="750" b="1" dirty="0" smtClean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78693" y="63156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Brechas internas: conocer, diseñar y ejecutar</a:t>
            </a: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767422"/>
            <a:ext cx="2606040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Brecha 1
</a:t>
            </a:r>
            <a:r>
              <a:rPr lang="en-US" sz="14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Conocimiento</a:t>
            </a:r>
            <a:endParaRPr lang="en-US" sz="14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La institución no sabe con claridad qué espera o necesita el usuario.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Ejemplo: nunca se pregunta qué información espera recibir cuando presenta un reclamo.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273552" y="1767422"/>
            <a:ext cx="2606040" cy="2240280"/>
          </a:xfrm>
          <a:prstGeom prst="rect">
            <a:avLst/>
          </a:prstGeom>
          <a:solidFill>
            <a:srgbClr val="EAF7F6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Brecha 2
Diseño / </a:t>
            </a:r>
            <a:r>
              <a:rPr lang="en-US" sz="14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estándar</a:t>
            </a:r>
            <a:endParaRPr lang="en-US" sz="14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Lo que se sabe no se convierte en estándares, protocolos o criterios claros.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Ejemplo: se sabe que debe orientarse al usuario, pero no existe guion, flujo ni responsable definido.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44184" y="1767422"/>
            <a:ext cx="2606040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Brecha 3
</a:t>
            </a:r>
            <a:r>
              <a:rPr lang="en-US" sz="14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Desempeño</a:t>
            </a:r>
            <a:endParaRPr lang="en-US" sz="14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Lo diseñado no se cumple de manera consistente en la atención real.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Ejemplo: el protocolo existe, pero cada ventanilla responde distinto.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5074920"/>
            <a:ext cx="8138160" cy="512064"/>
          </a:xfrm>
          <a:prstGeom prst="rect">
            <a:avLst/>
          </a:prstGeom>
          <a:solidFill>
            <a:srgbClr val="0B4A49"/>
          </a:solidFill>
          <a:ln>
            <a:solidFill>
              <a:srgbClr val="0B4A4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Estas tres brechas suelen estar dentro de la organización: diagnóstico, diseño y ejecución.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14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40864" y="379476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</a:t>
            </a:r>
            <a:r>
              <a:rPr lang="en-US" sz="750" b="1" dirty="0" smtClean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40864" y="62636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Brechas visibles para el usuario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54479"/>
            <a:ext cx="2606040" cy="2345435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Brecha 4
Comunicación
</a:t>
            </a:r>
            <a:endParaRPr lang="en-US" sz="14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4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Lo 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que se promete al usuario no coincide con lo que se puede entregar.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Ejemplo: se anuncia respuesta rápida, pero el flujo interno no permite cumplirla.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273552" y="1554479"/>
            <a:ext cx="2606040" cy="2345435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Brecha 5
Expectativa-percepción
</a:t>
            </a:r>
            <a:endParaRPr lang="en-US" sz="14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400" dirty="0" err="1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Diferencia</a:t>
            </a:r>
            <a:r>
              <a:rPr lang="en-US" sz="14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entre lo que el usuario esperaba y lo que sintió que recibió.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Ejemplo: esperaba explicación, recibió una indicación breve y poco clara.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44184" y="1554479"/>
            <a:ext cx="2606040" cy="2345435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Brecha 6
Aprendizaje institucional
</a:t>
            </a:r>
            <a:endParaRPr lang="en-US" sz="14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4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La 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organización registra la queja, pero no convierte la información en mejora.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Ejemplo: se responde el reclamo, pero se repite la misma falla al mes siguiente.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7589520" cy="1097280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</a:t>
            </a:r>
          </a:p>
          <a:p>
            <a:pPr marL="0" indent="0" algn="ctr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1500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literatura clásica se habla principalmente de cinco brechas. </a:t>
            </a:r>
            <a:r>
              <a:rPr lang="en-US" sz="1500" dirty="0" err="1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1500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salud</a:t>
            </a:r>
            <a:r>
              <a:rPr lang="en-US" sz="1500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incorpora una sexta mirada práctica: que la información del usuario no solo se atienda, sino que se use para aprender y mejorar.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15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23787" y="341914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3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423787" y="58880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cerrar brechas de calidad de servicio</a:t>
            </a: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08760"/>
            <a:ext cx="1713297" cy="640080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Brecha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216217" y="1508760"/>
            <a:ext cx="6424863" cy="640080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Acción de mejora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2148840"/>
            <a:ext cx="1713297" cy="64008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Conocimiento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216217" y="2148840"/>
            <a:ext cx="6424863" cy="64008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Escuchar al usuario: encuestas, reclamos, entrevistas, revisión de casos y observación del recorrido.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2920" y="2788920"/>
            <a:ext cx="171329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Diseño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216217" y="2788920"/>
            <a:ext cx="6424863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Traducir lo aprendido en protocolos, estándares de servicio, flujos y responsables.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" y="3429000"/>
            <a:ext cx="1713297" cy="64008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Desempeño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216217" y="3429000"/>
            <a:ext cx="6424863" cy="64008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Capacitar, supervisar, retroalimentar y asegurar consistencia en la atención.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02920" y="4069080"/>
            <a:ext cx="171329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Comunicación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216217" y="4069080"/>
            <a:ext cx="6424863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Prometer solo lo que puede cumplirse y explicar plazos, límites y pasos siguientes.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2920" y="4709160"/>
            <a:ext cx="1713297" cy="64008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Percepción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216217" y="4709160"/>
            <a:ext cx="6424863" cy="64008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Verificar comprensión, trato y cierre de la atención desde la mirada del usuario.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2920" y="5349240"/>
            <a:ext cx="171329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Aprendizaje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216217" y="5349240"/>
            <a:ext cx="6424863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Usar datos para corregir causas repetitivas y evitar que el reclamo se repita.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16</a:t>
            </a:r>
            <a:endParaRPr lang="en-US" sz="6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77440" y="422004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4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77440" y="6688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SERVQUAL: origen en sencillo</a:t>
            </a: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00200"/>
            <a:ext cx="7955280" cy="1117948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¿Qué es?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SERVQUAL significa “calidad de servicio”. Es un modelo que compara lo que el usuario esperaba con lo que percibió después de recibir el servicio.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" y="3114595"/>
            <a:ext cx="2468880" cy="1678239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Origen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Parasuraman, Zeithaml y Berry desarrollaron el modelo en servicios privados, no específicamente en hospitales.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37560" y="3114595"/>
            <a:ext cx="2468880" cy="1678239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Construcción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Partió de muchos ítems y terminó en 22 preguntas agrupadas en cinco dimensiones.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80760" y="3114595"/>
            <a:ext cx="2468880" cy="1678239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Uso en salud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Puede adaptarse, pero no debe aplicarse mecánicamente sin revisar contexto, lenguaje y finalidad.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2920" y="5394960"/>
            <a:ext cx="8138160" cy="512064"/>
          </a:xfrm>
          <a:prstGeom prst="rect">
            <a:avLst/>
          </a:prstGeom>
          <a:solidFill>
            <a:srgbClr val="0B4A49"/>
          </a:solidFill>
          <a:ln>
            <a:solidFill>
              <a:srgbClr val="0B4A4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SERVQUAL </a:t>
            </a: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mide percepción de calidad, no toda la calidad sanitaria.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17</a:t>
            </a:r>
            <a:endParaRPr lang="en-US" sz="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31504" y="406908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4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31504" y="65379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Expectativa vs. percepción</a:t>
            </a:r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691639"/>
            <a:ext cx="3474720" cy="1502497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Expectativa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Lo que el usuario espera recibir. Puede formarse por experiencias previas, información recibida, promesas institucionales, recomendaciones o necesidad de salud.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83480" y="1691639"/>
            <a:ext cx="3474720" cy="1502497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Percepción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Lo que el usuario siente que realmente recibió durante el servicio: trato, información, rapidez, confianza, comodidad y solución.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70832" y="2242158"/>
            <a:ext cx="411480" cy="46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78B9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→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965960" y="3657600"/>
            <a:ext cx="5212080" cy="1097280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Brecha</a:t>
            </a: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</a:t>
            </a:r>
            <a:r>
              <a:rPr lang="en-US" sz="1600" b="1" dirty="0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SERVQUAL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Si la percepción es menor que la expectativa, aparece insatisfacción o sensación de mala calidad. Si la percepción supera lo esperado, la experiencia mejora.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18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31504" y="407564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4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31504" y="65445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cinco dimensiones de SERVQUAL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45920"/>
            <a:ext cx="1508760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Fiabilidad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Cumplir lo prometido de manera correcta y constante.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203704" y="1645920"/>
            <a:ext cx="1508760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Capacidad de respuesta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Ayudar con rapidez y disposición.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904488" y="1645920"/>
            <a:ext cx="1508760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Seguridad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Transmitir conocimiento, cortesía y confianza.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605272" y="1645920"/>
            <a:ext cx="1508760" cy="274320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Empatía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Tratar a la persona con consideración e individualización.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06056" y="1645920"/>
            <a:ext cx="1508760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Tangibles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Instalaciones, equipos, señalización y presentación del personal.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" y="4892040"/>
            <a:ext cx="7772400" cy="86868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Las 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dimensiones son útiles para ordenar la experiencia del usuario, pero deben adaptarse al tipo de establecimiento, servicio y población atendida.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19</a:t>
            </a:r>
            <a:endParaRPr lang="en-US" sz="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03745" y="379476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</a:t>
            </a:r>
            <a:r>
              <a:rPr lang="en-US" sz="750" b="1" dirty="0" smtClean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403745" y="62636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Fiabilidad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00200"/>
            <a:ext cx="3611880" cy="137160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Qué significa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El usuario percibe fiabilidad cuando la institución cumple lo que ofrece y evita contradicciones: horarios, requisitos, resultados, citas, información y seguimiento.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17720" y="1600200"/>
            <a:ext cx="3931920" cy="13716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Ejemplos</a:t>
            </a: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La cita se respeta según programación.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La orientación coincide entre admisión, caja y consultorio.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Los resultados se entregan en el plazo informado.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4360" y="3429000"/>
            <a:ext cx="388620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Falla típica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“Me dijeron una cosa por teléfono, otra en admisión y otra en caja”.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3440" y="3429000"/>
            <a:ext cx="3886200" cy="1005840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Mejora concreta
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Estandarizar información crítica y actualizarla en todos los canales.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20</a:t>
            </a:r>
            <a:endParaRPr lang="en-US" sz="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31504" y="333757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4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31504" y="580645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Capacidad de respuesta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00200"/>
            <a:ext cx="3657600" cy="132588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Qué significa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El usuario percibe buena respuesta cuando el personal lo atiende oportunamente, orienta con claridad y no lo deja “dando vueltas” entre áreas.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17720" y="1600200"/>
            <a:ext cx="393192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Se observa en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tiempo de espera razonable;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orientación ante dudas;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derivación correcta;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respuesta ante reclamos o incidentes.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4360" y="3429000"/>
            <a:ext cx="388620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Falla típica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“Nadie me explicó dónde debía ir ni cuánto tenía que esperar”.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3440" y="3429000"/>
            <a:ext cx="3886200" cy="1097280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Mejora concreta
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Informar el siguiente paso y, si hay demora, explicar causa y tiempo estimado.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21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31504" y="394446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4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31504" y="64133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00200"/>
            <a:ext cx="3703320" cy="150876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Qué significa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El usuario percibe seguridad cuando el personal transmite conocimiento, cortesía, control del proceso y respeto por la información sensible.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17720" y="1600200"/>
            <a:ext cx="3931920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En salud implica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explicar con claridad sin minimizar dudas;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proteger datos personales y privacidad;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dar indicaciones coherentes;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mostrar dominio del procedimiento.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4360" y="3611880"/>
            <a:ext cx="388620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Falla típica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“Me respondieron como si mi preocupación no importara”.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3440" y="3611880"/>
            <a:ext cx="3886200" cy="1005840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Mejora concreta
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Usar lenguaje claro, confirmar comprensión y cerrar con una indicación verificable.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22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31504" y="365760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</a:t>
            </a:r>
            <a:r>
              <a:rPr lang="en-US" sz="750" b="1" dirty="0" smtClean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31504" y="61264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Empatía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pic>
        <p:nvPicPr>
          <p:cNvPr id="7" name="Image 1" descr="/mnt/data/wide_indoor_hospital_clinic_reception_scene_cinem.png"/>
          <p:cNvPicPr>
            <a:picLocks noChangeAspect="1"/>
          </p:cNvPicPr>
          <p:nvPr/>
        </p:nvPicPr>
        <p:blipFill>
          <a:blip r:embed="rId3"/>
          <a:srcRect l="13373" r="13373"/>
          <a:stretch/>
        </p:blipFill>
        <p:spPr>
          <a:xfrm>
            <a:off x="4892040" y="1508760"/>
            <a:ext cx="3749040" cy="2880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1645920"/>
            <a:ext cx="3794760" cy="132588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Qué significa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La institución muestra empatía cuando considera la situación concreta del usuario: miedo, dolor, edad, discapacidad, idioma, urgencia, contexto familiar o desconocimiento del sistema.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94360" y="3246120"/>
            <a:ext cx="3794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En la práctica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escuchar antes de responder;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validar la preocupación;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evitar frases defensivas;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ofrecer una ruta clara de solución.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892040" y="4681728"/>
            <a:ext cx="3749040" cy="749808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La 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empatía reduce tensión y abre espacio para explicar límites, requisitos o plazos.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23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31504" y="401585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4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31504" y="648473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Elementos tangibles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00200"/>
            <a:ext cx="3657600" cy="132588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Qué significa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El usuario interpreta señales físicas y visuales: limpieza, orden, señalización, uniforme, equipos, ambientes, privacidad y legibilidad de la información.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17720" y="1600200"/>
            <a:ext cx="393192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Ejemplos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carteles claros y actualizados;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ambiente limpio y ordenado;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identificación visible del personal;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espacios que cuidan la privacidad.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4360" y="3429000"/>
            <a:ext cx="388620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Falla típica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“No sabía dónde reclamar, no había señalización o nadie estaba identificado”.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3440" y="3429000"/>
            <a:ext cx="3886200" cy="1097280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Mejora concreta
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Revisar el recorrido del usuario como si fuera la primera vez que entra al establecimiento.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24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31504" y="328182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</a:t>
            </a:r>
            <a:r>
              <a:rPr lang="en-US" sz="750" b="1" dirty="0" smtClean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31504" y="61264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SERVQUAL y su adaptación al </a:t>
            </a:r>
            <a:endParaRPr lang="en-US" sz="2000" b="1" dirty="0" smtClean="0">
              <a:solidFill>
                <a:srgbClr val="0B4A49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 </a:t>
            </a: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salud peruano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00200"/>
            <a:ext cx="7955280" cy="1067844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Antecedente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Cabello y Chirinos validaron encuestas SERVQUAL modificadas para consulta externa y emergencia. Ese antecedente se conecta con la Guía Técnica del MINSA aprobada por RM N.° 527-2011-MINSA.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" y="2834640"/>
            <a:ext cx="3749040" cy="17797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Qué aporta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permite levantar información del usuario;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ordena la experiencia en dimensiones;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facilita comparar resultados entre servicios;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instala una cultura inicial de medición.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09160" y="2834640"/>
            <a:ext cx="3749040" cy="17797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Qué cuidado requiere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no confundir satisfacción con calidad de servicio;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no usar cuestionarios sin adaptar al contexto;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no convertir la medición en un trámite sin mejora.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5577840"/>
            <a:ext cx="8138160" cy="512064"/>
          </a:xfrm>
          <a:prstGeom prst="rect">
            <a:avLst/>
          </a:prstGeom>
          <a:solidFill>
            <a:srgbClr val="0B4A49"/>
          </a:solidFill>
          <a:ln>
            <a:solidFill>
              <a:srgbClr val="0B4A4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medición sirve cuando orienta decisiones, no cuando solo produce porcentajes.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25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43589" y="361189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5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43589" y="608077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Referencias internacionales de calidad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00200"/>
            <a:ext cx="1764902" cy="713232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Referencia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267822" y="1600200"/>
            <a:ext cx="4118105" cy="713232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Qué ayuda a comprender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85927" y="1600200"/>
            <a:ext cx="2255153" cy="713232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Cuidado al explicarla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2313432"/>
            <a:ext cx="1764902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ISO 9001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267822" y="2313432"/>
            <a:ext cx="4118105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Sistema de gestión de calidad aplicable a distintos sectores; énfasis en procesos y mejora.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85927" y="2313432"/>
            <a:ext cx="2255153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 nació específicamente para salud.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" y="3026664"/>
            <a:ext cx="176490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JCI / acreditación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267822" y="3026664"/>
            <a:ext cx="4118105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Evaluación externa de estándares de calidad y seguridad en organizaciones sanitarias.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85927" y="3026664"/>
            <a:ext cx="2255153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acreditación no sustituye la gestión diaria.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" y="3739896"/>
            <a:ext cx="1764902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EFQM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267822" y="3739896"/>
            <a:ext cx="4118105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Excelencia organizacional: liderazgo, estrategia, personas, procesos y resultados.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85927" y="3739896"/>
            <a:ext cx="2255153" cy="713232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 un modelo de gestión, no solo una lista de requisitos.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2920" y="4453128"/>
            <a:ext cx="176490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ISO 7101:2023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267822" y="4453128"/>
            <a:ext cx="4118105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Sistema de gestión de calidad diseñado para organizaciones de salud.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385927" y="4453128"/>
            <a:ext cx="2255153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Debe contextualizarse; no es “copiar y pegar” una norma.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920" y="5577840"/>
            <a:ext cx="8138160" cy="512064"/>
          </a:xfrm>
          <a:prstGeom prst="rect">
            <a:avLst/>
          </a:prstGeom>
          <a:solidFill>
            <a:srgbClr val="0B4A49"/>
          </a:solidFill>
          <a:ln>
            <a:solidFill>
              <a:srgbClr val="0B4A4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Tendencia común: la calidad se entiende cada vez más como sistema, no como acción aislada.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27</a:t>
            </a:r>
            <a:endParaRPr lang="en-US" sz="6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73887" y="356616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</a:t>
            </a:r>
            <a:r>
              <a:rPr lang="en-US" sz="750" b="1" dirty="0" smtClean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473887" y="60350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giro hacia sistemas de calidad en salud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00200"/>
            <a:ext cx="7955280" cy="101774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Por qué importa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Las referencias internacionales más recientes confirman una idea central del curso: la calidad en salud no puede limitarse a documentos o certificaciones; debe sostener servicios seguros, confiables y centrados en la persona.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" y="2788919"/>
            <a:ext cx="2468880" cy="1660523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Sistema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Responsabilidades, procesos, recursos, medición y mejora integrados.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37560" y="2788919"/>
            <a:ext cx="2468880" cy="1660523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Persona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Necesidades, valores, información, trato, seguridad y experiencia.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80760" y="2788919"/>
            <a:ext cx="2468880" cy="1660523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Mejora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Datos, reclamos, indicadores, aprendizaje y acciones correctivas.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7280" y="4709159"/>
            <a:ext cx="6949440" cy="910609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</a:t>
            </a:r>
            <a:r>
              <a:rPr lang="en-US" sz="1400" dirty="0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 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servicio se experimenta, pero la calidad se gestiona desde el sistema.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28</a:t>
            </a:r>
            <a:endParaRPr lang="en-US" sz="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31504" y="338329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5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31504" y="585217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ciclo de mejora: </a:t>
            </a:r>
            <a:endParaRPr lang="en-US" sz="2000" b="1" dirty="0" smtClean="0">
              <a:solidFill>
                <a:srgbClr val="0B4A49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2000" b="1" dirty="0" err="1" smtClean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planear</a:t>
            </a: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hacer, verificar y actuar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645920"/>
            <a:ext cx="3749040" cy="141732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Planear
</a:t>
            </a: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Identificar el problema, definir estándar, responsable, plazo e indicador.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374904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Hacer
</a:t>
            </a: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Aplicar el cambio en el proceso real, con capacitación y comunicación interna.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09160" y="1645920"/>
            <a:ext cx="3749040" cy="141732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Verificar
</a:t>
            </a: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Revisar datos, reclamos, tiempos, satisfacción, evidencias y cumplimiento.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09160" y="3520440"/>
            <a:ext cx="374904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Actuar
</a:t>
            </a: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Ajustar el proceso, corregir causas y mantener lo que sí funcionó.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2920" y="5532120"/>
            <a:ext cx="8138160" cy="512064"/>
          </a:xfrm>
          <a:prstGeom prst="rect">
            <a:avLst/>
          </a:prstGeom>
          <a:solidFill>
            <a:srgbClr val="0B4A49"/>
          </a:solidFill>
          <a:ln>
            <a:solidFill>
              <a:srgbClr val="0B4A4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Aplicado a reclamos: registrar → analizar causa → corregir proceso → verificar si disminuye la repetición.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29</a:t>
            </a:r>
            <a:endParaRPr lang="en-US" sz="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31504" y="397764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6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31504" y="64465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519-2006-MINSA: principios del sistema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54480"/>
            <a:ext cx="1874520" cy="658368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1. Enfoque al usuario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560320" y="1554480"/>
            <a:ext cx="18745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2. Liderazgo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617720" y="1554480"/>
            <a:ext cx="18745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3. Participación del personal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675120" y="1554480"/>
            <a:ext cx="18745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4. Enfoque basado en procesos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2920" y="2514600"/>
            <a:ext cx="18745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5. Enfoque sistémico para la gestión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560320" y="2514600"/>
            <a:ext cx="1874520" cy="658368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6. Mejora continua de la calidad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17720" y="2514600"/>
            <a:ext cx="18745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7. Decisiones basadas en evidencias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675120" y="2514600"/>
            <a:ext cx="18745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8. Relaciones beneficiosas con el proveedor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77240" y="3931920"/>
            <a:ext cx="7589520" cy="1097280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Objetivo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</a:t>
            </a:r>
            <a:r>
              <a:rPr lang="en-US" sz="1400" b="1" dirty="0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general</a:t>
            </a:r>
          </a:p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Mejorar continuamente la calidad de los servicios, recursos y tecnología del Sector Salud mediante una cultura de calidad sensible a las necesidades y expectativas de los usuarios externos e internos.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30</a:t>
            </a:r>
            <a:endParaRPr lang="en-US" sz="6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48630" y="333757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</a:t>
            </a:r>
            <a:r>
              <a:rPr lang="en-US" sz="750" b="1" dirty="0" smtClean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48630" y="580645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519-2006-MINSA: cuatro componentes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00200"/>
            <a:ext cx="1965960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Planificación para la </a:t>
            </a:r>
            <a:r>
              <a:rPr lang="en-US" sz="15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calidad</a:t>
            </a:r>
            <a:endParaRPr lang="en-US" sz="15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Políticas, estrategias, objetivos y planes de acción.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606040" y="1600200"/>
            <a:ext cx="1965960" cy="224028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Organización para la </a:t>
            </a:r>
            <a:r>
              <a:rPr lang="en-US" sz="15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calidad</a:t>
            </a:r>
            <a:endParaRPr lang="en-US" sz="15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Nivel nacional, DIRESAS/DIRIS, redes, microrredes y establecimientos.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09160" y="1600200"/>
            <a:ext cx="1965960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Garantía y </a:t>
            </a:r>
            <a:r>
              <a:rPr lang="en-US" sz="15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mejora</a:t>
            </a:r>
            <a:endParaRPr lang="en-US" sz="15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Auditoría, acreditación, seguridad del paciente y procesos de mejora continua.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12280" y="1600200"/>
            <a:ext cx="1828800" cy="224028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Información para la </a:t>
            </a:r>
            <a:r>
              <a:rPr lang="en-US" sz="1500" b="1" dirty="0" err="1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calidad</a:t>
            </a:r>
            <a:endParaRPr lang="en-US" sz="1500" b="1" dirty="0" smtClean="0">
              <a:solidFill>
                <a:srgbClr val="0B4A49"/>
              </a:solidFill>
              <a:latin typeface="Cambria" panose="02040503050406030204" pitchFamily="18" charset="0"/>
              <a:ea typeface="Cambria" panose="02040503050406030204" pitchFamily="18" charset="0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5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Instrumentos de medición, atención al usuario e indicadores del sistema.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7240" y="4343400"/>
            <a:ext cx="7589520" cy="1005840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500" b="1" dirty="0" err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Conexión</a:t>
            </a: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5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Los reclamos, encuestas y datos de experiencia del paciente forman parte de la información para la calidad. Su valor está en convertirlos en mejora, no solo en archivarlos.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31</a:t>
            </a:r>
            <a:endParaRPr lang="en-US" sz="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61156" y="374277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</a:t>
            </a:r>
            <a:r>
              <a:rPr lang="en-US" sz="750" b="1" dirty="0" smtClean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361156" y="621165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727-2009-MINSA: Política Nacional de Calidad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554480"/>
            <a:ext cx="7955280" cy="685800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Visión de calidad
</a:t>
            </a:r>
            <a:r>
              <a:rPr lang="en-US" sz="1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Atención segura, efectiva, oportuna, equitativa e integral; informada y consentida; respetuosa del derecho y dignidad de las personas.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2468880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Estado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Formula política, normas y estándares; verifica cumplimiento y ejerce función rectora.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37560" y="2560320"/>
            <a:ext cx="2468880" cy="150876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Organizaciones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Implementan calidad, gestionan riesgos, mejoran procesos y garantizan trato digno.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80760" y="2560320"/>
            <a:ext cx="2468880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Ciudadanía
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Ejerce sus derechos, participa, reclama y contribuye al cuidado de su salud.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7240" y="4709160"/>
            <a:ext cx="7589520" cy="73152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just">
              <a:buNone/>
            </a:pPr>
            <a:r>
              <a:rPr lang="en-US" sz="1600" dirty="0" smtClean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El </a:t>
            </a:r>
            <a:r>
              <a:rPr lang="en-US" sz="16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trato digno no es solo “amabilidad”: es una expresión concreta de la calidad y del respeto al derecho del usuario.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32</a:t>
            </a:r>
            <a:endParaRPr lang="en-US" sz="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11258" y="418870"/>
            <a:ext cx="7223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7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 6 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411258" y="66575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Reclamos como fuente de calidad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00200"/>
            <a:ext cx="3749040" cy="132588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Marco normativo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El D.S. N.° 002-2019-SA regula la gestión de reclamos y denuncias de usuarios de IAFAS, IPRESS y UGIPRESS.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663440" y="1600200"/>
            <a:ext cx="384048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Ideas clave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El usuario tiene derecho a reclamar.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La recepción del reclamo no debe rechazarse por falta de pruebas.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El Libro de Reclamaciones en Salud debe estar accesible.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4360" y="3429000"/>
            <a:ext cx="388620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Desde calidad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Cada reclamo muestra una brecha entre expectativa, proceso y percepción.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3440" y="3429000"/>
            <a:ext cx="3886200" cy="1143000"/>
          </a:xfrm>
          <a:prstGeom prst="rect">
            <a:avLst/>
          </a:prstGeom>
          <a:solidFill>
            <a:srgbClr val="0B4A49"/>
          </a:solidFill>
          <a:ln w="8890">
            <a:solidFill>
              <a:srgbClr val="0B4A4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Desde gestión
</a:t>
            </a: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La institución debe responder el caso y revisar si hay una causa repetitiva que corregir.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33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411258" y="50292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conectan todos los modelos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00200"/>
            <a:ext cx="1764902" cy="670560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Modelo / marco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267822" y="1600200"/>
            <a:ext cx="3627854" cy="670560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Pregunta que responde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895677" y="1600200"/>
            <a:ext cx="2745403" cy="670560"/>
          </a:xfrm>
          <a:prstGeom prst="rect">
            <a:avLst/>
          </a:prstGeom>
          <a:solidFill>
            <a:srgbClr val="0B4A49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 err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Uso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2270760"/>
            <a:ext cx="1764902" cy="67056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Donabedian</a:t>
            </a:r>
            <a:endParaRPr lang="en-US" sz="15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267822" y="2270760"/>
            <a:ext cx="3627854" cy="67056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¿Falló la estructura, el proceso o el resultado?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895677" y="2270760"/>
            <a:ext cx="2745403" cy="67056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Ordenar análisis de casos y reclamos.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" y="2941320"/>
            <a:ext cx="1764902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GAPS</a:t>
            </a:r>
            <a:endParaRPr lang="en-US" sz="15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267822" y="2941320"/>
            <a:ext cx="3627854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¿Dónde se abrió la brecha entre lo esperado y lo percibido?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895677" y="2941320"/>
            <a:ext cx="2745403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Detectar causas de mala experiencia.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" y="3611880"/>
            <a:ext cx="1764902" cy="67056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SERVQUAL</a:t>
            </a:r>
            <a:endParaRPr lang="en-US" sz="15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267822" y="3611880"/>
            <a:ext cx="3627854" cy="67056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¿En qué dimensión se percibe la mala calidad?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895677" y="3611880"/>
            <a:ext cx="2745403" cy="67056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Organizar encuestas y evidencias.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2920" y="4282440"/>
            <a:ext cx="1764902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SGC MINSA</a:t>
            </a:r>
            <a:endParaRPr lang="en-US" sz="15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267822" y="4282440"/>
            <a:ext cx="3627854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¿Cómo se incorpora al sistema de gestión?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895677" y="4282440"/>
            <a:ext cx="2745403" cy="67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Conectar medición, mejora e institucionalización.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920" y="4953000"/>
            <a:ext cx="1764902" cy="67056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D.S. 002-2019-SA</a:t>
            </a:r>
            <a:endParaRPr lang="en-US" sz="15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267822" y="4953000"/>
            <a:ext cx="3627854" cy="67056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¿Cómo se protege el derecho del usuario?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895677" y="4953000"/>
            <a:ext cx="2745403" cy="670560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just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Dar tratamiento normativo al reclamo.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34</a:t>
            </a:r>
            <a:endParaRPr lang="en-US" sz="6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411258" y="54049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Analicemos un caso con los modelos vistos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00200"/>
            <a:ext cx="7955280" cy="1005840"/>
          </a:xfrm>
          <a:prstGeom prst="rect">
            <a:avLst/>
          </a:prstGeom>
          <a:solidFill>
            <a:srgbClr val="EAF7F6"/>
          </a:solidFill>
          <a:ln w="8890">
            <a:solidFill>
              <a:srgbClr val="078B9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Caso</a:t>
            </a: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</a:t>
            </a:r>
            <a:r>
              <a:rPr lang="en-US" sz="1400" b="1" dirty="0" smtClean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breve</a:t>
            </a:r>
          </a:p>
          <a:p>
            <a:pPr marL="0" indent="0" algn="just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Un usuario llega a consulta, espera más de lo previsto, recibe información contradictoria entre admisión y el consultorio, y presenta un reclamo porque siente que nadie le explicó qué estaba ocurriendo.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" y="2926080"/>
            <a:ext cx="3749040" cy="1463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Preguntas para el grupo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¿Qué elementos son estructura, proceso y resultado?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¿Qué brechas del modelo GAPS aparecen?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¿Qué dimensión SERVQUAL se afecta más?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09160" y="2926080"/>
            <a:ext cx="3749040" cy="14630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9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A49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Producto esperado
</a:t>
            </a: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Identificar la falla principal.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Proponer una mejora concreta.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• Señalar cómo medir si funcionó.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5577840"/>
            <a:ext cx="8138160" cy="512064"/>
          </a:xfrm>
          <a:prstGeom prst="rect">
            <a:avLst/>
          </a:prstGeom>
          <a:solidFill>
            <a:srgbClr val="0B4A49"/>
          </a:solidFill>
          <a:ln>
            <a:solidFill>
              <a:srgbClr val="0B4A4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La respuesta correcta no es culpar: es entender el proceso y proponer </a:t>
            </a:r>
            <a:r>
              <a:rPr lang="en-US" sz="14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mejora</a:t>
            </a:r>
            <a:r>
              <a:rPr lang="en-US" sz="1400" b="1" dirty="0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35</a:t>
            </a:r>
            <a:endParaRPr lang="en-US" sz="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448836" y="50292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 clave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37744" y="1234440"/>
            <a:ext cx="8668512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600200"/>
            <a:ext cx="411480" cy="384048"/>
          </a:xfrm>
          <a:prstGeom prst="rect">
            <a:avLst/>
          </a:prstGeom>
          <a:solidFill>
            <a:srgbClr val="078B95"/>
          </a:solidFill>
          <a:ln>
            <a:solidFill>
              <a:srgbClr val="078B9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7315200" cy="475488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Calidad no es solo satisfacción: incluye seguridad, efectividad, oportunidad, trato y resultados.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2377440"/>
            <a:ext cx="411480" cy="384048"/>
          </a:xfrm>
          <a:prstGeom prst="rect">
            <a:avLst/>
          </a:prstGeom>
          <a:solidFill>
            <a:srgbClr val="078B95"/>
          </a:solidFill>
          <a:ln>
            <a:solidFill>
              <a:srgbClr val="078B9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88720" y="2331720"/>
            <a:ext cx="73152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Calidad asistencial y calidad de servicio son diferentes, pero se necesitan mutuamente.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00" y="3154680"/>
            <a:ext cx="411480" cy="384048"/>
          </a:xfrm>
          <a:prstGeom prst="rect">
            <a:avLst/>
          </a:prstGeom>
          <a:solidFill>
            <a:srgbClr val="078B95"/>
          </a:solidFill>
          <a:ln>
            <a:solidFill>
              <a:srgbClr val="078B9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88720" y="3108960"/>
            <a:ext cx="7315200" cy="475488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Donabedian permite ordenar el análisis: estructura, proceso y resultado.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5800" y="3931920"/>
            <a:ext cx="411480" cy="384048"/>
          </a:xfrm>
          <a:prstGeom prst="rect">
            <a:avLst/>
          </a:prstGeom>
          <a:solidFill>
            <a:srgbClr val="078B95"/>
          </a:solidFill>
          <a:ln>
            <a:solidFill>
              <a:srgbClr val="078B9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88720" y="3886200"/>
            <a:ext cx="73152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GAPS y SERVQUAL ayudan a mirar la brecha entre lo que el usuario espera y lo que percibe.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5800" y="4709160"/>
            <a:ext cx="411480" cy="384048"/>
          </a:xfrm>
          <a:prstGeom prst="rect">
            <a:avLst/>
          </a:prstGeom>
          <a:solidFill>
            <a:srgbClr val="078B95"/>
          </a:solidFill>
          <a:ln>
            <a:solidFill>
              <a:srgbClr val="078B9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88720" y="4663440"/>
            <a:ext cx="7315200" cy="475488"/>
          </a:xfrm>
          <a:prstGeom prst="rect">
            <a:avLst/>
          </a:prstGeom>
          <a:solidFill>
            <a:srgbClr val="F4FBFA"/>
          </a:solidFill>
          <a:ln w="7620">
            <a:solidFill>
              <a:srgbClr val="DDE9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331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 marco peruano ya exige gestionar calidad, información, mejora continua y derechos del usuario.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2920" y="5715000"/>
            <a:ext cx="8138160" cy="512064"/>
          </a:xfrm>
          <a:prstGeom prst="rect">
            <a:avLst/>
          </a:prstGeom>
          <a:solidFill>
            <a:srgbClr val="0B4A49"/>
          </a:solidFill>
          <a:ln>
            <a:solidFill>
              <a:srgbClr val="0B4A4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Calidad</a:t>
            </a:r>
            <a:r>
              <a:rPr lang="en-US" sz="1400" b="1" dirty="0" smtClean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ptos" pitchFamily="34" charset="-120"/>
              </a:rPr>
              <a:t>es convertir la experiencia del usuario en gestión, evidencia y mejora.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36</a:t>
            </a:r>
            <a:endParaRPr lang="en-US" sz="6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68680" y="224028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4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calidad se demuestra cuando el proceso funciona y la persona puede confiar.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60520" y="3886200"/>
            <a:ext cx="822960" cy="0"/>
          </a:xfrm>
          <a:prstGeom prst="line">
            <a:avLst/>
          </a:prstGeom>
          <a:noFill/>
          <a:ln w="38100">
            <a:solidFill>
              <a:srgbClr val="06BF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65562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6E"/>
                </a:solidFill>
              </a:rPr>
              <a:t>40</a:t>
            </a:r>
            <a:endParaRPr lang="en-US" sz="600" dirty="0"/>
          </a:p>
        </p:txBody>
      </p:sp>
      <p:sp>
        <p:nvSpPr>
          <p:cNvPr id="9" name="Shape 0"/>
          <p:cNvSpPr/>
          <p:nvPr/>
        </p:nvSpPr>
        <p:spPr>
          <a:xfrm>
            <a:off x="7680960" y="-1261872"/>
            <a:ext cx="2926080" cy="2926080"/>
          </a:xfrm>
          <a:prstGeom prst="ellipse">
            <a:avLst/>
          </a:prstGeom>
          <a:solidFill>
            <a:srgbClr val="E4F5F3"/>
          </a:solidFill>
          <a:ln/>
        </p:spPr>
      </p:sp>
      <p:sp>
        <p:nvSpPr>
          <p:cNvPr id="10" name="Shape 1"/>
          <p:cNvSpPr/>
          <p:nvPr/>
        </p:nvSpPr>
        <p:spPr>
          <a:xfrm>
            <a:off x="-1005840" y="5760720"/>
            <a:ext cx="2377440" cy="2377440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76EC513-FBF5-D693-68E1-7DF515DA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6" y="256695"/>
            <a:ext cx="2036728" cy="825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1664</Words>
  <Application>Microsoft Office PowerPoint</Application>
  <PresentationFormat>Presentación en pantalla (4:3)</PresentationFormat>
  <Paragraphs>430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1" baseType="lpstr">
      <vt:lpstr>Aptos</vt:lpstr>
      <vt:lpstr>Arial</vt:lpstr>
      <vt:lpstr>Calibri</vt:lpstr>
      <vt:lpstr>Cambria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ESAN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SISOL - Unidad II - Conceptos de calidad y su aplicabilidad</dc:title>
  <dc:subject>Curso de Atención al Usuario en los Servicios de Salud - Unidad II</dc:subject>
  <dc:creator>Felix Manzanares Castañeda</dc:creator>
  <cp:lastModifiedBy>Felix Augusto Manzanares Castañeda</cp:lastModifiedBy>
  <cp:revision>17</cp:revision>
  <dcterms:created xsi:type="dcterms:W3CDTF">2026-09-11T19:01:43Z</dcterms:created>
  <dcterms:modified xsi:type="dcterms:W3CDTF">2026-09-12T02:42:46Z</dcterms:modified>
</cp:coreProperties>
</file>